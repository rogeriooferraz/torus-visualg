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gif" ContentType="image/gif"/>
  <Override PartName="/ppt/media/image5.png" ContentType="image/png"/>
  <Override PartName="/ppt/media/image2.png" ContentType="image/png"/>
  <Override PartName="/ppt/media/image3.gif" ContentType="image/gif"/>
  <Override PartName="/ppt/media/image7.png" ContentType="image/png"/>
  <Override PartName="/ppt/media/image11.png" ContentType="image/png"/>
  <Override PartName="/ppt/media/image4.png" ContentType="image/png"/>
  <Override PartName="/ppt/media/image6.png" ContentType="image/png"/>
  <Override PartName="/ppt/media/image10.png" ContentType="image/png"/>
  <Override PartName="/ppt/media/image8.png" ContentType="image/png"/>
  <Override PartName="/ppt/media/image12.png" ContentType="image/png"/>
  <Override PartName="/ppt/media/image9.gif" ContentType="image/gif"/>
  <Override PartName="/ppt/media/image13.png" ContentType="image/png"/>
  <Override PartName="/ppt/slides/_rels/slide14.xml.rels" ContentType="application/vnd.openxmlformats-package.relationships+xml"/>
  <Override PartName="/ppt/slides/_rels/slide6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19.xml.rels" ContentType="application/vnd.openxmlformats-package.relationships+xml"/>
  <Override PartName="/ppt/slides/_rels/slide33.xml.rels" ContentType="application/vnd.openxmlformats-package.relationships+xml"/>
  <Override PartName="/ppt/slides/_rels/slide32.xml.rels" ContentType="application/vnd.openxmlformats-package.relationships+xml"/>
  <Override PartName="/ppt/slides/_rels/slide31.xml.rels" ContentType="application/vnd.openxmlformats-package.relationships+xml"/>
  <Override PartName="/ppt/slides/_rels/slide29.xml.rels" ContentType="application/vnd.openxmlformats-package.relationships+xml"/>
  <Override PartName="/ppt/slides/_rels/slide5.xml.rels" ContentType="application/vnd.openxmlformats-package.relationships+xml"/>
  <Override PartName="/ppt/slides/_rels/slide22.xml.rels" ContentType="application/vnd.openxmlformats-package.relationships+xml"/>
  <Override PartName="/ppt/slides/_rels/slide30.xml.rels" ContentType="application/vnd.openxmlformats-package.relationships+xml"/>
  <Override PartName="/ppt/slides/_rels/slide28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7.xml.rels" ContentType="application/vnd.openxmlformats-package.relationships+xml"/>
  <Override PartName="/ppt/slides/_rels/slide21.xml.rels" ContentType="application/vnd.openxmlformats-package.relationships+xml"/>
  <Override PartName="/ppt/slides/_rels/slide4.xml.rels" ContentType="application/vnd.openxmlformats-package.relationships+xml"/>
  <Override PartName="/ppt/slides/_rels/slide18.xml.rels" ContentType="application/vnd.openxmlformats-package.relationships+xml"/>
  <Override PartName="/ppt/slides/_rels/slide11.xml.rels" ContentType="application/vnd.openxmlformats-package.relationships+xml"/>
  <Override PartName="/ppt/slides/_rels/slide9.xml.rels" ContentType="application/vnd.openxmlformats-package.relationships+xml"/>
  <Override PartName="/ppt/slides/_rels/slide26.xml.rels" ContentType="application/vnd.openxmlformats-package.relationships+xml"/>
  <Override PartName="/ppt/slides/_rels/slide20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25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24.xml.rels" ContentType="application/vnd.openxmlformats-package.relationships+xml"/>
  <Override PartName="/ppt/slides/_rels/slide7.xml.rels" ContentType="application/vnd.openxmlformats-package.relationships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19.xml" ContentType="application/vnd.openxmlformats-officedocument.presentationml.slid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12.xml" ContentType="application/vnd.openxmlformats-officedocument.presentationml.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ppt/slides/slide9.xml" ContentType="application/vnd.openxmlformats-officedocument.presentationml.slid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15.xml" ContentType="application/vnd.openxmlformats-officedocument.presentationml.slide+xml"/>
  <Override PartName="/ppt/slides/slide6.xml" ContentType="application/vnd.openxmlformats-officedocument.presentationml.slide+xml"/>
  <Override PartName="/ppt/slides/slide14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9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7.xml.rels" ContentType="application/vnd.openxmlformats-package.relationships+xml"/>
  <Override PartName="/ppt/notesSlides/_rels/notesSlide4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3.xml.rels" ContentType="application/vnd.openxmlformats-package.relationships+xml"/>
  <Override PartName="/ppt/notesSlides/notesSlide13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A39109C3-5B41-4976-AF1D-84CF590ED33D}" type="slidenum"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6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5B7833-7BDC-4AA2-B9F3-19B3144F8606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F7CC5D0-2463-485F-B196-051FDF8FA7C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7066BAA-108F-4AB9-BF7F-07FD55D86C9B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1AEDF19-2D2C-49AC-89BA-799DD9BA4CC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123610A-CD41-4FD0-AF2D-1C30CB9538EE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5F3A38-28E1-4775-821A-D87C3F9287BD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640D9CA-AF06-4C23-BD8C-4A90C60BC0D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7AB84AE-AA1F-4A46-AE18-D62FEC76FAA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B02BB0-5265-4160-8906-3BA86627A2E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A7316EC7-0218-4DA8-87D3-EFC9419B8842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EC78B14D-D2C7-46C0-8090-A27DFDEDC5A4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EF84F48-A150-4EAB-944B-7B6741737050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6E53EFB-8ED4-497A-8D7F-EBB032E2A5AA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9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C1D5C3-6725-41C7-901C-691511296E11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960" cy="3084840"/>
          </a:xfrm>
          <a:prstGeom prst="rect">
            <a:avLst/>
          </a:prstGeom>
          <a:ln w="0">
            <a:noFill/>
          </a:ln>
        </p:spPr>
      </p:sp>
      <p:sp>
        <p:nvSpPr>
          <p:cNvPr id="7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960" cy="3598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2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360" cy="45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E12B593-8A8F-4140-B1C5-5AD5DFE3B833}" type="slidenum">
              <a:rPr b="0" lang="en-US" sz="1200" spc="-1" strike="noStrike">
                <a:solidFill>
                  <a:schemeClr val="dk1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Click to edit the title </a:t>
            </a:r>
            <a:r>
              <a:rPr b="0" lang="pt-BR" sz="4400" spc="-1" strike="noStrike">
                <a:solidFill>
                  <a:srgbClr val="000000"/>
                </a:solidFill>
                <a:latin typeface="Arial"/>
              </a:rPr>
              <a:t>text format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pt-BR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gif"/><Relationship Id="rId3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" Target="slide20.xml"/><Relationship Id="rId2" Type="http://schemas.openxmlformats.org/officeDocument/2006/relationships/image" Target="../media/image4.png"/><Relationship Id="rId3" Type="http://schemas.openxmlformats.org/officeDocument/2006/relationships/slide" Target="slide27.xml"/><Relationship Id="rId4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" Target="slide16.xml"/><Relationship Id="rId3" Type="http://schemas.openxmlformats.org/officeDocument/2006/relationships/slide" Target="slide16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" Target="slide12.xml"/><Relationship Id="rId2" Type="http://schemas.openxmlformats.org/officeDocument/2006/relationships/slide" Target="slide12.xml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" Target="slide13.xml"/><Relationship Id="rId3" Type="http://schemas.openxmlformats.org/officeDocument/2006/relationships/slide" Target="slide1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" Target="slide14.xml"/><Relationship Id="rId2" Type="http://schemas.openxmlformats.org/officeDocument/2006/relationships/slide" Target="slide14.xml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" Target="slide12.xml"/><Relationship Id="rId3" Type="http://schemas.openxmlformats.org/officeDocument/2006/relationships/slide" Target="slide12.xml"/><Relationship Id="rId4" Type="http://schemas.openxmlformats.org/officeDocument/2006/relationships/slide" Target="slide16.xml"/><Relationship Id="rId5" Type="http://schemas.openxmlformats.org/officeDocument/2006/relationships/slide" Target="slide16.xml"/><Relationship Id="rId6" Type="http://schemas.openxmlformats.org/officeDocument/2006/relationships/slide" Target="slide15.xml"/><Relationship Id="rId7" Type="http://schemas.openxmlformats.org/officeDocument/2006/relationships/slide" Target="slide15.xm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.gif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9.gif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" Target="slide21.xml"/><Relationship Id="rId3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" Target="slide20.xml"/><Relationship Id="rId3" Type="http://schemas.openxmlformats.org/officeDocument/2006/relationships/slide" Target="slide22.xml"/><Relationship Id="rId4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" Target="slide21.xml"/><Relationship Id="rId3" Type="http://schemas.openxmlformats.org/officeDocument/2006/relationships/slide" Target="slide23.xml"/><Relationship Id="rId4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" Target="slide22.xml"/><Relationship Id="rId3" Type="http://schemas.openxmlformats.org/officeDocument/2006/relationships/slide" Target="slide3.xml"/><Relationship Id="rId4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" Target="slide27.xml"/><Relationship Id="rId2" Type="http://schemas.openxmlformats.org/officeDocument/2006/relationships/slide" Target="slide29.xml"/><Relationship Id="rId3" Type="http://schemas.openxmlformats.org/officeDocument/2006/relationships/slide" Target="slide3.xml"/><Relationship Id="rId4" Type="http://schemas.openxmlformats.org/officeDocument/2006/relationships/slideLayout" Target="../slideLayouts/slideLayout1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" Target="slide28.xml"/><Relationship Id="rId2" Type="http://schemas.openxmlformats.org/officeDocument/2006/relationships/slide" Target="slide30.xml"/><Relationship Id="rId3" Type="http://schemas.openxmlformats.org/officeDocument/2006/relationships/slide" Target="slide3.xml"/><Relationship Id="rId4" Type="http://schemas.openxmlformats.org/officeDocument/2006/relationships/slideLayout" Target="../slideLayouts/slideLayout1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31.xml"/><Relationship Id="rId3" Type="http://schemas.openxmlformats.org/officeDocument/2006/relationships/slide" Target="slide3.xml"/><Relationship Id="rId4" Type="http://schemas.openxmlformats.org/officeDocument/2006/relationships/slideLayout" Target="../slideLayouts/slideLayout1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32.xml"/><Relationship Id="rId3" Type="http://schemas.openxmlformats.org/officeDocument/2006/relationships/slide" Target="slide3.xml"/><Relationship Id="rId4" Type="http://schemas.openxmlformats.org/officeDocument/2006/relationships/slideLayout" Target="../slideLayouts/slideLayout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" Target="slide31.xml"/><Relationship Id="rId2" Type="http://schemas.openxmlformats.org/officeDocument/2006/relationships/slide" Target="slide33.xml"/><Relationship Id="rId3" Type="http://schemas.openxmlformats.org/officeDocument/2006/relationships/slide" Target="slide3.xml"/><Relationship Id="rId4" Type="http://schemas.openxmlformats.org/officeDocument/2006/relationships/slideLayout" Target="../slideLayouts/slideLayout1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" descr="image.gif"/>
          <p:cNvPicPr/>
          <p:nvPr/>
        </p:nvPicPr>
        <p:blipFill>
          <a:blip r:embed="rId1"/>
          <a:stretch/>
        </p:blipFill>
        <p:spPr>
          <a:xfrm>
            <a:off x="0" y="0"/>
            <a:ext cx="12190320" cy="6856560"/>
          </a:xfrm>
          <a:prstGeom prst="rect">
            <a:avLst/>
          </a:prstGeom>
          <a:ln w="0">
            <a:noFill/>
          </a:ln>
        </p:spPr>
      </p:pic>
      <p:sp>
        <p:nvSpPr>
          <p:cNvPr id="13" name="TextBox 2"/>
          <p:cNvSpPr/>
          <p:nvPr/>
        </p:nvSpPr>
        <p:spPr>
          <a:xfrm>
            <a:off x="7672320" y="384120"/>
            <a:ext cx="2621520" cy="820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Apresentação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Toro em VisuAlg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TextBox 3"/>
          <p:cNvSpPr/>
          <p:nvPr/>
        </p:nvSpPr>
        <p:spPr>
          <a:xfrm>
            <a:off x="1733400" y="5961960"/>
            <a:ext cx="3115080" cy="24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aabacd"/>
                </a:solidFill>
                <a:latin typeface="Aptos"/>
                <a:ea typeface="DejaVu Sans"/>
              </a:rPr>
              <a:t>Rogerio O. Ferraz (rogerio.o.ferraz@gmail.com)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Rectangle 4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16" name="TextBox 5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01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"/>
          <p:cNvSpPr/>
          <p:nvPr/>
        </p:nvSpPr>
        <p:spPr>
          <a:xfrm>
            <a:off x="529560" y="311040"/>
            <a:ext cx="93772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600" spc="-1" strike="noStrike">
                <a:solidFill>
                  <a:srgbClr val="f2f7fa"/>
                </a:solidFill>
                <a:latin typeface="Aptos"/>
                <a:ea typeface="DejaVu Sans"/>
              </a:rPr>
              <a:t>1. A arte original - Aceita um donut? (Andy Sloane, 2006)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Rectangle 2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19" name="TextBox 3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02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Box 4"/>
          <p:cNvSpPr/>
          <p:nvPr/>
        </p:nvSpPr>
        <p:spPr>
          <a:xfrm>
            <a:off x="530280" y="841320"/>
            <a:ext cx="10331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500" spc="-1" strike="noStrike">
                <a:solidFill>
                  <a:srgbClr val="a8b9c7"/>
                </a:solidFill>
                <a:latin typeface="Aptos"/>
                <a:ea typeface="DejaVu Sans"/>
              </a:rPr>
              <a:t>O clássico donut de Andy Sloane combina código ofuscado, animação ASCII e matemática visual.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TextBox 11"/>
          <p:cNvSpPr/>
          <p:nvPr/>
        </p:nvSpPr>
        <p:spPr>
          <a:xfrm>
            <a:off x="5776920" y="6116760"/>
            <a:ext cx="4678920" cy="41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070" spc="-1" strike="noStrike">
                <a:solidFill>
                  <a:srgbClr val="aabacd"/>
                </a:solidFill>
                <a:latin typeface="Aptos"/>
                <a:ea typeface="DejaVu Sans"/>
              </a:rPr>
              <a:t>Créditos: Andy Sloane — </a:t>
            </a:r>
            <a:endParaRPr b="0" lang="pt-BR" sz="10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070" spc="-1" strike="noStrike">
                <a:solidFill>
                  <a:srgbClr val="aabacd"/>
                </a:solidFill>
                <a:latin typeface="Aptos"/>
                <a:ea typeface="DejaVu Sans"/>
              </a:rPr>
              <a:t>“</a:t>
            </a:r>
            <a:r>
              <a:rPr b="0" lang="pt-BR" sz="1070" spc="-1" strike="noStrike">
                <a:solidFill>
                  <a:srgbClr val="aabacd"/>
                </a:solidFill>
                <a:latin typeface="Aptos"/>
                <a:ea typeface="DejaVu Sans"/>
              </a:rPr>
              <a:t>Obfuscated C Donut” (2006) e “How donut.c works” (2011).</a:t>
            </a:r>
            <a:endParaRPr b="0" lang="pt-BR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TextBox 12"/>
          <p:cNvSpPr/>
          <p:nvPr/>
        </p:nvSpPr>
        <p:spPr>
          <a:xfrm>
            <a:off x="1961280" y="1461240"/>
            <a:ext cx="17996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donut.c (2006)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TextBox 13"/>
          <p:cNvSpPr/>
          <p:nvPr/>
        </p:nvSpPr>
        <p:spPr>
          <a:xfrm>
            <a:off x="1446840" y="6217920"/>
            <a:ext cx="2828880" cy="20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Andy Sloane, “How donut.c works” (a1k0n.net, 2011)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4" name="Picture 14" descr="image.png"/>
          <p:cNvPicPr/>
          <p:nvPr/>
        </p:nvPicPr>
        <p:blipFill>
          <a:blip r:embed="rId1"/>
          <a:stretch/>
        </p:blipFill>
        <p:spPr>
          <a:xfrm>
            <a:off x="713160" y="1874520"/>
            <a:ext cx="4296240" cy="4296240"/>
          </a:xfrm>
          <a:prstGeom prst="rect">
            <a:avLst/>
          </a:prstGeom>
          <a:ln w="0">
            <a:noFill/>
          </a:ln>
        </p:spPr>
      </p:pic>
      <p:sp>
        <p:nvSpPr>
          <p:cNvPr id="25" name="TextBox 15"/>
          <p:cNvSpPr/>
          <p:nvPr/>
        </p:nvSpPr>
        <p:spPr>
          <a:xfrm>
            <a:off x="7458120" y="1461240"/>
            <a:ext cx="131688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Animação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6" name="Picture 16" descr="image.gif"/>
          <p:cNvPicPr/>
          <p:nvPr/>
        </p:nvPicPr>
        <p:blipFill>
          <a:blip r:embed="rId2"/>
          <a:stretch/>
        </p:blipFill>
        <p:spPr>
          <a:xfrm>
            <a:off x="5716800" y="1810440"/>
            <a:ext cx="4799160" cy="2878920"/>
          </a:xfrm>
          <a:prstGeom prst="rect">
            <a:avLst/>
          </a:prstGeom>
          <a:ln w="0">
            <a:noFill/>
          </a:ln>
        </p:spPr>
      </p:pic>
      <p:sp>
        <p:nvSpPr>
          <p:cNvPr id="27" name="Rounded Rectangle 17"/>
          <p:cNvSpPr/>
          <p:nvPr/>
        </p:nvSpPr>
        <p:spPr>
          <a:xfrm>
            <a:off x="5748840" y="5113800"/>
            <a:ext cx="4735080" cy="7848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070" spc="-1" strike="noStrike">
                <a:solidFill>
                  <a:srgbClr val="f0f6fa"/>
                </a:solidFill>
                <a:latin typeface="Aptos"/>
                <a:ea typeface="DejaVu Sans"/>
              </a:rPr>
              <a:t>A animação do donut original e do toro tem a mesma  base conceitual: dois ângulos de rotação, projeção em texto e rampa ASCII para simular brilho.</a:t>
            </a:r>
            <a:endParaRPr b="0" lang="pt-BR" sz="10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TextBox 18"/>
          <p:cNvSpPr/>
          <p:nvPr/>
        </p:nvSpPr>
        <p:spPr>
          <a:xfrm>
            <a:off x="6720480" y="4799520"/>
            <a:ext cx="27918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animação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extBox 1"/>
          <p:cNvSpPr/>
          <p:nvPr/>
        </p:nvSpPr>
        <p:spPr>
          <a:xfrm>
            <a:off x="540000" y="311040"/>
            <a:ext cx="416088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600" spc="-1" strike="noStrike">
                <a:solidFill>
                  <a:srgbClr val="f2f7fa"/>
                </a:solidFill>
                <a:latin typeface="Aptos"/>
                <a:ea typeface="Noto Sans CJK SC"/>
              </a:rPr>
              <a:t>2. Toro ASCII </a:t>
            </a:r>
            <a:r>
              <a:rPr b="1" lang="pt-BR" sz="2600" spc="-1" strike="noStrike">
                <a:solidFill>
                  <a:srgbClr val="f2f7fa"/>
                </a:solidFill>
                <a:latin typeface="Aptos"/>
                <a:ea typeface="DejaVu Sans"/>
              </a:rPr>
              <a:t>em VisuAlg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" name="Rectangle 2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1" name="TextBox 3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03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" name="TextBox 7"/>
          <p:cNvSpPr/>
          <p:nvPr/>
        </p:nvSpPr>
        <p:spPr>
          <a:xfrm rot="30000">
            <a:off x="6843600" y="1426680"/>
            <a:ext cx="1873080" cy="42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200" spc="-1" strike="noStrike">
                <a:solidFill>
                  <a:srgbClr val="f2f7fa"/>
                </a:solidFill>
                <a:latin typeface="Aptos"/>
                <a:ea typeface="DejaVu Sans"/>
              </a:rPr>
              <a:t>O que muda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" name="Oval 8"/>
          <p:cNvSpPr/>
          <p:nvPr/>
        </p:nvSpPr>
        <p:spPr>
          <a:xfrm>
            <a:off x="7058520" y="2257920"/>
            <a:ext cx="94680" cy="71640"/>
          </a:xfrm>
          <a:prstGeom prst="ellipse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4" name="TextBox 9"/>
          <p:cNvSpPr/>
          <p:nvPr/>
        </p:nvSpPr>
        <p:spPr>
          <a:xfrm>
            <a:off x="7020000" y="2148840"/>
            <a:ext cx="377964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Symbol" charset="2"/>
              <a:buChar char=""/>
            </a:pP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 sintaxe passa a ser VisuAlg, pensada para executar na GUI do Windows.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Oval 10"/>
          <p:cNvSpPr/>
          <p:nvPr/>
        </p:nvSpPr>
        <p:spPr>
          <a:xfrm>
            <a:off x="7058520" y="2925360"/>
            <a:ext cx="94680" cy="71640"/>
          </a:xfrm>
          <a:prstGeom prst="ellipse">
            <a:avLst/>
          </a:prstGeom>
          <a:solidFill>
            <a:srgbClr val="ffb22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6" name="TextBox 11"/>
          <p:cNvSpPr/>
          <p:nvPr/>
        </p:nvSpPr>
        <p:spPr>
          <a:xfrm>
            <a:off x="6995160" y="2816280"/>
            <a:ext cx="3804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Symbol" charset="2"/>
              <a:buChar char=""/>
            </a:pP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As variáveis curtas favorecem a estilização em forma de donut, no espírito do código original.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Oval 12"/>
          <p:cNvSpPr/>
          <p:nvPr/>
        </p:nvSpPr>
        <p:spPr>
          <a:xfrm>
            <a:off x="7058520" y="3602160"/>
            <a:ext cx="94680" cy="71640"/>
          </a:xfrm>
          <a:prstGeom prst="ellipse">
            <a:avLst/>
          </a:prstGeom>
          <a:solidFill>
            <a:srgbClr val="78f5f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8" name="TextBox 13"/>
          <p:cNvSpPr/>
          <p:nvPr/>
        </p:nvSpPr>
        <p:spPr>
          <a:xfrm>
            <a:off x="6995160" y="3493080"/>
            <a:ext cx="3804480" cy="63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marL="216000" indent="-216000" defTabSz="914400">
              <a:lnSpc>
                <a:spcPct val="100000"/>
              </a:lnSpc>
              <a:buClr>
                <a:srgbClr val="ffffff"/>
              </a:buClr>
              <a:buSzPct val="45000"/>
              <a:buFont typeface="Symbol" charset="2"/>
              <a:buChar char=""/>
            </a:pP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Na continuação da apresentação, abrimos a geometria e o movimento por trás desse desenho.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Rounded Rectangle 14"/>
          <p:cNvSpPr/>
          <p:nvPr/>
        </p:nvSpPr>
        <p:spPr>
          <a:xfrm>
            <a:off x="6842520" y="4478760"/>
            <a:ext cx="3976200" cy="102276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Mapa rápido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37d9f5"/>
                </a:solidFill>
                <a:latin typeface="Aptos"/>
                <a:ea typeface="DejaVu Sans"/>
              </a:rPr>
              <a:t>a, b -&gt; ângulos globais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37d9f5"/>
                </a:solidFill>
                <a:latin typeface="Aptos"/>
                <a:ea typeface="DejaVu Sans"/>
              </a:rPr>
              <a:t>g, h -&gt; incrementos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37d9f5"/>
                </a:solidFill>
                <a:latin typeface="Aptos"/>
                <a:ea typeface="DejaVu Sans"/>
              </a:rPr>
              <a:t>c, d -&gt; tela + profundidade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37d9f5"/>
                </a:solidFill>
                <a:latin typeface="Aptos"/>
                <a:ea typeface="DejaVu Sans"/>
              </a:rPr>
              <a:t>w, x -&gt; coluna + linha    y, z -&gt; brilho + rampa ASCII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" name="Picture 16" descr="image.png">
            <a:hlinkClick r:id="rId1" action="ppaction://hlinksldjump"/>
          </p:cNvPr>
          <p:cNvPicPr/>
          <p:nvPr/>
        </p:nvPicPr>
        <p:blipFill>
          <a:blip r:embed="rId2"/>
          <a:stretch/>
        </p:blipFill>
        <p:spPr>
          <a:xfrm>
            <a:off x="540000" y="1260000"/>
            <a:ext cx="5439240" cy="5038920"/>
          </a:xfrm>
          <a:prstGeom prst="rect">
            <a:avLst/>
          </a:prstGeom>
          <a:ln w="0">
            <a:noFill/>
          </a:ln>
        </p:spPr>
      </p:pic>
      <p:sp>
        <p:nvSpPr>
          <p:cNvPr id="41" name="Rounded Rectangle 40">
            <a:hlinkClick r:id="rId3" action="ppaction://hlinksldjump"/>
          </p:cNvPr>
          <p:cNvSpPr/>
          <p:nvPr/>
        </p:nvSpPr>
        <p:spPr>
          <a:xfrm>
            <a:off x="6914520" y="5856120"/>
            <a:ext cx="3016800" cy="34668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524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400" spc="-1" strike="noStrike">
                <a:solidFill>
                  <a:srgbClr val="ffffff"/>
                </a:solidFill>
                <a:latin typeface="Aptos"/>
                <a:ea typeface="DejaVu Sans"/>
              </a:rPr>
              <a:t>Veja também a versão legível!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4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3. O que é um toro?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Text 3"/>
          <p:cNvSpPr/>
          <p:nvPr/>
        </p:nvSpPr>
        <p:spPr>
          <a:xfrm>
            <a:off x="530280" y="822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a8b9c7"/>
                </a:solidFill>
                <a:latin typeface="Aptos"/>
                <a:ea typeface="DejaVu Sans"/>
              </a:rPr>
              <a:t>Pense em um círculo com um tubo circular ao redor dele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Text 4"/>
          <p:cNvSpPr/>
          <p:nvPr/>
        </p:nvSpPr>
        <p:spPr>
          <a:xfrm>
            <a:off x="6812280" y="1261800"/>
            <a:ext cx="4387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2f7fa"/>
                </a:solidFill>
                <a:latin typeface="Aptos"/>
                <a:ea typeface="DejaVu Sans"/>
              </a:rPr>
              <a:t>Ideia principal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Shape 5"/>
          <p:cNvSpPr/>
          <p:nvPr/>
        </p:nvSpPr>
        <p:spPr>
          <a:xfrm>
            <a:off x="6903720" y="1993320"/>
            <a:ext cx="71640" cy="71640"/>
          </a:xfrm>
          <a:prstGeom prst="ellipse">
            <a:avLst/>
          </a:prstGeom>
          <a:solidFill>
            <a:srgbClr val="37d9f5"/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8" name="Text 6"/>
          <p:cNvSpPr/>
          <p:nvPr/>
        </p:nvSpPr>
        <p:spPr>
          <a:xfrm>
            <a:off x="7086600" y="1920240"/>
            <a:ext cx="42962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O toro tem dois laços locais.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Shape 7"/>
          <p:cNvSpPr/>
          <p:nvPr/>
        </p:nvSpPr>
        <p:spPr>
          <a:xfrm>
            <a:off x="6903720" y="2432160"/>
            <a:ext cx="71640" cy="71640"/>
          </a:xfrm>
          <a:prstGeom prst="ellipse">
            <a:avLst/>
          </a:prstGeom>
          <a:solidFill>
            <a:srgbClr val="78f5ff"/>
          </a:solidFill>
          <a:ln w="12600">
            <a:solidFill>
              <a:srgbClr val="78f5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0" name="Text 8"/>
          <p:cNvSpPr/>
          <p:nvPr/>
        </p:nvSpPr>
        <p:spPr>
          <a:xfrm>
            <a:off x="7086600" y="2359080"/>
            <a:ext cx="42962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Um laço percorre a seção do tubo.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9"/>
          <p:cNvSpPr/>
          <p:nvPr/>
        </p:nvSpPr>
        <p:spPr>
          <a:xfrm>
            <a:off x="6903720" y="2871360"/>
            <a:ext cx="71640" cy="71640"/>
          </a:xfrm>
          <a:prstGeom prst="ellipse">
            <a:avLst/>
          </a:prstGeom>
          <a:solidFill>
            <a:srgbClr val="ffb22e"/>
          </a:solidFill>
          <a:ln w="12600">
            <a:solidFill>
              <a:srgbClr val="ffb2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2" name="Text 10"/>
          <p:cNvSpPr/>
          <p:nvPr/>
        </p:nvSpPr>
        <p:spPr>
          <a:xfrm>
            <a:off x="7086600" y="2797920"/>
            <a:ext cx="42962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O outro laço percorre o anel principal.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11"/>
          <p:cNvSpPr/>
          <p:nvPr/>
        </p:nvSpPr>
        <p:spPr>
          <a:xfrm>
            <a:off x="6903720" y="3310200"/>
            <a:ext cx="71640" cy="71640"/>
          </a:xfrm>
          <a:prstGeom prst="ellipse">
            <a:avLst/>
          </a:prstGeom>
          <a:solidFill>
            <a:srgbClr val="89f5c5"/>
          </a:solidFill>
          <a:ln w="12600">
            <a:solidFill>
              <a:srgbClr val="89f5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4" name="Text 12"/>
          <p:cNvSpPr/>
          <p:nvPr/>
        </p:nvSpPr>
        <p:spPr>
          <a:xfrm>
            <a:off x="7086600" y="3237120"/>
            <a:ext cx="42962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A superfície inteira nasce da combinação desses dois percursos.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13"/>
          <p:cNvSpPr/>
          <p:nvPr/>
        </p:nvSpPr>
        <p:spPr>
          <a:xfrm>
            <a:off x="6812280" y="4096440"/>
            <a:ext cx="475344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ffe08a"/>
                </a:solidFill>
                <a:latin typeface="Cascadia Mono"/>
                <a:ea typeface="Cascadia Mono"/>
              </a:rPr>
              <a:t>ringDistance = majorRadius + tubeRadius × cos(tubeAngle)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Text 14"/>
          <p:cNvSpPr/>
          <p:nvPr/>
        </p:nvSpPr>
        <p:spPr>
          <a:xfrm>
            <a:off x="6812280" y="459036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tubeYOffset = tubeRadius × sin(tubeAngle)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Text 15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04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" name="Picture 18" descr="image.png"/>
          <p:cNvPicPr/>
          <p:nvPr/>
        </p:nvPicPr>
        <p:blipFill>
          <a:blip r:embed="rId1"/>
          <a:stretch/>
        </p:blipFill>
        <p:spPr>
          <a:xfrm>
            <a:off x="530280" y="1417320"/>
            <a:ext cx="5987880" cy="4159080"/>
          </a:xfrm>
          <a:prstGeom prst="rect">
            <a:avLst/>
          </a:prstGeom>
          <a:ln w="0">
            <a:noFill/>
          </a:ln>
        </p:spPr>
      </p:pic>
      <p:sp>
        <p:nvSpPr>
          <p:cNvPr id="59" name="TextBox 19"/>
          <p:cNvSpPr/>
          <p:nvPr/>
        </p:nvSpPr>
        <p:spPr>
          <a:xfrm>
            <a:off x="2062800" y="5632560"/>
            <a:ext cx="27918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ilustração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Rectangle 56"/>
          <p:cNvSpPr/>
          <p:nvPr/>
        </p:nvSpPr>
        <p:spPr>
          <a:xfrm>
            <a:off x="530280" y="1645920"/>
            <a:ext cx="1873440" cy="1050480"/>
          </a:xfrm>
          <a:prstGeom prst="rect">
            <a:avLst/>
          </a:prstGeom>
          <a:solidFill>
            <a:srgbClr val="020a16"/>
          </a:solidFill>
          <a:ln w="15240">
            <a:solidFill>
              <a:srgbClr val="ffc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ffc330"/>
                </a:solidFill>
                <a:latin typeface="Arial"/>
                <a:ea typeface="DejaVu Sans"/>
              </a:rPr>
              <a:t>laço do anel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900" spc="-1" strike="noStrike">
                <a:solidFill>
                  <a:srgbClr val="eef5ff"/>
                </a:solidFill>
                <a:latin typeface="Arial"/>
                <a:ea typeface="DejaVu Sans"/>
              </a:rPr>
              <a:t>Ângulo ao redor do eixo principal do toro.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Rectangle 57"/>
          <p:cNvSpPr/>
          <p:nvPr/>
        </p:nvSpPr>
        <p:spPr>
          <a:xfrm>
            <a:off x="5257800" y="1783080"/>
            <a:ext cx="1443600" cy="1004760"/>
          </a:xfrm>
          <a:prstGeom prst="rect">
            <a:avLst/>
          </a:prstGeom>
          <a:solidFill>
            <a:srgbClr val="020a16"/>
          </a:solidFill>
          <a:ln w="15240">
            <a:solidFill>
              <a:srgbClr val="4a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4ae1ef"/>
                </a:solidFill>
                <a:latin typeface="Arial"/>
                <a:ea typeface="DejaVu Sans"/>
              </a:rPr>
              <a:t>laço do tubo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900" spc="-1" strike="noStrike">
                <a:solidFill>
                  <a:srgbClr val="eef5ff"/>
                </a:solidFill>
                <a:latin typeface="Arial"/>
                <a:ea typeface="DejaVu Sans"/>
              </a:rPr>
              <a:t>Ângulo ao redor da seção do tubo.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63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64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4. Como o toro se movimenta?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Text 3"/>
          <p:cNvSpPr/>
          <p:nvPr/>
        </p:nvSpPr>
        <p:spPr>
          <a:xfrm>
            <a:off x="530280" y="822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a8b9c7"/>
                </a:solidFill>
                <a:latin typeface="Aptos"/>
                <a:ea typeface="DejaVu Sans"/>
              </a:rPr>
              <a:t>Os laços desenham a forma. O movimento visível aparece quando o toro inteiro gira em dois eixos.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66" name="Image 0" descr="/mnt/data/a_clean_high_quality_3d_rendered_infographic_diag.png"/>
          <p:cNvPicPr/>
          <p:nvPr/>
        </p:nvPicPr>
        <p:blipFill>
          <a:blip r:embed="rId1"/>
          <a:srcRect l="9180" t="0" r="9180" b="0"/>
          <a:stretch/>
        </p:blipFill>
        <p:spPr>
          <a:xfrm>
            <a:off x="502920" y="1417320"/>
            <a:ext cx="6033600" cy="4159080"/>
          </a:xfrm>
          <a:prstGeom prst="rect">
            <a:avLst/>
          </a:prstGeom>
          <a:ln w="0">
            <a:noFill/>
          </a:ln>
        </p:spPr>
      </p:pic>
      <p:sp>
        <p:nvSpPr>
          <p:cNvPr id="67" name="Text 4"/>
          <p:cNvSpPr/>
          <p:nvPr/>
        </p:nvSpPr>
        <p:spPr>
          <a:xfrm>
            <a:off x="6812280" y="1225440"/>
            <a:ext cx="438768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400" spc="-1" strike="noStrike">
                <a:solidFill>
                  <a:srgbClr val="f2f7fa"/>
                </a:solidFill>
                <a:latin typeface="Aptos"/>
                <a:ea typeface="DejaVu Sans"/>
              </a:rPr>
              <a:t>Dois ângulos globais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6903720" y="1947600"/>
            <a:ext cx="71640" cy="71640"/>
          </a:xfrm>
          <a:prstGeom prst="ellipse">
            <a:avLst/>
          </a:prstGeom>
          <a:solidFill>
            <a:srgbClr val="ffb22e"/>
          </a:solidFill>
          <a:ln w="12600">
            <a:solidFill>
              <a:srgbClr val="ffb2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69" name="Text 6"/>
          <p:cNvSpPr/>
          <p:nvPr/>
        </p:nvSpPr>
        <p:spPr>
          <a:xfrm>
            <a:off x="7086600" y="1874520"/>
            <a:ext cx="4387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angleAxial: giro em torno do eixo principal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Shape 7"/>
          <p:cNvSpPr/>
          <p:nvPr/>
        </p:nvSpPr>
        <p:spPr>
          <a:xfrm>
            <a:off x="6903720" y="2423160"/>
            <a:ext cx="71640" cy="71640"/>
          </a:xfrm>
          <a:prstGeom prst="ellipse">
            <a:avLst/>
          </a:prstGeom>
          <a:solidFill>
            <a:srgbClr val="37d9f5"/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71" name="Text 8"/>
          <p:cNvSpPr/>
          <p:nvPr/>
        </p:nvSpPr>
        <p:spPr>
          <a:xfrm>
            <a:off x="7086600" y="2350080"/>
            <a:ext cx="4387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angleElevation: inclinação / rotação aparente na tela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6903720" y="2898720"/>
            <a:ext cx="71640" cy="71640"/>
          </a:xfrm>
          <a:prstGeom prst="ellipse">
            <a:avLst/>
          </a:prstGeom>
          <a:solidFill>
            <a:srgbClr val="89f5c5"/>
          </a:solidFill>
          <a:ln w="12600">
            <a:solidFill>
              <a:srgbClr val="89f5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7086600" y="2825640"/>
            <a:ext cx="4387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Esses dois valores mudam uma vez por quadro.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11"/>
          <p:cNvSpPr/>
          <p:nvPr/>
        </p:nvSpPr>
        <p:spPr>
          <a:xfrm>
            <a:off x="6903720" y="3374280"/>
            <a:ext cx="71640" cy="71640"/>
          </a:xfrm>
          <a:prstGeom prst="ellipse">
            <a:avLst/>
          </a:prstGeom>
          <a:solidFill>
            <a:srgbClr val="e685ff"/>
          </a:solidFill>
          <a:ln w="12600">
            <a:solidFill>
              <a:srgbClr val="e685f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75" name="Text 12"/>
          <p:cNvSpPr/>
          <p:nvPr/>
        </p:nvSpPr>
        <p:spPr>
          <a:xfrm>
            <a:off x="7086600" y="3300840"/>
            <a:ext cx="43876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Se eles não mudarem, a rosquinha fica parada.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13">
            <a:hlinkClick r:id="rId2" action="ppaction://hlinksldjump"/>
          </p:cNvPr>
          <p:cNvSpPr/>
          <p:nvPr/>
        </p:nvSpPr>
        <p:spPr>
          <a:xfrm>
            <a:off x="6812280" y="4434840"/>
            <a:ext cx="4616280" cy="748440"/>
          </a:xfrm>
          <a:prstGeom prst="roundRect">
            <a:avLst>
              <a:gd name="adj" fmla="val 7317"/>
            </a:avLst>
          </a:prstGeom>
          <a:solidFill>
            <a:srgbClr val="0d1825"/>
          </a:solidFill>
          <a:ln w="12600">
            <a:solidFill>
              <a:srgbClr val="ffb22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77" name="Text 14">
            <a:hlinkClick r:id="rId3" action="ppaction://hlinksldjump"/>
          </p:cNvPr>
          <p:cNvSpPr/>
          <p:nvPr/>
        </p:nvSpPr>
        <p:spPr>
          <a:xfrm>
            <a:off x="6949440" y="4544640"/>
            <a:ext cx="4341960" cy="52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angleAxial &lt;- angleAxial + axialStep * speedMultiplier</a:t>
            </a:r>
            <a:endParaRPr b="0" lang="pt-BR" sz="116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angleElevation &lt;- angleElevation + elevationStep * speedMultiplier</a:t>
            </a:r>
            <a:endParaRPr b="0" lang="pt-BR" sz="11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05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18"/>
          <p:cNvSpPr/>
          <p:nvPr/>
        </p:nvSpPr>
        <p:spPr>
          <a:xfrm>
            <a:off x="1684800" y="5914440"/>
            <a:ext cx="27918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ilustração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81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82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5. Parâmetros do movimento e fórmulas essenciais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 3"/>
          <p:cNvSpPr/>
          <p:nvPr/>
        </p:nvSpPr>
        <p:spPr>
          <a:xfrm>
            <a:off x="530280" y="786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a8b9c7"/>
                </a:solidFill>
                <a:latin typeface="Aptos"/>
                <a:ea typeface="DejaVu Sans"/>
              </a:rPr>
              <a:t>Para entender a animação, vale mais observar o papel dos parâmetros do que decorar fórmulas.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4"/>
          <p:cNvSpPr/>
          <p:nvPr/>
        </p:nvSpPr>
        <p:spPr>
          <a:xfrm>
            <a:off x="731520" y="1486440"/>
            <a:ext cx="51192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2f7fa"/>
                </a:solidFill>
                <a:latin typeface="Aptos"/>
                <a:ea typeface="DejaVu Sans"/>
              </a:rPr>
              <a:t>Parâmetros que controlam o movimento</a:t>
            </a:r>
            <a:endParaRPr b="0" lang="pt-BR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914400" y="2151720"/>
            <a:ext cx="2330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b22e"/>
                </a:solidFill>
                <a:latin typeface="Cascadia Mono"/>
                <a:ea typeface="Cascadia Mono"/>
              </a:rPr>
              <a:t>angleAxial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Text 6"/>
          <p:cNvSpPr/>
          <p:nvPr/>
        </p:nvSpPr>
        <p:spPr>
          <a:xfrm>
            <a:off x="3200400" y="2151720"/>
            <a:ext cx="3564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2f7fa"/>
                </a:solidFill>
                <a:latin typeface="Aptos"/>
                <a:ea typeface="DejaVu Sans"/>
              </a:rPr>
              <a:t>ângulo atual do giro axial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 7"/>
          <p:cNvSpPr/>
          <p:nvPr/>
        </p:nvSpPr>
        <p:spPr>
          <a:xfrm>
            <a:off x="914400" y="2627280"/>
            <a:ext cx="2330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ffb22e"/>
                </a:solidFill>
                <a:latin typeface="Cascadia Mono"/>
                <a:ea typeface="Cascadia Mono"/>
              </a:rPr>
              <a:t>angleElevation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3200400" y="2627280"/>
            <a:ext cx="3564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2f7fa"/>
                </a:solidFill>
                <a:latin typeface="Aptos"/>
                <a:ea typeface="DejaVu Sans"/>
              </a:rPr>
              <a:t>ângulo atual da inclinação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Text 9"/>
          <p:cNvSpPr/>
          <p:nvPr/>
        </p:nvSpPr>
        <p:spPr>
          <a:xfrm>
            <a:off x="914400" y="3102480"/>
            <a:ext cx="2330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axialStep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3200400" y="3102480"/>
            <a:ext cx="3564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2f7fa"/>
                </a:solidFill>
                <a:latin typeface="Aptos"/>
                <a:ea typeface="DejaVu Sans"/>
              </a:rPr>
              <a:t>quanto o giro axial avança por quadro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914400" y="3578040"/>
            <a:ext cx="2330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elevationStep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3200400" y="3578040"/>
            <a:ext cx="3564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2f7fa"/>
                </a:solidFill>
                <a:latin typeface="Aptos"/>
                <a:ea typeface="DejaVu Sans"/>
              </a:rPr>
              <a:t>quanto a inclinação avança por quadro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Text 13"/>
          <p:cNvSpPr/>
          <p:nvPr/>
        </p:nvSpPr>
        <p:spPr>
          <a:xfrm>
            <a:off x="914400" y="4053600"/>
            <a:ext cx="233028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speedMultiplier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4"/>
          <p:cNvSpPr/>
          <p:nvPr/>
        </p:nvSpPr>
        <p:spPr>
          <a:xfrm>
            <a:off x="3200400" y="4053600"/>
            <a:ext cx="3564720" cy="236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50" spc="-1" strike="noStrike">
                <a:solidFill>
                  <a:srgbClr val="f2f7fa"/>
                </a:solidFill>
                <a:latin typeface="Aptos"/>
                <a:ea typeface="DejaVu Sans"/>
              </a:rPr>
              <a:t>compensação de velocidade para a GUI do VisuAlg</a:t>
            </a:r>
            <a:endParaRPr b="0" lang="pt-BR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Shape 15">
            <a:hlinkClick r:id="rId1" action="ppaction://hlinksldjump"/>
          </p:cNvPr>
          <p:cNvSpPr/>
          <p:nvPr/>
        </p:nvSpPr>
        <p:spPr>
          <a:xfrm>
            <a:off x="749880" y="4778280"/>
            <a:ext cx="5256360" cy="1050120"/>
          </a:xfrm>
          <a:prstGeom prst="roundRect">
            <a:avLst>
              <a:gd name="adj" fmla="val 5217"/>
            </a:avLst>
          </a:prstGeom>
          <a:solidFill>
            <a:srgbClr val="0d1825"/>
          </a:solidFill>
          <a:ln w="12600">
            <a:solidFill>
              <a:srgbClr val="37d9f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96" name="Text 16">
            <a:hlinkClick r:id="rId2" action="ppaction://hlinksldjump"/>
          </p:cNvPr>
          <p:cNvSpPr/>
          <p:nvPr/>
        </p:nvSpPr>
        <p:spPr>
          <a:xfrm>
            <a:off x="887040" y="4888080"/>
            <a:ext cx="4982040" cy="83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axialStep &lt;- (2 * piValue * 11) / 6280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elevationStep &lt;- (2 * piValue * 5) / 6280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speedMultiplier &lt;- 4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Text 17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06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98" name="Picture 20" descr="image.png"/>
          <p:cNvPicPr/>
          <p:nvPr/>
        </p:nvPicPr>
        <p:blipFill>
          <a:blip r:embed="rId3"/>
          <a:stretch/>
        </p:blipFill>
        <p:spPr>
          <a:xfrm>
            <a:off x="6537960" y="1669320"/>
            <a:ext cx="4662000" cy="3884760"/>
          </a:xfrm>
          <a:prstGeom prst="rect">
            <a:avLst/>
          </a:prstGeom>
          <a:ln w="0">
            <a:noFill/>
          </a:ln>
        </p:spPr>
      </p:pic>
      <p:sp>
        <p:nvSpPr>
          <p:cNvPr id="99" name="TextBox 21"/>
          <p:cNvSpPr/>
          <p:nvPr/>
        </p:nvSpPr>
        <p:spPr>
          <a:xfrm>
            <a:off x="7380000" y="5610240"/>
            <a:ext cx="288468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ilustração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01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02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6. Como cada quadro é produzido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 3"/>
          <p:cNvSpPr/>
          <p:nvPr/>
        </p:nvSpPr>
        <p:spPr>
          <a:xfrm>
            <a:off x="530280" y="822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a8b9c7"/>
                </a:solidFill>
                <a:latin typeface="Aptos"/>
                <a:ea typeface="DejaVu Sans"/>
              </a:rPr>
              <a:t>A animação é um ciclo repetido: limpar, gerar pontos, projetar, escolher o caractere e desenhar.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4" name="Image 0" descr="/mnt/data/a_dark_neon_glow_infographic_from_left_to_right_a.png"/>
          <p:cNvPicPr/>
          <p:nvPr/>
        </p:nvPicPr>
        <p:blipFill>
          <a:blip r:embed="rId1"/>
          <a:srcRect l="7342" t="0" r="7342" b="0"/>
          <a:stretch/>
        </p:blipFill>
        <p:spPr>
          <a:xfrm>
            <a:off x="548640" y="1280160"/>
            <a:ext cx="6582240" cy="4341960"/>
          </a:xfrm>
          <a:prstGeom prst="rect">
            <a:avLst/>
          </a:prstGeom>
          <a:ln w="0">
            <a:noFill/>
          </a:ln>
        </p:spPr>
      </p:pic>
      <p:sp>
        <p:nvSpPr>
          <p:cNvPr id="105" name="Text 4"/>
          <p:cNvSpPr/>
          <p:nvPr/>
        </p:nvSpPr>
        <p:spPr>
          <a:xfrm>
            <a:off x="7543800" y="1325880"/>
            <a:ext cx="3976200" cy="2924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f2f7fa"/>
                </a:solidFill>
                <a:latin typeface="Aptos"/>
                <a:ea typeface="DejaVu Sans"/>
              </a:rPr>
              <a:t>1. Limpar o buffer de caracteres e o z-buffer</a:t>
            </a:r>
            <a:endParaRPr b="0" lang="pt-BR" sz="17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f2f7fa"/>
                </a:solidFill>
                <a:latin typeface="Aptos"/>
                <a:ea typeface="DejaVu Sans"/>
              </a:rPr>
              <a:t>2. Percorrer pontos da superfície do toro</a:t>
            </a:r>
            <a:endParaRPr b="0" lang="pt-BR" sz="17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f2f7fa"/>
                </a:solidFill>
                <a:latin typeface="Aptos"/>
                <a:ea typeface="DejaVu Sans"/>
              </a:rPr>
              <a:t>3. Aplicar as duas rotações globais</a:t>
            </a:r>
            <a:endParaRPr b="0" lang="pt-BR" sz="17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f2f7fa"/>
                </a:solidFill>
                <a:latin typeface="Aptos"/>
                <a:ea typeface="DejaVu Sans"/>
              </a:rPr>
              <a:t>4. Projetar o ponto para linha e coluna da tela</a:t>
            </a:r>
            <a:endParaRPr b="0" lang="pt-BR" sz="17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f2f7fa"/>
                </a:solidFill>
                <a:latin typeface="Aptos"/>
                <a:ea typeface="DejaVu Sans"/>
              </a:rPr>
              <a:t>5. Usar profundidade e luz para escolher o caractere</a:t>
            </a:r>
            <a:endParaRPr b="0" lang="pt-BR" sz="172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720" spc="-1" strike="noStrike">
                <a:solidFill>
                  <a:srgbClr val="f2f7fa"/>
                </a:solidFill>
                <a:latin typeface="Aptos"/>
                <a:ea typeface="DejaVu Sans"/>
              </a:rPr>
              <a:t>6. Avançar os dois ângulos do movimento</a:t>
            </a:r>
            <a:endParaRPr b="0" lang="pt-BR" sz="17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Shape 5">
            <a:hlinkClick r:id="rId2" action="ppaction://hlinksldjump"/>
          </p:cNvPr>
          <p:cNvSpPr/>
          <p:nvPr/>
        </p:nvSpPr>
        <p:spPr>
          <a:xfrm>
            <a:off x="7543800" y="4487400"/>
            <a:ext cx="3976200" cy="1233000"/>
          </a:xfrm>
          <a:prstGeom prst="roundRect">
            <a:avLst>
              <a:gd name="adj" fmla="val 4444"/>
            </a:avLst>
          </a:prstGeom>
          <a:solidFill>
            <a:srgbClr val="0d1825"/>
          </a:solidFill>
          <a:ln w="12600">
            <a:solidFill>
              <a:srgbClr val="25445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07" name="Text 6">
            <a:hlinkClick r:id="rId3" action="ppaction://hlinksldjump"/>
          </p:cNvPr>
          <p:cNvSpPr/>
          <p:nvPr/>
        </p:nvSpPr>
        <p:spPr>
          <a:xfrm>
            <a:off x="7680960" y="4597200"/>
            <a:ext cx="3701880" cy="101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enquanto (1 = 1) faca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limpar buffers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gerar e projetar pontos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desenhar linhas na tela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avançar ângulos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fimenquanto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 7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07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TextBox 10"/>
          <p:cNvSpPr/>
          <p:nvPr/>
        </p:nvSpPr>
        <p:spPr>
          <a:xfrm>
            <a:off x="2340000" y="5650920"/>
            <a:ext cx="280404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ilustração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11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12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7. Fórmulas gerais: como nasce a superfície do toro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Text 3"/>
          <p:cNvSpPr/>
          <p:nvPr/>
        </p:nvSpPr>
        <p:spPr>
          <a:xfrm>
            <a:off x="530280" y="822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a8b9c7"/>
                </a:solidFill>
                <a:latin typeface="Aptos"/>
                <a:ea typeface="DejaVu Sans"/>
              </a:rPr>
              <a:t>Antes do código, esta é a matemática completa da forma: dois ângulos locais geram cada ponto 3D.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4"/>
          <p:cNvSpPr/>
          <p:nvPr/>
        </p:nvSpPr>
        <p:spPr>
          <a:xfrm>
            <a:off x="6309360" y="1539000"/>
            <a:ext cx="438768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00" spc="-1" strike="noStrike">
                <a:solidFill>
                  <a:srgbClr val="f2f7fa"/>
                </a:solidFill>
                <a:latin typeface="Aptos"/>
                <a:ea typeface="DejaVu Sans"/>
              </a:rPr>
              <a:t>Ângulos locais</a:t>
            </a:r>
            <a:endParaRPr b="0" lang="pt-BR" sz="2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Shape 5"/>
          <p:cNvSpPr/>
          <p:nvPr/>
        </p:nvSpPr>
        <p:spPr>
          <a:xfrm>
            <a:off x="6419160" y="2206440"/>
            <a:ext cx="71640" cy="71640"/>
          </a:xfrm>
          <a:prstGeom prst="ellipse">
            <a:avLst/>
          </a:prstGeom>
          <a:solidFill>
            <a:srgbClr val="37d9f5"/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6602040" y="2133360"/>
            <a:ext cx="47534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f2f7fa"/>
                </a:solidFill>
                <a:latin typeface="Aptos"/>
                <a:ea typeface="DejaVu Sans"/>
              </a:rPr>
              <a:t>θ = ângulo no tubo: percorre a seção circular pequena</a:t>
            </a:r>
            <a:endParaRPr b="0" lang="pt-BR" sz="14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Shape 7"/>
          <p:cNvSpPr/>
          <p:nvPr/>
        </p:nvSpPr>
        <p:spPr>
          <a:xfrm>
            <a:off x="6419160" y="2608920"/>
            <a:ext cx="71640" cy="71640"/>
          </a:xfrm>
          <a:prstGeom prst="ellipse">
            <a:avLst/>
          </a:prstGeom>
          <a:solidFill>
            <a:srgbClr val="ffb22e"/>
          </a:solidFill>
          <a:ln w="12600">
            <a:solidFill>
              <a:srgbClr val="ffb22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18" name="Text 8"/>
          <p:cNvSpPr/>
          <p:nvPr/>
        </p:nvSpPr>
        <p:spPr>
          <a:xfrm>
            <a:off x="6602040" y="2535840"/>
            <a:ext cx="47534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f2f7fa"/>
                </a:solidFill>
                <a:latin typeface="Aptos"/>
                <a:ea typeface="DejaVu Sans"/>
              </a:rPr>
              <a:t>φ = ângulo no anel: percorre a volta principal</a:t>
            </a:r>
            <a:endParaRPr b="0" lang="pt-BR" sz="14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6419160" y="3011040"/>
            <a:ext cx="71640" cy="71640"/>
          </a:xfrm>
          <a:prstGeom prst="ellipse">
            <a:avLst/>
          </a:prstGeom>
          <a:solidFill>
            <a:srgbClr val="89f5c5"/>
          </a:solidFill>
          <a:ln w="12600">
            <a:solidFill>
              <a:srgbClr val="89f5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6602040" y="2937960"/>
            <a:ext cx="475344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20" spc="-1" strike="noStrike">
                <a:solidFill>
                  <a:srgbClr val="f2f7fa"/>
                </a:solidFill>
                <a:latin typeface="Aptos"/>
                <a:ea typeface="DejaVu Sans"/>
              </a:rPr>
              <a:t>R = raio maior; r = raio do tubo</a:t>
            </a:r>
            <a:endParaRPr b="0" lang="pt-BR" sz="14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6309360" y="3642120"/>
            <a:ext cx="4570560" cy="29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900" spc="-1" strike="noStrike">
                <a:solidFill>
                  <a:srgbClr val="f2f7fa"/>
                </a:solidFill>
                <a:latin typeface="Aptos"/>
                <a:ea typeface="DejaVu Sans"/>
              </a:rPr>
              <a:t>Ponto local antes da animação</a:t>
            </a:r>
            <a:endParaRPr b="0" lang="pt-BR" sz="1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6400800" y="416340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x₀ = (R + r·cos(θ)) · cos(φ)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Text 13"/>
          <p:cNvSpPr/>
          <p:nvPr/>
        </p:nvSpPr>
        <p:spPr>
          <a:xfrm>
            <a:off x="6400800" y="471204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y₀ = (R + r·cos(θ)) · sin(φ)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 14"/>
          <p:cNvSpPr/>
          <p:nvPr/>
        </p:nvSpPr>
        <p:spPr>
          <a:xfrm>
            <a:off x="6400800" y="5260680"/>
            <a:ext cx="447912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7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z₀ = r · sin(θ)</a:t>
            </a:r>
            <a:endParaRPr b="0" lang="pt-BR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Shape 15"/>
          <p:cNvSpPr/>
          <p:nvPr/>
        </p:nvSpPr>
        <p:spPr>
          <a:xfrm>
            <a:off x="731520" y="5601240"/>
            <a:ext cx="4844880" cy="821520"/>
          </a:xfrm>
          <a:prstGeom prst="roundRect">
            <a:avLst>
              <a:gd name="adj" fmla="val 6667"/>
            </a:avLst>
          </a:prstGeom>
          <a:solidFill>
            <a:srgbClr val="0d1825"/>
          </a:solidFill>
          <a:ln w="12600">
            <a:solidFill>
              <a:srgbClr val="37d9f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868680" y="5711040"/>
            <a:ext cx="4570560" cy="60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ringDistance &lt;- 22 + 4.2 * cosTube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tubeYOffset &lt;- 4.2 * sinTube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R = 22, r = 4.2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08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Rectangle 20"/>
          <p:cNvSpPr/>
          <p:nvPr/>
        </p:nvSpPr>
        <p:spPr>
          <a:xfrm>
            <a:off x="502920" y="1325880"/>
            <a:ext cx="638640" cy="958680"/>
          </a:xfrm>
          <a:prstGeom prst="rect">
            <a:avLst/>
          </a:prstGeom>
          <a:solidFill>
            <a:srgbClr val="07111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pic>
        <p:nvPicPr>
          <p:cNvPr id="129" name="Picture 21" descr="image.png"/>
          <p:cNvPicPr/>
          <p:nvPr/>
        </p:nvPicPr>
        <p:blipFill>
          <a:blip r:embed="rId1"/>
          <a:stretch/>
        </p:blipFill>
        <p:spPr>
          <a:xfrm>
            <a:off x="594360" y="1353240"/>
            <a:ext cx="5256360" cy="3884760"/>
          </a:xfrm>
          <a:prstGeom prst="rect">
            <a:avLst/>
          </a:prstGeom>
          <a:ln w="0">
            <a:noFill/>
          </a:ln>
        </p:spPr>
      </p:pic>
      <p:sp>
        <p:nvSpPr>
          <p:cNvPr id="130" name="TextBox 22"/>
          <p:cNvSpPr/>
          <p:nvPr/>
        </p:nvSpPr>
        <p:spPr>
          <a:xfrm>
            <a:off x="1800000" y="5347440"/>
            <a:ext cx="281808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ilustração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 125"/>
          <p:cNvSpPr/>
          <p:nvPr/>
        </p:nvSpPr>
        <p:spPr>
          <a:xfrm>
            <a:off x="457200" y="1225440"/>
            <a:ext cx="2330640" cy="1233360"/>
          </a:xfrm>
          <a:prstGeom prst="rect">
            <a:avLst/>
          </a:prstGeom>
          <a:solidFill>
            <a:srgbClr val="020a16"/>
          </a:solidFill>
          <a:ln w="15240">
            <a:solidFill>
              <a:srgbClr val="ffc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800" spc="-1" strike="noStrike">
                <a:solidFill>
                  <a:srgbClr val="ffc330"/>
                </a:solidFill>
                <a:latin typeface="Arial"/>
                <a:ea typeface="DejaVu Sans"/>
              </a:rPr>
              <a:t>laço do anel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1200" spc="-1" strike="noStrike">
                <a:solidFill>
                  <a:srgbClr val="eef5ff"/>
                </a:solidFill>
                <a:latin typeface="Arial"/>
                <a:ea typeface="DejaVu Sans"/>
              </a:rPr>
              <a:t>Ângulo ao redor do eixo principal do toro (círculo grande).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Rectangle 126"/>
          <p:cNvSpPr/>
          <p:nvPr/>
        </p:nvSpPr>
        <p:spPr>
          <a:xfrm>
            <a:off x="4572000" y="1737360"/>
            <a:ext cx="1507680" cy="1050480"/>
          </a:xfrm>
          <a:prstGeom prst="rect">
            <a:avLst/>
          </a:prstGeom>
          <a:solidFill>
            <a:srgbClr val="020a16"/>
          </a:solidFill>
          <a:ln w="15240">
            <a:solidFill>
              <a:srgbClr val="4a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4ae1ef"/>
                </a:solidFill>
                <a:latin typeface="Arial"/>
                <a:ea typeface="DejaVu Sans"/>
              </a:rPr>
              <a:t>laço do tubo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201"/>
              </a:spcBef>
            </a:pPr>
            <a:r>
              <a:rPr b="0" lang="pt-BR" sz="900" spc="-1" strike="noStrike">
                <a:solidFill>
                  <a:srgbClr val="eef5ff"/>
                </a:solidFill>
                <a:latin typeface="Arial"/>
                <a:ea typeface="DejaVu Sans"/>
              </a:rPr>
              <a:t>Ângulo ao redor da seção do tubo.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34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35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8. Fórmulas gerais: rotação, projeção e luz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530280" y="822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pc="-1" strike="noStrike">
                <a:solidFill>
                  <a:srgbClr val="a8b9c7"/>
                </a:solidFill>
                <a:latin typeface="Aptos"/>
                <a:ea typeface="DejaVu Sans"/>
              </a:rPr>
              <a:t>Aqui entram o sin() e cos() dos ângulos globais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7" name="Image 0" descr="/mnt/data/a_clean_high_quality_3d_rendered_infographic_diag.png"/>
          <p:cNvPicPr/>
          <p:nvPr/>
        </p:nvPicPr>
        <p:blipFill>
          <a:blip r:embed="rId1"/>
          <a:srcRect l="4544" t="0" r="4544" b="0"/>
          <a:stretch/>
        </p:blipFill>
        <p:spPr>
          <a:xfrm>
            <a:off x="6583680" y="1234440"/>
            <a:ext cx="4799160" cy="2970360"/>
          </a:xfrm>
          <a:prstGeom prst="rect">
            <a:avLst/>
          </a:prstGeom>
          <a:ln w="0">
            <a:noFill/>
          </a:ln>
        </p:spPr>
      </p:pic>
      <p:sp>
        <p:nvSpPr>
          <p:cNvPr id="138" name="Text 4"/>
          <p:cNvSpPr/>
          <p:nvPr/>
        </p:nvSpPr>
        <p:spPr>
          <a:xfrm>
            <a:off x="685800" y="1385280"/>
            <a:ext cx="4113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f7fa"/>
                </a:solidFill>
                <a:latin typeface="Aptos"/>
                <a:ea typeface="DejaVu Sans"/>
              </a:rPr>
              <a:t>Rotações globais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 5"/>
          <p:cNvSpPr/>
          <p:nvPr/>
        </p:nvSpPr>
        <p:spPr>
          <a:xfrm>
            <a:off x="749880" y="179856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A = angleAxial      B = angleElevation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6"/>
          <p:cNvSpPr/>
          <p:nvPr/>
        </p:nvSpPr>
        <p:spPr>
          <a:xfrm>
            <a:off x="749880" y="232884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y₁ = y₀·cos(A) − z₀·sin(A)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Text 7"/>
          <p:cNvSpPr/>
          <p:nvPr/>
        </p:nvSpPr>
        <p:spPr>
          <a:xfrm>
            <a:off x="749880" y="281340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e08a"/>
                </a:solidFill>
                <a:latin typeface="Cascadia Mono"/>
                <a:ea typeface="Cascadia Mono"/>
              </a:rPr>
              <a:t>z₁ = y₀·sin(A) + z₀·cos(A)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 8"/>
          <p:cNvSpPr/>
          <p:nvPr/>
        </p:nvSpPr>
        <p:spPr>
          <a:xfrm>
            <a:off x="749880" y="336204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x₂ = x₀·cos(B) − y₁·sin(B)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 9"/>
          <p:cNvSpPr/>
          <p:nvPr/>
        </p:nvSpPr>
        <p:spPr>
          <a:xfrm>
            <a:off x="749880" y="384660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y₂ = x₀·sin(B) + y₁·cos(B)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Text 10"/>
          <p:cNvSpPr/>
          <p:nvPr/>
        </p:nvSpPr>
        <p:spPr>
          <a:xfrm>
            <a:off x="685800" y="4649760"/>
            <a:ext cx="411336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000" spc="-1" strike="noStrike">
                <a:solidFill>
                  <a:srgbClr val="f2f7fa"/>
                </a:solidFill>
                <a:latin typeface="Aptos"/>
                <a:ea typeface="DejaVu Sans"/>
              </a:rPr>
              <a:t>Projeção na tela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Text 11"/>
          <p:cNvSpPr/>
          <p:nvPr/>
        </p:nvSpPr>
        <p:spPr>
          <a:xfrm>
            <a:off x="749880" y="500796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89f5c5"/>
                </a:solidFill>
                <a:latin typeface="Cascadia Mono"/>
                <a:ea typeface="Cascadia Mono"/>
              </a:rPr>
              <a:t>D = 1 / (z₁ + cameraDistance)</a:t>
            </a:r>
            <a:endParaRPr b="0" lang="pt-B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Text 12"/>
          <p:cNvSpPr/>
          <p:nvPr/>
        </p:nvSpPr>
        <p:spPr>
          <a:xfrm>
            <a:off x="749880" y="546516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89f5c5"/>
                </a:solidFill>
                <a:latin typeface="Cascadia Mono"/>
                <a:ea typeface="Cascadia Mono"/>
              </a:rPr>
              <a:t>col = centerX + scaleX·D·x₂</a:t>
            </a:r>
            <a:endParaRPr b="0" lang="pt-B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3"/>
          <p:cNvSpPr/>
          <p:nvPr/>
        </p:nvSpPr>
        <p:spPr>
          <a:xfrm>
            <a:off x="749880" y="592236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89f5c5"/>
                </a:solidFill>
                <a:latin typeface="Cascadia Mono"/>
                <a:ea typeface="Cascadia Mono"/>
              </a:rPr>
              <a:t>row = centerY + scaleY·D·y₂</a:t>
            </a:r>
            <a:endParaRPr b="0" lang="pt-B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Shape 14"/>
          <p:cNvSpPr/>
          <p:nvPr/>
        </p:nvSpPr>
        <p:spPr>
          <a:xfrm>
            <a:off x="6629400" y="4732560"/>
            <a:ext cx="4570560" cy="867240"/>
          </a:xfrm>
          <a:prstGeom prst="roundRect">
            <a:avLst>
              <a:gd name="adj" fmla="val 6316"/>
            </a:avLst>
          </a:prstGeom>
          <a:solidFill>
            <a:srgbClr val="0d1825"/>
          </a:solidFill>
          <a:ln w="12600">
            <a:solidFill>
              <a:srgbClr val="ffe08a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49" name="Text 15"/>
          <p:cNvSpPr/>
          <p:nvPr/>
        </p:nvSpPr>
        <p:spPr>
          <a:xfrm>
            <a:off x="6766560" y="4842360"/>
            <a:ext cx="4296240" cy="647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light = direçãoDaLuz · normalDaSuperfície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shadeIndex &lt;- int(6 + 4.5 * light)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 16"/>
          <p:cNvSpPr/>
          <p:nvPr/>
        </p:nvSpPr>
        <p:spPr>
          <a:xfrm>
            <a:off x="6629400" y="5829840"/>
            <a:ext cx="54295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30" spc="-1" strike="noStrike">
                <a:solidFill>
                  <a:srgbClr val="a8b9c7"/>
                </a:solidFill>
                <a:latin typeface="Aptos"/>
                <a:ea typeface="DejaVu Sans"/>
              </a:rPr>
              <a:t>A fórmula de luz usa sen() e cos() dos mesmos ângulos. Ela decide se o ponto vira um caractere fraco, médio ou forte.</a:t>
            </a:r>
            <a:endParaRPr b="0" lang="pt-BR" sz="143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 17"/>
          <p:cNvSpPr/>
          <p:nvPr/>
        </p:nvSpPr>
        <p:spPr>
          <a:xfrm>
            <a:off x="11292840" y="6707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09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TextBox 8"/>
          <p:cNvSpPr/>
          <p:nvPr/>
        </p:nvSpPr>
        <p:spPr>
          <a:xfrm>
            <a:off x="7200000" y="4320000"/>
            <a:ext cx="287964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ilustração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54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55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9. Da forma 3D para a tela de texto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 4"/>
          <p:cNvSpPr/>
          <p:nvPr/>
        </p:nvSpPr>
        <p:spPr>
          <a:xfrm>
            <a:off x="685800" y="1404720"/>
            <a:ext cx="383904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pc="-1" strike="noStrike">
                <a:solidFill>
                  <a:srgbClr val="f2f7fa"/>
                </a:solidFill>
                <a:latin typeface="Aptos"/>
                <a:ea typeface="DejaVu Sans"/>
              </a:rPr>
              <a:t>Importante</a:t>
            </a:r>
            <a:endParaRPr b="0" lang="pt-B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Shape 5"/>
          <p:cNvSpPr/>
          <p:nvPr/>
        </p:nvSpPr>
        <p:spPr>
          <a:xfrm>
            <a:off x="768240" y="2117880"/>
            <a:ext cx="71640" cy="71640"/>
          </a:xfrm>
          <a:prstGeom prst="ellipse">
            <a:avLst/>
          </a:prstGeom>
          <a:solidFill>
            <a:srgbClr val="ffe08a"/>
          </a:solidFill>
          <a:ln w="12600">
            <a:solidFill>
              <a:srgbClr val="ffe08a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58" name="Text 6"/>
          <p:cNvSpPr/>
          <p:nvPr/>
        </p:nvSpPr>
        <p:spPr>
          <a:xfrm>
            <a:off x="951120" y="2044800"/>
            <a:ext cx="53020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Pontos mais próximos parecem maiores.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Shape 7"/>
          <p:cNvSpPr/>
          <p:nvPr/>
        </p:nvSpPr>
        <p:spPr>
          <a:xfrm>
            <a:off x="768240" y="2575080"/>
            <a:ext cx="71640" cy="71640"/>
          </a:xfrm>
          <a:prstGeom prst="ellipse">
            <a:avLst/>
          </a:prstGeom>
          <a:solidFill>
            <a:srgbClr val="37d9f5"/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60" name="Text 8"/>
          <p:cNvSpPr/>
          <p:nvPr/>
        </p:nvSpPr>
        <p:spPr>
          <a:xfrm>
            <a:off x="951120" y="2502000"/>
            <a:ext cx="53020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Cada ponto vira uma coluna e uma linha na tela.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9"/>
          <p:cNvSpPr/>
          <p:nvPr/>
        </p:nvSpPr>
        <p:spPr>
          <a:xfrm>
            <a:off x="768240" y="3032280"/>
            <a:ext cx="71640" cy="71640"/>
          </a:xfrm>
          <a:prstGeom prst="ellipse">
            <a:avLst/>
          </a:prstGeom>
          <a:solidFill>
            <a:srgbClr val="89f5c5"/>
          </a:solidFill>
          <a:ln w="12600">
            <a:solidFill>
              <a:srgbClr val="89f5c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6840" bIns="684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62" name="Text 10"/>
          <p:cNvSpPr/>
          <p:nvPr/>
        </p:nvSpPr>
        <p:spPr>
          <a:xfrm>
            <a:off x="951120" y="2959200"/>
            <a:ext cx="5302080" cy="30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f2f7fa"/>
                </a:solidFill>
                <a:latin typeface="Aptos"/>
                <a:ea typeface="DejaVu Sans"/>
              </a:rPr>
              <a:t>Se dois pontos caem na mesma célula, vence o mais próximo.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 11"/>
          <p:cNvSpPr/>
          <p:nvPr/>
        </p:nvSpPr>
        <p:spPr>
          <a:xfrm>
            <a:off x="777240" y="3782160"/>
            <a:ext cx="511920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550" spc="-1" strike="noStrike">
                <a:solidFill>
                  <a:srgbClr val="ffe08a"/>
                </a:solidFill>
                <a:latin typeface="Cascadia Mono"/>
                <a:ea typeface="Cascadia Mono"/>
              </a:rPr>
              <a:t>inverseDepth = 1 / (rotatedZ + distanceFromCamera)</a:t>
            </a:r>
            <a:endParaRPr b="0" lang="pt-BR" sz="15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Text 12"/>
          <p:cNvSpPr/>
          <p:nvPr/>
        </p:nvSpPr>
        <p:spPr>
          <a:xfrm>
            <a:off x="777240" y="431244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screenCol = centerX + scaleX × inverseDepth × rotatedX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Text 13"/>
          <p:cNvSpPr/>
          <p:nvPr/>
        </p:nvSpPr>
        <p:spPr>
          <a:xfrm>
            <a:off x="777240" y="4806360"/>
            <a:ext cx="5302080" cy="38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5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screenRow = centerY + scaleY × inverseDepth × rotatedY</a:t>
            </a:r>
            <a:endParaRPr b="0" lang="pt-BR" sz="14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Shape 14">
            <a:hlinkClick r:id="rId1" action="ppaction://hlinksldjump"/>
          </p:cNvPr>
          <p:cNvSpPr/>
          <p:nvPr/>
        </p:nvSpPr>
        <p:spPr>
          <a:xfrm>
            <a:off x="6419160" y="1508760"/>
            <a:ext cx="5119200" cy="931320"/>
          </a:xfrm>
          <a:prstGeom prst="roundRect">
            <a:avLst>
              <a:gd name="adj" fmla="val 5882"/>
            </a:avLst>
          </a:prstGeom>
          <a:solidFill>
            <a:srgbClr val="0d1825"/>
          </a:solidFill>
          <a:ln w="12600">
            <a:solidFill>
              <a:srgbClr val="25445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67" name="Text 15">
            <a:hlinkClick r:id="rId2" action="ppaction://hlinksldjump"/>
          </p:cNvPr>
          <p:cNvSpPr/>
          <p:nvPr/>
        </p:nvSpPr>
        <p:spPr>
          <a:xfrm>
            <a:off x="6556320" y="1618560"/>
            <a:ext cx="4844880" cy="711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se (inverseDepth &gt; depthBuffer[screenRow, screenCol]) entao</a:t>
            </a:r>
            <a:endParaRPr b="0" lang="pt-BR" sz="10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1070" spc="-1" strike="noStrike">
                <a:solidFill>
                  <a:srgbClr val="d9f1ff"/>
                </a:solidFill>
                <a:latin typeface="Cascadia Mono"/>
                <a:ea typeface="Cascadia Mono"/>
              </a:rPr>
              <a:t>depthBuffer[screenRow, screenCol] &lt;- inverseDepth</a:t>
            </a:r>
            <a:endParaRPr b="0" lang="pt-BR" sz="10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107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charBuffer[screenRow, screenCol] &lt;- copia(shadeRamp, shadeIndex + 1, 1)</a:t>
            </a:r>
            <a:endParaRPr b="0" lang="pt-BR" sz="107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7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fimse</a:t>
            </a:r>
            <a:endParaRPr b="0" lang="pt-BR" sz="107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68" name="Image 0" descr="/mnt/data/wide_dark_black_minimal_infographic_like_scene_a.png"/>
          <p:cNvPicPr/>
          <p:nvPr/>
        </p:nvPicPr>
        <p:blipFill>
          <a:blip r:embed="rId3"/>
          <a:srcRect l="0" t="5579" r="0" b="5579"/>
          <a:stretch/>
        </p:blipFill>
        <p:spPr>
          <a:xfrm>
            <a:off x="6400800" y="2697480"/>
            <a:ext cx="5119200" cy="2558880"/>
          </a:xfrm>
          <a:prstGeom prst="rect">
            <a:avLst/>
          </a:prstGeom>
          <a:ln w="0">
            <a:noFill/>
          </a:ln>
        </p:spPr>
      </p:pic>
      <p:sp>
        <p:nvSpPr>
          <p:cNvPr id="169" name="Text 16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10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TextBox 19"/>
          <p:cNvSpPr/>
          <p:nvPr/>
        </p:nvSpPr>
        <p:spPr>
          <a:xfrm>
            <a:off x="7400880" y="5321880"/>
            <a:ext cx="285876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ilustração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ectangle 164"/>
          <p:cNvSpPr/>
          <p:nvPr/>
        </p:nvSpPr>
        <p:spPr>
          <a:xfrm>
            <a:off x="8823960" y="2651760"/>
            <a:ext cx="1416240" cy="346320"/>
          </a:xfrm>
          <a:prstGeom prst="rect">
            <a:avLst/>
          </a:prstGeom>
          <a:solidFill>
            <a:srgbClr val="020a16"/>
          </a:solidFill>
          <a:ln w="15240">
            <a:solidFill>
              <a:srgbClr val="4ae1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4ae1ef"/>
                </a:solidFill>
                <a:latin typeface="Arial"/>
                <a:ea typeface="DejaVu Sans"/>
              </a:rPr>
              <a:t>giro axial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Rectangle 165"/>
          <p:cNvSpPr/>
          <p:nvPr/>
        </p:nvSpPr>
        <p:spPr>
          <a:xfrm>
            <a:off x="10012680" y="3593520"/>
            <a:ext cx="1461960" cy="346320"/>
          </a:xfrm>
          <a:prstGeom prst="rect">
            <a:avLst/>
          </a:prstGeom>
          <a:solidFill>
            <a:srgbClr val="020a16"/>
          </a:solidFill>
          <a:ln w="15240">
            <a:solidFill>
              <a:srgbClr val="49ff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73080" rIns="73080" tIns="36720" bIns="3672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500" spc="-1" strike="noStrike">
                <a:solidFill>
                  <a:srgbClr val="49ffdc"/>
                </a:solidFill>
                <a:latin typeface="Arial"/>
                <a:ea typeface="DejaVu Sans"/>
              </a:rPr>
              <a:t>inclinação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74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75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10. Onde isso aparece no código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Text 3"/>
          <p:cNvSpPr/>
          <p:nvPr/>
        </p:nvSpPr>
        <p:spPr>
          <a:xfrm>
            <a:off x="530280" y="822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500" spc="-1" strike="noStrike">
                <a:solidFill>
                  <a:srgbClr val="aabacd"/>
                </a:solidFill>
                <a:latin typeface="Aptos"/>
                <a:ea typeface="DejaVu Sans"/>
              </a:rPr>
              <a:t>Os trechos curtos mostram a ligação entre movimento, projeção e desenho no console.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7" name="Image 0" descr="/mnt/data/a_clean_high_quality_3d_rendered_infographic_diag.png"/>
          <p:cNvPicPr/>
          <p:nvPr/>
        </p:nvPicPr>
        <p:blipFill>
          <a:blip r:embed="rId1"/>
          <a:srcRect l="10672" t="0" r="10672" b="0"/>
          <a:stretch/>
        </p:blipFill>
        <p:spPr>
          <a:xfrm>
            <a:off x="567000" y="1417320"/>
            <a:ext cx="5302080" cy="3793320"/>
          </a:xfrm>
          <a:prstGeom prst="rect">
            <a:avLst/>
          </a:prstGeom>
          <a:ln w="0">
            <a:noFill/>
          </a:ln>
        </p:spPr>
      </p:pic>
      <p:sp>
        <p:nvSpPr>
          <p:cNvPr id="178" name="Shape 4">
            <a:hlinkClick r:id="rId2" action="ppaction://hlinksldjump"/>
          </p:cNvPr>
          <p:cNvSpPr/>
          <p:nvPr/>
        </p:nvSpPr>
        <p:spPr>
          <a:xfrm>
            <a:off x="6309360" y="1325880"/>
            <a:ext cx="5119200" cy="1415880"/>
          </a:xfrm>
          <a:prstGeom prst="roundRect">
            <a:avLst>
              <a:gd name="adj" fmla="val 3871"/>
            </a:avLst>
          </a:prstGeom>
          <a:solidFill>
            <a:srgbClr val="0d1825"/>
          </a:solidFill>
          <a:ln w="12600">
            <a:solidFill>
              <a:srgbClr val="25445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79" name="Text 5">
            <a:hlinkClick r:id="rId3" action="ppaction://hlinksldjump"/>
          </p:cNvPr>
          <p:cNvSpPr/>
          <p:nvPr/>
        </p:nvSpPr>
        <p:spPr>
          <a:xfrm>
            <a:off x="6446520" y="1435680"/>
            <a:ext cx="4844880" cy="119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Inicialização do movimento</a:t>
            </a:r>
            <a:endParaRPr b="0" lang="pt-BR" sz="10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angleAxial &lt;- 1</a:t>
            </a:r>
            <a:endParaRPr b="0" lang="pt-BR" sz="10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angleElevation &lt;- 1</a:t>
            </a:r>
            <a:endParaRPr b="0" lang="pt-BR" sz="10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axialStep &lt;- (2 * piValue * 11) / 6280</a:t>
            </a:r>
            <a:endParaRPr b="0" lang="pt-BR" sz="10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elevationStep &lt;- (2 * piValue * 5) / 6280</a:t>
            </a:r>
            <a:endParaRPr b="0" lang="pt-BR" sz="109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9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speedMultiplier &lt;- 4</a:t>
            </a:r>
            <a:endParaRPr b="0" lang="pt-BR" sz="10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Shape 6">
            <a:hlinkClick r:id="rId4" action="ppaction://hlinksldjump"/>
          </p:cNvPr>
          <p:cNvSpPr/>
          <p:nvPr/>
        </p:nvSpPr>
        <p:spPr>
          <a:xfrm>
            <a:off x="6309360" y="3063240"/>
            <a:ext cx="5119200" cy="912960"/>
          </a:xfrm>
          <a:prstGeom prst="roundRect">
            <a:avLst>
              <a:gd name="adj" fmla="val 6000"/>
            </a:avLst>
          </a:prstGeom>
          <a:solidFill>
            <a:srgbClr val="0d1825"/>
          </a:solidFill>
          <a:ln w="12600">
            <a:solidFill>
              <a:srgbClr val="ffb22e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81" name="Text 7">
            <a:hlinkClick r:id="rId5" action="ppaction://hlinksldjump"/>
          </p:cNvPr>
          <p:cNvSpPr/>
          <p:nvPr/>
        </p:nvSpPr>
        <p:spPr>
          <a:xfrm>
            <a:off x="6446520" y="3173040"/>
            <a:ext cx="4844880" cy="69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Movimento por quadro</a:t>
            </a:r>
            <a:endParaRPr b="0" lang="pt-BR" sz="114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angleAxial &lt;- angleAxial + axialStep * speedMultiplier</a:t>
            </a:r>
            <a:endParaRPr b="0" lang="pt-BR" sz="114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4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angleElevation &lt;- angleElevation + elevationStep * speedMultiplier</a:t>
            </a:r>
            <a:endParaRPr b="0" lang="pt-BR" sz="114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Shape 8">
            <a:hlinkClick r:id="rId6" action="ppaction://hlinksldjump"/>
          </p:cNvPr>
          <p:cNvSpPr/>
          <p:nvPr/>
        </p:nvSpPr>
        <p:spPr>
          <a:xfrm>
            <a:off x="6309360" y="4434840"/>
            <a:ext cx="5119200" cy="1095840"/>
          </a:xfrm>
          <a:prstGeom prst="roundRect">
            <a:avLst>
              <a:gd name="adj" fmla="val 5000"/>
            </a:avLst>
          </a:prstGeom>
          <a:solidFill>
            <a:srgbClr val="0d1825"/>
          </a:solidFill>
          <a:ln w="12600">
            <a:solidFill>
              <a:srgbClr val="37d9f5">
                <a:alpha val="8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83" name="Text 9">
            <a:hlinkClick r:id="rId7" action="ppaction://hlinksldjump"/>
          </p:cNvPr>
          <p:cNvSpPr/>
          <p:nvPr/>
        </p:nvSpPr>
        <p:spPr>
          <a:xfrm>
            <a:off x="6446520" y="4544640"/>
            <a:ext cx="4844880" cy="87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Desenho na GUI do VisuAlg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limpatela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rowIndex de 0 ate 39 faca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11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...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11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escreval(outputRow)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 10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11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Box 13"/>
          <p:cNvSpPr/>
          <p:nvPr/>
        </p:nvSpPr>
        <p:spPr>
          <a:xfrm>
            <a:off x="1800000" y="5285160"/>
            <a:ext cx="287964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ilustração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87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Parâmetros de animação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502920" y="1097280"/>
            <a:ext cx="11108520" cy="5439240"/>
          </a:xfrm>
          <a:prstGeom prst="roundRect">
            <a:avLst>
              <a:gd name="adj" fmla="val 1345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0" name="Shape 5"/>
          <p:cNvSpPr/>
          <p:nvPr/>
        </p:nvSpPr>
        <p:spPr>
          <a:xfrm>
            <a:off x="1051560" y="1134000"/>
            <a:ext cx="12240" cy="536616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1" name="Shape 6"/>
          <p:cNvSpPr/>
          <p:nvPr/>
        </p:nvSpPr>
        <p:spPr>
          <a:xfrm>
            <a:off x="1106280" y="2185560"/>
            <a:ext cx="2238840" cy="446760"/>
          </a:xfrm>
          <a:prstGeom prst="roundRect">
            <a:avLst>
              <a:gd name="adj" fmla="val 6316"/>
            </a:avLst>
          </a:prstGeom>
          <a:solidFill>
            <a:srgbClr val="ffb22e">
              <a:alpha val="12000"/>
            </a:srgbClr>
          </a:solidFill>
          <a:ln w="17640">
            <a:solidFill>
              <a:srgbClr val="ffb2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2" name="Shape 10"/>
          <p:cNvSpPr/>
          <p:nvPr/>
        </p:nvSpPr>
        <p:spPr>
          <a:xfrm>
            <a:off x="1106280" y="3191400"/>
            <a:ext cx="3747600" cy="446760"/>
          </a:xfrm>
          <a:prstGeom prst="roundRect">
            <a:avLst>
              <a:gd name="adj" fmla="val 6316"/>
            </a:avLst>
          </a:prstGeom>
          <a:solidFill>
            <a:srgbClr val="37d9f5">
              <a:alpha val="12000"/>
            </a:srgbClr>
          </a:solidFill>
          <a:ln w="17640">
            <a:solidFill>
              <a:srgbClr val="37d9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3" name="Shape 14"/>
          <p:cNvSpPr/>
          <p:nvPr/>
        </p:nvSpPr>
        <p:spPr>
          <a:xfrm>
            <a:off x="1106280" y="4206240"/>
            <a:ext cx="2147400" cy="236160"/>
          </a:xfrm>
          <a:prstGeom prst="roundRect">
            <a:avLst>
              <a:gd name="adj" fmla="val 11765"/>
            </a:avLst>
          </a:prstGeom>
          <a:solidFill>
            <a:srgbClr val="e685ff">
              <a:alpha val="12000"/>
            </a:srgbClr>
          </a:solidFill>
          <a:ln w="17640">
            <a:solidFill>
              <a:srgbClr val="e685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194" name="Text 18"/>
          <p:cNvSpPr/>
          <p:nvPr/>
        </p:nvSpPr>
        <p:spPr>
          <a:xfrm>
            <a:off x="612720" y="120708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1124640" y="120708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inicio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20"/>
          <p:cNvSpPr/>
          <p:nvPr/>
        </p:nvSpPr>
        <p:spPr>
          <a:xfrm>
            <a:off x="612720" y="140832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Text 21"/>
          <p:cNvSpPr/>
          <p:nvPr/>
        </p:nvSpPr>
        <p:spPr>
          <a:xfrm>
            <a:off x="1124640" y="140832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Text 22"/>
          <p:cNvSpPr/>
          <p:nvPr/>
        </p:nvSpPr>
        <p:spPr>
          <a:xfrm>
            <a:off x="612720" y="160920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3"/>
          <p:cNvSpPr/>
          <p:nvPr/>
        </p:nvSpPr>
        <p:spPr>
          <a:xfrm>
            <a:off x="1124640" y="160920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piValue &lt;- 3.141592653589793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612720" y="181044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Text 25"/>
          <p:cNvSpPr/>
          <p:nvPr/>
        </p:nvSpPr>
        <p:spPr>
          <a:xfrm>
            <a:off x="1124640" y="181044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26"/>
          <p:cNvSpPr/>
          <p:nvPr/>
        </p:nvSpPr>
        <p:spPr>
          <a:xfrm>
            <a:off x="612720" y="201168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Text 27"/>
          <p:cNvSpPr/>
          <p:nvPr/>
        </p:nvSpPr>
        <p:spPr>
          <a:xfrm>
            <a:off x="1124640" y="201168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Orientação inicial.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Text 28"/>
          <p:cNvSpPr/>
          <p:nvPr/>
        </p:nvSpPr>
        <p:spPr>
          <a:xfrm>
            <a:off x="612720" y="221292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1124640" y="221292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angleAxial &lt;- 1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Text 30"/>
          <p:cNvSpPr/>
          <p:nvPr/>
        </p:nvSpPr>
        <p:spPr>
          <a:xfrm>
            <a:off x="612720" y="241416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Text 31"/>
          <p:cNvSpPr/>
          <p:nvPr/>
        </p:nvSpPr>
        <p:spPr>
          <a:xfrm>
            <a:off x="1124640" y="241416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angleElevation &lt;- 1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Text 32"/>
          <p:cNvSpPr/>
          <p:nvPr/>
        </p:nvSpPr>
        <p:spPr>
          <a:xfrm>
            <a:off x="612720" y="261504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Text 33"/>
          <p:cNvSpPr/>
          <p:nvPr/>
        </p:nvSpPr>
        <p:spPr>
          <a:xfrm>
            <a:off x="1124640" y="261504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34"/>
          <p:cNvSpPr/>
          <p:nvPr/>
        </p:nvSpPr>
        <p:spPr>
          <a:xfrm>
            <a:off x="612720" y="281628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49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35"/>
          <p:cNvSpPr/>
          <p:nvPr/>
        </p:nvSpPr>
        <p:spPr>
          <a:xfrm>
            <a:off x="1124640" y="281628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Relação original da animação: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Text 36"/>
          <p:cNvSpPr/>
          <p:nvPr/>
        </p:nvSpPr>
        <p:spPr>
          <a:xfrm>
            <a:off x="612720" y="301752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37"/>
          <p:cNvSpPr/>
          <p:nvPr/>
        </p:nvSpPr>
        <p:spPr>
          <a:xfrm>
            <a:off x="1124640" y="301752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11 giros axiais para cada 5 giros de inclinação.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Text 38"/>
          <p:cNvSpPr/>
          <p:nvPr/>
        </p:nvSpPr>
        <p:spPr>
          <a:xfrm>
            <a:off x="612720" y="321876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Text 39"/>
          <p:cNvSpPr/>
          <p:nvPr/>
        </p:nvSpPr>
        <p:spPr>
          <a:xfrm>
            <a:off x="1124640" y="321876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axialStep &lt;- (2 * piValue * 11) / 6280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40"/>
          <p:cNvSpPr/>
          <p:nvPr/>
        </p:nvSpPr>
        <p:spPr>
          <a:xfrm>
            <a:off x="612720" y="342000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Text 41"/>
          <p:cNvSpPr/>
          <p:nvPr/>
        </p:nvSpPr>
        <p:spPr>
          <a:xfrm>
            <a:off x="1124640" y="342000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elevationStep &lt;- (2 * piValue * 5) / 6280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Text 42"/>
          <p:cNvSpPr/>
          <p:nvPr/>
        </p:nvSpPr>
        <p:spPr>
          <a:xfrm>
            <a:off x="612720" y="362088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Text 43"/>
          <p:cNvSpPr/>
          <p:nvPr/>
        </p:nvSpPr>
        <p:spPr>
          <a:xfrm>
            <a:off x="1124640" y="362088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Text 44"/>
          <p:cNvSpPr/>
          <p:nvPr/>
        </p:nvSpPr>
        <p:spPr>
          <a:xfrm>
            <a:off x="612720" y="382212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Text 45"/>
          <p:cNvSpPr/>
          <p:nvPr/>
        </p:nvSpPr>
        <p:spPr>
          <a:xfrm>
            <a:off x="1124640" y="382212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O console gráfico do VisuAlg é mais lento que uma animação em navegador/terminal,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 46"/>
          <p:cNvSpPr/>
          <p:nvPr/>
        </p:nvSpPr>
        <p:spPr>
          <a:xfrm>
            <a:off x="612720" y="402336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Text 47"/>
          <p:cNvSpPr/>
          <p:nvPr/>
        </p:nvSpPr>
        <p:spPr>
          <a:xfrm>
            <a:off x="1124640" y="402336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por isso cada quadro exibido avança mais a rotação.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48"/>
          <p:cNvSpPr/>
          <p:nvPr/>
        </p:nvSpPr>
        <p:spPr>
          <a:xfrm>
            <a:off x="612720" y="422460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Text 49"/>
          <p:cNvSpPr/>
          <p:nvPr/>
        </p:nvSpPr>
        <p:spPr>
          <a:xfrm>
            <a:off x="1124640" y="422460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speedMultiplier &lt;- 4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Text 50"/>
          <p:cNvSpPr/>
          <p:nvPr/>
        </p:nvSpPr>
        <p:spPr>
          <a:xfrm>
            <a:off x="612720" y="442584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51"/>
          <p:cNvSpPr/>
          <p:nvPr/>
        </p:nvSpPr>
        <p:spPr>
          <a:xfrm>
            <a:off x="1124640" y="442584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Text 52"/>
          <p:cNvSpPr/>
          <p:nvPr/>
        </p:nvSpPr>
        <p:spPr>
          <a:xfrm>
            <a:off x="612720" y="462672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Text 53"/>
          <p:cNvSpPr/>
          <p:nvPr/>
        </p:nvSpPr>
        <p:spPr>
          <a:xfrm>
            <a:off x="1124640" y="462672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Da sombra ao brilho.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54"/>
          <p:cNvSpPr/>
          <p:nvPr/>
        </p:nvSpPr>
        <p:spPr>
          <a:xfrm>
            <a:off x="612720" y="482796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59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Text 55"/>
          <p:cNvSpPr/>
          <p:nvPr/>
        </p:nvSpPr>
        <p:spPr>
          <a:xfrm>
            <a:off x="1124640" y="482796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shadeRamp &lt;- ".,-~:;=+!*#$%@"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56"/>
          <p:cNvSpPr/>
          <p:nvPr/>
        </p:nvSpPr>
        <p:spPr>
          <a:xfrm>
            <a:off x="612720" y="502920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Text 57"/>
          <p:cNvSpPr/>
          <p:nvPr/>
        </p:nvSpPr>
        <p:spPr>
          <a:xfrm>
            <a:off x="1124640" y="502920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Text 58"/>
          <p:cNvSpPr/>
          <p:nvPr/>
        </p:nvSpPr>
        <p:spPr>
          <a:xfrm>
            <a:off x="612720" y="523044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Text 59"/>
          <p:cNvSpPr/>
          <p:nvPr/>
        </p:nvSpPr>
        <p:spPr>
          <a:xfrm>
            <a:off x="1124640" y="523044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Passos fixos de amostragem para os laços do tubo e do anel.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Text 60"/>
          <p:cNvSpPr/>
          <p:nvPr/>
        </p:nvSpPr>
        <p:spPr>
          <a:xfrm>
            <a:off x="612720" y="543168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Text 61"/>
          <p:cNvSpPr/>
          <p:nvPr/>
        </p:nvSpPr>
        <p:spPr>
          <a:xfrm>
            <a:off x="1124640" y="543168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sinTubeStep &lt;- sen(0.12)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62"/>
          <p:cNvSpPr/>
          <p:nvPr/>
        </p:nvSpPr>
        <p:spPr>
          <a:xfrm>
            <a:off x="612720" y="563256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Text 63"/>
          <p:cNvSpPr/>
          <p:nvPr/>
        </p:nvSpPr>
        <p:spPr>
          <a:xfrm>
            <a:off x="1124640" y="563256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cosTubeStep &lt;- cos(0.12)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Text 64"/>
          <p:cNvSpPr/>
          <p:nvPr/>
        </p:nvSpPr>
        <p:spPr>
          <a:xfrm>
            <a:off x="612720" y="583380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1" name="Text 65"/>
          <p:cNvSpPr/>
          <p:nvPr/>
        </p:nvSpPr>
        <p:spPr>
          <a:xfrm>
            <a:off x="1124640" y="583380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sinRingStep &lt;- sen(0.04)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Text 66"/>
          <p:cNvSpPr/>
          <p:nvPr/>
        </p:nvSpPr>
        <p:spPr>
          <a:xfrm>
            <a:off x="612720" y="6035040"/>
            <a:ext cx="40104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67"/>
          <p:cNvSpPr/>
          <p:nvPr/>
        </p:nvSpPr>
        <p:spPr>
          <a:xfrm>
            <a:off x="1124640" y="6035040"/>
            <a:ext cx="10322280" cy="19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cosRingStep &lt;- cos(0.04)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Text 68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12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Rounded Rectangle 70">
            <a:hlinkClick r:id="rId1" action="ppaction://hlinksldjump"/>
          </p:cNvPr>
          <p:cNvSpPr/>
          <p:nvPr/>
        </p:nvSpPr>
        <p:spPr>
          <a:xfrm>
            <a:off x="9464040" y="311040"/>
            <a:ext cx="178164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Voltar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Isosceles Triangle 71"/>
          <p:cNvSpPr/>
          <p:nvPr/>
        </p:nvSpPr>
        <p:spPr>
          <a:xfrm rot="16200000">
            <a:off x="8028360" y="228744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247" name="Rounded Rectangle 72"/>
          <p:cNvSpPr/>
          <p:nvPr/>
        </p:nvSpPr>
        <p:spPr>
          <a:xfrm>
            <a:off x="8183880" y="2148840"/>
            <a:ext cx="2741760" cy="69336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Valores iniciais dos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dois ângulos globais.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Isosceles Triangle 73"/>
          <p:cNvSpPr/>
          <p:nvPr/>
        </p:nvSpPr>
        <p:spPr>
          <a:xfrm rot="16200000">
            <a:off x="8028360" y="324756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249" name="Rounded Rectangle 74"/>
          <p:cNvSpPr/>
          <p:nvPr/>
        </p:nvSpPr>
        <p:spPr>
          <a:xfrm>
            <a:off x="8183880" y="3108960"/>
            <a:ext cx="2741760" cy="69336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Relação 11:5 entre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os dois movimentos.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Isosceles Triangle 75"/>
          <p:cNvSpPr/>
          <p:nvPr/>
        </p:nvSpPr>
        <p:spPr>
          <a:xfrm rot="16200000">
            <a:off x="8028360" y="427176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251" name="Rounded Rectangle 76"/>
          <p:cNvSpPr/>
          <p:nvPr/>
        </p:nvSpPr>
        <p:spPr>
          <a:xfrm>
            <a:off x="8183880" y="4133160"/>
            <a:ext cx="2741760" cy="69336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Compensa a GUI do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VisuAlg, que redesenha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mais devagar.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53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54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Cálculo de rotações globais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4"/>
          <p:cNvSpPr/>
          <p:nvPr/>
        </p:nvSpPr>
        <p:spPr>
          <a:xfrm>
            <a:off x="502920" y="1097280"/>
            <a:ext cx="11108520" cy="5439240"/>
          </a:xfrm>
          <a:prstGeom prst="roundRect">
            <a:avLst>
              <a:gd name="adj" fmla="val 1345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56" name="Shape 5"/>
          <p:cNvSpPr/>
          <p:nvPr/>
        </p:nvSpPr>
        <p:spPr>
          <a:xfrm>
            <a:off x="1051560" y="1134000"/>
            <a:ext cx="12240" cy="536616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57" name="Shape 6"/>
          <p:cNvSpPr/>
          <p:nvPr/>
        </p:nvSpPr>
        <p:spPr>
          <a:xfrm>
            <a:off x="1106280" y="1581840"/>
            <a:ext cx="3244680" cy="958680"/>
          </a:xfrm>
          <a:prstGeom prst="roundRect">
            <a:avLst>
              <a:gd name="adj" fmla="val 2791"/>
            </a:avLst>
          </a:prstGeom>
          <a:solidFill>
            <a:srgbClr val="ffb22e">
              <a:alpha val="12000"/>
            </a:srgbClr>
          </a:solidFill>
          <a:ln w="17640">
            <a:solidFill>
              <a:srgbClr val="ffb2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58" name="Shape 10"/>
          <p:cNvSpPr/>
          <p:nvPr/>
        </p:nvSpPr>
        <p:spPr>
          <a:xfrm>
            <a:off x="1106280" y="2715840"/>
            <a:ext cx="3564720" cy="967680"/>
          </a:xfrm>
          <a:prstGeom prst="roundRect">
            <a:avLst>
              <a:gd name="adj" fmla="val 2012"/>
            </a:avLst>
          </a:prstGeom>
          <a:solidFill>
            <a:srgbClr val="37d9f5">
              <a:alpha val="12000"/>
            </a:srgbClr>
          </a:solidFill>
          <a:ln w="17640">
            <a:solidFill>
              <a:srgbClr val="37d9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1106280" y="4242960"/>
            <a:ext cx="3244680" cy="977040"/>
          </a:xfrm>
          <a:prstGeom prst="roundRect">
            <a:avLst>
              <a:gd name="adj" fmla="val 2012"/>
            </a:avLst>
          </a:prstGeom>
          <a:solidFill>
            <a:srgbClr val="89f5c5">
              <a:alpha val="12000"/>
            </a:srgbClr>
          </a:solidFill>
          <a:ln w="17640">
            <a:solidFill>
              <a:srgbClr val="89f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260" name="Text 18"/>
          <p:cNvSpPr/>
          <p:nvPr/>
        </p:nvSpPr>
        <p:spPr>
          <a:xfrm>
            <a:off x="612720" y="120708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9"/>
          <p:cNvSpPr/>
          <p:nvPr/>
        </p:nvSpPr>
        <p:spPr>
          <a:xfrm>
            <a:off x="1124640" y="120708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enquanto (1 = 1)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Text 20"/>
          <p:cNvSpPr/>
          <p:nvPr/>
        </p:nvSpPr>
        <p:spPr>
          <a:xfrm>
            <a:off x="612720" y="13971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 21"/>
          <p:cNvSpPr/>
          <p:nvPr/>
        </p:nvSpPr>
        <p:spPr>
          <a:xfrm>
            <a:off x="1124640" y="13971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22"/>
          <p:cNvSpPr/>
          <p:nvPr/>
        </p:nvSpPr>
        <p:spPr>
          <a:xfrm>
            <a:off x="612720" y="15872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69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3"/>
          <p:cNvSpPr/>
          <p:nvPr/>
        </p:nvSpPr>
        <p:spPr>
          <a:xfrm>
            <a:off x="1124640" y="15872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Calcula as duas rotações globais deste quadro.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Text 24"/>
          <p:cNvSpPr/>
          <p:nvPr/>
        </p:nvSpPr>
        <p:spPr>
          <a:xfrm>
            <a:off x="612720" y="177768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Text 25"/>
          <p:cNvSpPr/>
          <p:nvPr/>
        </p:nvSpPr>
        <p:spPr>
          <a:xfrm>
            <a:off x="1124640" y="177768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cosAxial &lt;- cos(angleAxial)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8" name="Text 26"/>
          <p:cNvSpPr/>
          <p:nvPr/>
        </p:nvSpPr>
        <p:spPr>
          <a:xfrm>
            <a:off x="612720" y="19677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9" name="Text 27"/>
          <p:cNvSpPr/>
          <p:nvPr/>
        </p:nvSpPr>
        <p:spPr>
          <a:xfrm>
            <a:off x="1124640" y="19677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sinAxial &lt;- sen(angleAxial)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 28"/>
          <p:cNvSpPr/>
          <p:nvPr/>
        </p:nvSpPr>
        <p:spPr>
          <a:xfrm>
            <a:off x="612720" y="21578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 29"/>
          <p:cNvSpPr/>
          <p:nvPr/>
        </p:nvSpPr>
        <p:spPr>
          <a:xfrm>
            <a:off x="1124640" y="21578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cosElevation &lt;- cos(angleElevation)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Text 30"/>
          <p:cNvSpPr/>
          <p:nvPr/>
        </p:nvSpPr>
        <p:spPr>
          <a:xfrm>
            <a:off x="612720" y="234828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31"/>
          <p:cNvSpPr/>
          <p:nvPr/>
        </p:nvSpPr>
        <p:spPr>
          <a:xfrm>
            <a:off x="1124640" y="234828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sinElevation &lt;- sen(angleElevation)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 32"/>
          <p:cNvSpPr/>
          <p:nvPr/>
        </p:nvSpPr>
        <p:spPr>
          <a:xfrm>
            <a:off x="612720" y="25383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 33"/>
          <p:cNvSpPr/>
          <p:nvPr/>
        </p:nvSpPr>
        <p:spPr>
          <a:xfrm>
            <a:off x="1124640" y="25383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Text 34"/>
          <p:cNvSpPr/>
          <p:nvPr/>
        </p:nvSpPr>
        <p:spPr>
          <a:xfrm>
            <a:off x="612720" y="27284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Text 35"/>
          <p:cNvSpPr/>
          <p:nvPr/>
        </p:nvSpPr>
        <p:spPr>
          <a:xfrm>
            <a:off x="1124640" y="27284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Limpa o buffer de tela e o buffer de profundidade.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 36"/>
          <p:cNvSpPr/>
          <p:nvPr/>
        </p:nvSpPr>
        <p:spPr>
          <a:xfrm>
            <a:off x="612720" y="291888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 37"/>
          <p:cNvSpPr/>
          <p:nvPr/>
        </p:nvSpPr>
        <p:spPr>
          <a:xfrm>
            <a:off x="1124640" y="291888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rowIndex de 0 ate 39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38"/>
          <p:cNvSpPr/>
          <p:nvPr/>
        </p:nvSpPr>
        <p:spPr>
          <a:xfrm>
            <a:off x="612720" y="31089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1" name="Text 39"/>
          <p:cNvSpPr/>
          <p:nvPr/>
        </p:nvSpPr>
        <p:spPr>
          <a:xfrm>
            <a:off x="1124640" y="31089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colIndex de 0 ate 118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 40"/>
          <p:cNvSpPr/>
          <p:nvPr/>
        </p:nvSpPr>
        <p:spPr>
          <a:xfrm>
            <a:off x="612720" y="32990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 41"/>
          <p:cNvSpPr/>
          <p:nvPr/>
        </p:nvSpPr>
        <p:spPr>
          <a:xfrm>
            <a:off x="1124640" y="32990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charBuffer[rowIndex, colIndex] &lt;- " "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Text 42"/>
          <p:cNvSpPr/>
          <p:nvPr/>
        </p:nvSpPr>
        <p:spPr>
          <a:xfrm>
            <a:off x="612720" y="348948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79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Text 43"/>
          <p:cNvSpPr/>
          <p:nvPr/>
        </p:nvSpPr>
        <p:spPr>
          <a:xfrm>
            <a:off x="1124640" y="348948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depthBuffer[rowIndex, colIndex] &lt;- 0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44"/>
          <p:cNvSpPr/>
          <p:nvPr/>
        </p:nvSpPr>
        <p:spPr>
          <a:xfrm>
            <a:off x="612720" y="36795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 45"/>
          <p:cNvSpPr/>
          <p:nvPr/>
        </p:nvSpPr>
        <p:spPr>
          <a:xfrm>
            <a:off x="1124640" y="36795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Text 46"/>
          <p:cNvSpPr/>
          <p:nvPr/>
        </p:nvSpPr>
        <p:spPr>
          <a:xfrm>
            <a:off x="612720" y="38696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Text 47"/>
          <p:cNvSpPr/>
          <p:nvPr/>
        </p:nvSpPr>
        <p:spPr>
          <a:xfrm>
            <a:off x="1124640" y="38696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Text 48"/>
          <p:cNvSpPr/>
          <p:nvPr/>
        </p:nvSpPr>
        <p:spPr>
          <a:xfrm>
            <a:off x="612720" y="406008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Text 49"/>
          <p:cNvSpPr/>
          <p:nvPr/>
        </p:nvSpPr>
        <p:spPr>
          <a:xfrm>
            <a:off x="1124640" y="406008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50"/>
          <p:cNvSpPr/>
          <p:nvPr/>
        </p:nvSpPr>
        <p:spPr>
          <a:xfrm>
            <a:off x="612720" y="42501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Text 51"/>
          <p:cNvSpPr/>
          <p:nvPr/>
        </p:nvSpPr>
        <p:spPr>
          <a:xfrm>
            <a:off x="1124640" y="42501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O laço do tubo começa no ângulo 0: cos=1, sen=0.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4" name="Text 52"/>
          <p:cNvSpPr/>
          <p:nvPr/>
        </p:nvSpPr>
        <p:spPr>
          <a:xfrm>
            <a:off x="612720" y="44402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5" name="Text 53"/>
          <p:cNvSpPr/>
          <p:nvPr/>
        </p:nvSpPr>
        <p:spPr>
          <a:xfrm>
            <a:off x="1124640" y="44402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cosTube &lt;- 1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Text 54"/>
          <p:cNvSpPr/>
          <p:nvPr/>
        </p:nvSpPr>
        <p:spPr>
          <a:xfrm>
            <a:off x="612720" y="463068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 55"/>
          <p:cNvSpPr/>
          <p:nvPr/>
        </p:nvSpPr>
        <p:spPr>
          <a:xfrm>
            <a:off x="1124640" y="463068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sinTube &lt;- 0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56"/>
          <p:cNvSpPr/>
          <p:nvPr/>
        </p:nvSpPr>
        <p:spPr>
          <a:xfrm>
            <a:off x="612720" y="48207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Text 57"/>
          <p:cNvSpPr/>
          <p:nvPr/>
        </p:nvSpPr>
        <p:spPr>
          <a:xfrm>
            <a:off x="1124640" y="48207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 58"/>
          <p:cNvSpPr/>
          <p:nvPr/>
        </p:nvSpPr>
        <p:spPr>
          <a:xfrm>
            <a:off x="612720" y="50108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 59"/>
          <p:cNvSpPr/>
          <p:nvPr/>
        </p:nvSpPr>
        <p:spPr>
          <a:xfrm>
            <a:off x="1124640" y="50108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tubeIndex de 0 ate 52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Text 60"/>
          <p:cNvSpPr/>
          <p:nvPr/>
        </p:nvSpPr>
        <p:spPr>
          <a:xfrm>
            <a:off x="612720" y="520128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Text 61"/>
          <p:cNvSpPr/>
          <p:nvPr/>
        </p:nvSpPr>
        <p:spPr>
          <a:xfrm>
            <a:off x="1124640" y="520128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Text 62"/>
          <p:cNvSpPr/>
          <p:nvPr/>
        </p:nvSpPr>
        <p:spPr>
          <a:xfrm>
            <a:off x="612720" y="53913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89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Text 63"/>
          <p:cNvSpPr/>
          <p:nvPr/>
        </p:nvSpPr>
        <p:spPr>
          <a:xfrm>
            <a:off x="1124640" y="53913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O laço do anel começa no ângulo 0: cos=1, sen=0.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64"/>
          <p:cNvSpPr/>
          <p:nvPr/>
        </p:nvSpPr>
        <p:spPr>
          <a:xfrm>
            <a:off x="612720" y="55814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Text 65"/>
          <p:cNvSpPr/>
          <p:nvPr/>
        </p:nvSpPr>
        <p:spPr>
          <a:xfrm>
            <a:off x="1124640" y="55814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sinRing &lt;- 0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Text 66"/>
          <p:cNvSpPr/>
          <p:nvPr/>
        </p:nvSpPr>
        <p:spPr>
          <a:xfrm>
            <a:off x="612720" y="577152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Text 67"/>
          <p:cNvSpPr/>
          <p:nvPr/>
        </p:nvSpPr>
        <p:spPr>
          <a:xfrm>
            <a:off x="1124640" y="577152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cosRing &lt;- 1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Text 68"/>
          <p:cNvSpPr/>
          <p:nvPr/>
        </p:nvSpPr>
        <p:spPr>
          <a:xfrm>
            <a:off x="612720" y="596196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Text 69"/>
          <p:cNvSpPr/>
          <p:nvPr/>
        </p:nvSpPr>
        <p:spPr>
          <a:xfrm>
            <a:off x="1124640" y="596196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Text 70"/>
          <p:cNvSpPr/>
          <p:nvPr/>
        </p:nvSpPr>
        <p:spPr>
          <a:xfrm>
            <a:off x="612720" y="6152040"/>
            <a:ext cx="40104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Text 71"/>
          <p:cNvSpPr/>
          <p:nvPr/>
        </p:nvSpPr>
        <p:spPr>
          <a:xfrm>
            <a:off x="1124640" y="6152040"/>
            <a:ext cx="10322280" cy="18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ringIndex de 0 ate 157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4" name="Text 72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13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5" name="Rounded Rectangle 74">
            <a:hlinkClick r:id="rId1" action="ppaction://hlinksldjump"/>
          </p:cNvPr>
          <p:cNvSpPr/>
          <p:nvPr/>
        </p:nvSpPr>
        <p:spPr>
          <a:xfrm>
            <a:off x="9464040" y="311040"/>
            <a:ext cx="178164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Voltar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6" name="Isosceles Triangle 75"/>
          <p:cNvSpPr/>
          <p:nvPr/>
        </p:nvSpPr>
        <p:spPr>
          <a:xfrm rot="16200000">
            <a:off x="8028360" y="167472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17" name="Rounded Rectangle 76"/>
          <p:cNvSpPr/>
          <p:nvPr/>
        </p:nvSpPr>
        <p:spPr>
          <a:xfrm>
            <a:off x="8183880" y="1508760"/>
            <a:ext cx="2741760" cy="7668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Recalcula sen() e cos()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dos dois ângulos globais.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8" name="Isosceles Triangle 77"/>
          <p:cNvSpPr/>
          <p:nvPr/>
        </p:nvSpPr>
        <p:spPr>
          <a:xfrm rot="16200000">
            <a:off x="8028360" y="290916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19" name="Rounded Rectangle 78"/>
          <p:cNvSpPr/>
          <p:nvPr/>
        </p:nvSpPr>
        <p:spPr>
          <a:xfrm>
            <a:off x="8183880" y="2743200"/>
            <a:ext cx="2741760" cy="7668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Zera a tela lógica 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o buffer de profundidade.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0" name="Isosceles Triangle 79"/>
          <p:cNvSpPr/>
          <p:nvPr/>
        </p:nvSpPr>
        <p:spPr>
          <a:xfrm rot="16200000">
            <a:off x="8028360" y="448200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321" name="Rounded Rectangle 80"/>
          <p:cNvSpPr/>
          <p:nvPr/>
        </p:nvSpPr>
        <p:spPr>
          <a:xfrm>
            <a:off x="8183880" y="4316040"/>
            <a:ext cx="2741760" cy="7668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Começam os dois laços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que varrem a superfície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do toro.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23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24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Geometria, projeção e luz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Text 3"/>
          <p:cNvSpPr/>
          <p:nvPr/>
        </p:nvSpPr>
        <p:spPr>
          <a:xfrm>
            <a:off x="530280" y="822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abacd"/>
                </a:solidFill>
                <a:latin typeface="Aptos"/>
                <a:ea typeface="DejaVu Sans"/>
              </a:rPr>
              <a:t>Este é o miolo do algoritmo: formar o ponto 3D, projetar e decidir o brilho do caractere.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Shape 4"/>
          <p:cNvSpPr/>
          <p:nvPr/>
        </p:nvSpPr>
        <p:spPr>
          <a:xfrm>
            <a:off x="411480" y="1042560"/>
            <a:ext cx="11291400" cy="5484960"/>
          </a:xfrm>
          <a:prstGeom prst="roundRect">
            <a:avLst>
              <a:gd name="adj" fmla="val 1333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27" name="Shape 5"/>
          <p:cNvSpPr/>
          <p:nvPr/>
        </p:nvSpPr>
        <p:spPr>
          <a:xfrm>
            <a:off x="960120" y="1078920"/>
            <a:ext cx="12240" cy="541188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28" name="Shape 6"/>
          <p:cNvSpPr/>
          <p:nvPr/>
        </p:nvSpPr>
        <p:spPr>
          <a:xfrm>
            <a:off x="1014840" y="1252800"/>
            <a:ext cx="3061800" cy="327600"/>
          </a:xfrm>
          <a:prstGeom prst="roundRect">
            <a:avLst>
              <a:gd name="adj" fmla="val 4225"/>
            </a:avLst>
          </a:prstGeom>
          <a:solidFill>
            <a:srgbClr val="ffb22e">
              <a:alpha val="12000"/>
            </a:srgbClr>
          </a:solidFill>
          <a:ln w="17640">
            <a:solidFill>
              <a:srgbClr val="ffb2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29" name="Shape 10"/>
          <p:cNvSpPr/>
          <p:nvPr/>
        </p:nvSpPr>
        <p:spPr>
          <a:xfrm>
            <a:off x="1014840" y="2350080"/>
            <a:ext cx="5073480" cy="638640"/>
          </a:xfrm>
          <a:prstGeom prst="roundRect">
            <a:avLst>
              <a:gd name="adj" fmla="val 6818"/>
            </a:avLst>
          </a:prstGeom>
          <a:solidFill>
            <a:srgbClr val="37d9f5">
              <a:alpha val="12000"/>
            </a:srgbClr>
          </a:solidFill>
          <a:ln w="17640">
            <a:solidFill>
              <a:srgbClr val="37d9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0" name="Shape 14"/>
          <p:cNvSpPr/>
          <p:nvPr/>
        </p:nvSpPr>
        <p:spPr>
          <a:xfrm>
            <a:off x="1014840" y="3072240"/>
            <a:ext cx="4799160" cy="1699200"/>
          </a:xfrm>
          <a:prstGeom prst="roundRect">
            <a:avLst>
              <a:gd name="adj" fmla="val 2166"/>
            </a:avLst>
          </a:prstGeom>
          <a:solidFill>
            <a:srgbClr val="ffe08a">
              <a:alpha val="12000"/>
            </a:srgbClr>
          </a:solidFill>
          <a:ln w="17640">
            <a:solidFill>
              <a:srgbClr val="ffe08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1" name="Shape 18"/>
          <p:cNvSpPr/>
          <p:nvPr/>
        </p:nvSpPr>
        <p:spPr>
          <a:xfrm>
            <a:off x="1014840" y="5212080"/>
            <a:ext cx="4524840" cy="638640"/>
          </a:xfrm>
          <a:prstGeom prst="roundRect">
            <a:avLst>
              <a:gd name="adj" fmla="val 1974"/>
            </a:avLst>
          </a:prstGeom>
          <a:solidFill>
            <a:srgbClr val="89f5c5">
              <a:alpha val="12000"/>
            </a:srgbClr>
          </a:solidFill>
          <a:ln w="17640">
            <a:solidFill>
              <a:srgbClr val="89f5c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332" name="Text 22"/>
          <p:cNvSpPr/>
          <p:nvPr/>
        </p:nvSpPr>
        <p:spPr>
          <a:xfrm>
            <a:off x="521280" y="11520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3" name="Text 23"/>
          <p:cNvSpPr/>
          <p:nvPr/>
        </p:nvSpPr>
        <p:spPr>
          <a:xfrm>
            <a:off x="1033200" y="11520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Geometria do toro: percorre o tubo e depois o anel.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4" name="Text 24"/>
          <p:cNvSpPr/>
          <p:nvPr/>
        </p:nvSpPr>
        <p:spPr>
          <a:xfrm>
            <a:off x="521280" y="127548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5" name="Text 25"/>
          <p:cNvSpPr/>
          <p:nvPr/>
        </p:nvSpPr>
        <p:spPr>
          <a:xfrm>
            <a:off x="1033200" y="127548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ringDistance &lt;- 22 + 4.2 * cosTube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6" name="Text 26"/>
          <p:cNvSpPr/>
          <p:nvPr/>
        </p:nvSpPr>
        <p:spPr>
          <a:xfrm>
            <a:off x="521280" y="13989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7" name="Text 27"/>
          <p:cNvSpPr/>
          <p:nvPr/>
        </p:nvSpPr>
        <p:spPr>
          <a:xfrm>
            <a:off x="1033200" y="13989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tubeYOffset &lt;- 4.2 * sinTube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8" name="Text 28"/>
          <p:cNvSpPr/>
          <p:nvPr/>
        </p:nvSpPr>
        <p:spPr>
          <a:xfrm>
            <a:off x="521280" y="15224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29"/>
          <p:cNvSpPr/>
          <p:nvPr/>
        </p:nvSpPr>
        <p:spPr>
          <a:xfrm>
            <a:off x="1033200" y="15224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0" name="Text 30"/>
          <p:cNvSpPr/>
          <p:nvPr/>
        </p:nvSpPr>
        <p:spPr>
          <a:xfrm>
            <a:off x="521280" y="16459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 </a:t>
            </a: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99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1" name="Text 31"/>
          <p:cNvSpPr/>
          <p:nvPr/>
        </p:nvSpPr>
        <p:spPr>
          <a:xfrm>
            <a:off x="1033200" y="16459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Perspectiva: pontos mais próximos recebem inverseDepth maior.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2" name="Text 32"/>
          <p:cNvSpPr/>
          <p:nvPr/>
        </p:nvSpPr>
        <p:spPr>
          <a:xfrm>
            <a:off x="521280" y="17694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3" name="Text 33"/>
          <p:cNvSpPr/>
          <p:nvPr/>
        </p:nvSpPr>
        <p:spPr>
          <a:xfrm>
            <a:off x="1033200" y="17694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inverseDepth &lt;- 1 / (sinRing * ringDistance * sinAxial + tubeYOffset * cosAxial + 28)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4" name="Text 34"/>
          <p:cNvSpPr/>
          <p:nvPr/>
        </p:nvSpPr>
        <p:spPr>
          <a:xfrm>
            <a:off x="521280" y="189288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5" name="Text 35"/>
          <p:cNvSpPr/>
          <p:nvPr/>
        </p:nvSpPr>
        <p:spPr>
          <a:xfrm>
            <a:off x="1033200" y="189288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6" name="Text 36"/>
          <p:cNvSpPr/>
          <p:nvPr/>
        </p:nvSpPr>
        <p:spPr>
          <a:xfrm>
            <a:off x="521280" y="20163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7" name="Text 37"/>
          <p:cNvSpPr/>
          <p:nvPr/>
        </p:nvSpPr>
        <p:spPr>
          <a:xfrm>
            <a:off x="1033200" y="20163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Rotaciona em torno do ângulo axial.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8" name="Text 38"/>
          <p:cNvSpPr/>
          <p:nvPr/>
        </p:nvSpPr>
        <p:spPr>
          <a:xfrm>
            <a:off x="521280" y="21398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9" name="Text 39"/>
          <p:cNvSpPr/>
          <p:nvPr/>
        </p:nvSpPr>
        <p:spPr>
          <a:xfrm>
            <a:off x="1033200" y="21398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rotatedY &lt;- sinRing * ringDistance * cosAxial - tubeYOffset * sinAxial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0" name="Text 40"/>
          <p:cNvSpPr/>
          <p:nvPr/>
        </p:nvSpPr>
        <p:spPr>
          <a:xfrm>
            <a:off x="521280" y="22633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1" name="Text 41"/>
          <p:cNvSpPr/>
          <p:nvPr/>
        </p:nvSpPr>
        <p:spPr>
          <a:xfrm>
            <a:off x="1033200" y="22633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2" name="Text 42"/>
          <p:cNvSpPr/>
          <p:nvPr/>
        </p:nvSpPr>
        <p:spPr>
          <a:xfrm>
            <a:off x="521280" y="23864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3" name="Text 43"/>
          <p:cNvSpPr/>
          <p:nvPr/>
        </p:nvSpPr>
        <p:spPr>
          <a:xfrm>
            <a:off x="1033200" y="23864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Projeta o ponto 3D na tela de texto 120 x 40.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4" name="Text 44"/>
          <p:cNvSpPr/>
          <p:nvPr/>
        </p:nvSpPr>
        <p:spPr>
          <a:xfrm>
            <a:off x="521280" y="25099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5" name="Text 45"/>
          <p:cNvSpPr/>
          <p:nvPr/>
        </p:nvSpPr>
        <p:spPr>
          <a:xfrm>
            <a:off x="1033200" y="25099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screenCol &lt;- int(60 + 18 * inverseDepth * (cosRing * ringDistance * cosElevation - rotatedY * sinElevation))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6" name="Text 46"/>
          <p:cNvSpPr/>
          <p:nvPr/>
        </p:nvSpPr>
        <p:spPr>
          <a:xfrm>
            <a:off x="521280" y="26334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7" name="Text 47"/>
          <p:cNvSpPr/>
          <p:nvPr/>
        </p:nvSpPr>
        <p:spPr>
          <a:xfrm>
            <a:off x="1033200" y="26334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screenRow &lt;- int(20 + 8 * inverseDepth * (cosRing * ringDistance * sinElevation + rotatedY * cosElevation))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8" name="Text 48"/>
          <p:cNvSpPr/>
          <p:nvPr/>
        </p:nvSpPr>
        <p:spPr>
          <a:xfrm>
            <a:off x="521280" y="275688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9" name="Text 49"/>
          <p:cNvSpPr/>
          <p:nvPr/>
        </p:nvSpPr>
        <p:spPr>
          <a:xfrm>
            <a:off x="1033200" y="275688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0" name="Text 50"/>
          <p:cNvSpPr/>
          <p:nvPr/>
        </p:nvSpPr>
        <p:spPr>
          <a:xfrm>
            <a:off x="521280" y="28803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109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1" name="Text 51"/>
          <p:cNvSpPr/>
          <p:nvPr/>
        </p:nvSpPr>
        <p:spPr>
          <a:xfrm>
            <a:off x="1033200" y="28803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Iluminação: converte a direção da superfície em índice na rampa ASCII.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2" name="Text 52"/>
          <p:cNvSpPr/>
          <p:nvPr/>
        </p:nvSpPr>
        <p:spPr>
          <a:xfrm>
            <a:off x="521280" y="30038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3" name="Text 53"/>
          <p:cNvSpPr/>
          <p:nvPr/>
        </p:nvSpPr>
        <p:spPr>
          <a:xfrm>
            <a:off x="1033200" y="30038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shadeIndex &lt;- int(6 + 4.5 * ((sinTube * sinAxial - sinRing * cosTube * cosAxial) * cosElevation - sinRing * cosTube * sinAxial - sinTube * cosAxial - cosRing * cosTube * sinElevation))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4" name="Text 54"/>
          <p:cNvSpPr/>
          <p:nvPr/>
        </p:nvSpPr>
        <p:spPr>
          <a:xfrm>
            <a:off x="521280" y="31273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5" name="Text 55"/>
          <p:cNvSpPr/>
          <p:nvPr/>
        </p:nvSpPr>
        <p:spPr>
          <a:xfrm>
            <a:off x="1033200" y="31273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6" name="Text 56"/>
          <p:cNvSpPr/>
          <p:nvPr/>
        </p:nvSpPr>
        <p:spPr>
          <a:xfrm>
            <a:off x="521280" y="32508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7" name="Text 57"/>
          <p:cNvSpPr/>
          <p:nvPr/>
        </p:nvSpPr>
        <p:spPr>
          <a:xfrm>
            <a:off x="1033200" y="32508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se (shadeIndex &lt; 0) entao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8" name="Text 58"/>
          <p:cNvSpPr/>
          <p:nvPr/>
        </p:nvSpPr>
        <p:spPr>
          <a:xfrm>
            <a:off x="521280" y="337428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9" name="Text 59"/>
          <p:cNvSpPr/>
          <p:nvPr/>
        </p:nvSpPr>
        <p:spPr>
          <a:xfrm>
            <a:off x="1033200" y="337428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shadeIndex &lt;- 0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0" name="Text 60"/>
          <p:cNvSpPr/>
          <p:nvPr/>
        </p:nvSpPr>
        <p:spPr>
          <a:xfrm>
            <a:off x="521280" y="34977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1" name="Text 61"/>
          <p:cNvSpPr/>
          <p:nvPr/>
        </p:nvSpPr>
        <p:spPr>
          <a:xfrm>
            <a:off x="1033200" y="34977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fimse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2" name="Text 62"/>
          <p:cNvSpPr/>
          <p:nvPr/>
        </p:nvSpPr>
        <p:spPr>
          <a:xfrm>
            <a:off x="521280" y="362088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3" name="Text 63"/>
          <p:cNvSpPr/>
          <p:nvPr/>
        </p:nvSpPr>
        <p:spPr>
          <a:xfrm>
            <a:off x="1033200" y="362088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4" name="Text 64"/>
          <p:cNvSpPr/>
          <p:nvPr/>
        </p:nvSpPr>
        <p:spPr>
          <a:xfrm>
            <a:off x="521280" y="37443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5" name="Text 65"/>
          <p:cNvSpPr/>
          <p:nvPr/>
        </p:nvSpPr>
        <p:spPr>
          <a:xfrm>
            <a:off x="1033200" y="37443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se (shadeIndex &gt; 13) entao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6" name="Text 66"/>
          <p:cNvSpPr/>
          <p:nvPr/>
        </p:nvSpPr>
        <p:spPr>
          <a:xfrm>
            <a:off x="521280" y="38678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7" name="Text 67"/>
          <p:cNvSpPr/>
          <p:nvPr/>
        </p:nvSpPr>
        <p:spPr>
          <a:xfrm>
            <a:off x="1033200" y="38678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shadeIndex &lt;- 13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8" name="Text 68"/>
          <p:cNvSpPr/>
          <p:nvPr/>
        </p:nvSpPr>
        <p:spPr>
          <a:xfrm>
            <a:off x="521280" y="39913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9" name="Text 69"/>
          <p:cNvSpPr/>
          <p:nvPr/>
        </p:nvSpPr>
        <p:spPr>
          <a:xfrm>
            <a:off x="1033200" y="39913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fimse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70"/>
          <p:cNvSpPr/>
          <p:nvPr/>
        </p:nvSpPr>
        <p:spPr>
          <a:xfrm>
            <a:off x="521280" y="41148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119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1" name="Text 71"/>
          <p:cNvSpPr/>
          <p:nvPr/>
        </p:nvSpPr>
        <p:spPr>
          <a:xfrm>
            <a:off x="1033200" y="41148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2" name="Text 72"/>
          <p:cNvSpPr/>
          <p:nvPr/>
        </p:nvSpPr>
        <p:spPr>
          <a:xfrm>
            <a:off x="521280" y="423828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Text 73"/>
          <p:cNvSpPr/>
          <p:nvPr/>
        </p:nvSpPr>
        <p:spPr>
          <a:xfrm>
            <a:off x="1033200" y="423828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Mantém os pontos dentro do console e guarda apenas o mais próximo por célula.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4" name="Text 74"/>
          <p:cNvSpPr/>
          <p:nvPr/>
        </p:nvSpPr>
        <p:spPr>
          <a:xfrm>
            <a:off x="521280" y="43617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5" name="Text 75"/>
          <p:cNvSpPr/>
          <p:nvPr/>
        </p:nvSpPr>
        <p:spPr>
          <a:xfrm>
            <a:off x="1033200" y="43617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se (screenRow &gt;= 0) e (screenRow &lt; 40) e (screenCol &gt;= 0) e (screenCol &lt; 119) entao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6" name="Text 76"/>
          <p:cNvSpPr/>
          <p:nvPr/>
        </p:nvSpPr>
        <p:spPr>
          <a:xfrm>
            <a:off x="521280" y="44852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Text 77"/>
          <p:cNvSpPr/>
          <p:nvPr/>
        </p:nvSpPr>
        <p:spPr>
          <a:xfrm>
            <a:off x="1033200" y="44852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se (inverseDepth &gt; depthBuffer[screenRow, screenCol]) entao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8" name="Text 78"/>
          <p:cNvSpPr/>
          <p:nvPr/>
        </p:nvSpPr>
        <p:spPr>
          <a:xfrm>
            <a:off x="521280" y="46087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Text 79"/>
          <p:cNvSpPr/>
          <p:nvPr/>
        </p:nvSpPr>
        <p:spPr>
          <a:xfrm>
            <a:off x="1033200" y="46087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depthBuffer[screenRow, screenCol] &lt;- inverseDepth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0" name="Text 80"/>
          <p:cNvSpPr/>
          <p:nvPr/>
        </p:nvSpPr>
        <p:spPr>
          <a:xfrm>
            <a:off x="521280" y="47322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1" name="Text 81"/>
          <p:cNvSpPr/>
          <p:nvPr/>
        </p:nvSpPr>
        <p:spPr>
          <a:xfrm>
            <a:off x="1033200" y="47322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charBuffer[screenRow, screenCol] &lt;- copia(shadeRamp, shadeIndex + 1, 1)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2" name="Text 82"/>
          <p:cNvSpPr/>
          <p:nvPr/>
        </p:nvSpPr>
        <p:spPr>
          <a:xfrm>
            <a:off x="521280" y="48553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Text 83"/>
          <p:cNvSpPr/>
          <p:nvPr/>
        </p:nvSpPr>
        <p:spPr>
          <a:xfrm>
            <a:off x="1033200" y="48553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fimse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4" name="Text 84"/>
          <p:cNvSpPr/>
          <p:nvPr/>
        </p:nvSpPr>
        <p:spPr>
          <a:xfrm>
            <a:off x="521280" y="49788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5" name="Text 85"/>
          <p:cNvSpPr/>
          <p:nvPr/>
        </p:nvSpPr>
        <p:spPr>
          <a:xfrm>
            <a:off x="1033200" y="49788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fimse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6" name="Text 86"/>
          <p:cNvSpPr/>
          <p:nvPr/>
        </p:nvSpPr>
        <p:spPr>
          <a:xfrm>
            <a:off x="521280" y="510228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7" name="Text 87"/>
          <p:cNvSpPr/>
          <p:nvPr/>
        </p:nvSpPr>
        <p:spPr>
          <a:xfrm>
            <a:off x="1033200" y="510228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8" name="Text 88"/>
          <p:cNvSpPr/>
          <p:nvPr/>
        </p:nvSpPr>
        <p:spPr>
          <a:xfrm>
            <a:off x="521280" y="52257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Text 89"/>
          <p:cNvSpPr/>
          <p:nvPr/>
        </p:nvSpPr>
        <p:spPr>
          <a:xfrm>
            <a:off x="1033200" y="52257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Avança sen/cos ao redor do anel sem chamar sen/cos novamente.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Text 90"/>
          <p:cNvSpPr/>
          <p:nvPr/>
        </p:nvSpPr>
        <p:spPr>
          <a:xfrm>
            <a:off x="521280" y="53492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Text 91"/>
          <p:cNvSpPr/>
          <p:nvPr/>
        </p:nvSpPr>
        <p:spPr>
          <a:xfrm>
            <a:off x="1033200" y="53492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tempTrig &lt;- sinRing * cosRingStep + cosRing * sinRingStep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Text 92"/>
          <p:cNvSpPr/>
          <p:nvPr/>
        </p:nvSpPr>
        <p:spPr>
          <a:xfrm>
            <a:off x="521280" y="54727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Text 93"/>
          <p:cNvSpPr/>
          <p:nvPr/>
        </p:nvSpPr>
        <p:spPr>
          <a:xfrm>
            <a:off x="1033200" y="54727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cosRing &lt;- cosRing * cosRingStep - sinRing * sinRingStep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Text 94"/>
          <p:cNvSpPr/>
          <p:nvPr/>
        </p:nvSpPr>
        <p:spPr>
          <a:xfrm>
            <a:off x="521280" y="55962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Text 95"/>
          <p:cNvSpPr/>
          <p:nvPr/>
        </p:nvSpPr>
        <p:spPr>
          <a:xfrm>
            <a:off x="1033200" y="55962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sinRing &lt;- tempTrig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6" name="Text 96"/>
          <p:cNvSpPr/>
          <p:nvPr/>
        </p:nvSpPr>
        <p:spPr>
          <a:xfrm>
            <a:off x="521280" y="571968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97"/>
          <p:cNvSpPr/>
          <p:nvPr/>
        </p:nvSpPr>
        <p:spPr>
          <a:xfrm>
            <a:off x="1033200" y="571968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8" name="Text 98"/>
          <p:cNvSpPr/>
          <p:nvPr/>
        </p:nvSpPr>
        <p:spPr>
          <a:xfrm>
            <a:off x="521280" y="58431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9" name="Text 99"/>
          <p:cNvSpPr/>
          <p:nvPr/>
        </p:nvSpPr>
        <p:spPr>
          <a:xfrm>
            <a:off x="1033200" y="58431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0" name="Text 100"/>
          <p:cNvSpPr/>
          <p:nvPr/>
        </p:nvSpPr>
        <p:spPr>
          <a:xfrm>
            <a:off x="521280" y="59666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1" name="Text 101"/>
          <p:cNvSpPr/>
          <p:nvPr/>
        </p:nvSpPr>
        <p:spPr>
          <a:xfrm>
            <a:off x="1033200" y="59666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2" name="Text 102"/>
          <p:cNvSpPr/>
          <p:nvPr/>
        </p:nvSpPr>
        <p:spPr>
          <a:xfrm>
            <a:off x="521280" y="608976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3" name="Text 103"/>
          <p:cNvSpPr/>
          <p:nvPr/>
        </p:nvSpPr>
        <p:spPr>
          <a:xfrm>
            <a:off x="1033200" y="608976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Avança sen/cos ao redor do tubo sem chamar sen/cos novamente.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Text 104"/>
          <p:cNvSpPr/>
          <p:nvPr/>
        </p:nvSpPr>
        <p:spPr>
          <a:xfrm>
            <a:off x="521280" y="621324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5" name="Text 105"/>
          <p:cNvSpPr/>
          <p:nvPr/>
        </p:nvSpPr>
        <p:spPr>
          <a:xfrm>
            <a:off x="1033200" y="621324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tempTrig &lt;- sinTube * cosTubeStep + cosTube * sinTubeStep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6" name="Text 106"/>
          <p:cNvSpPr/>
          <p:nvPr/>
        </p:nvSpPr>
        <p:spPr>
          <a:xfrm>
            <a:off x="521280" y="633672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7" name="Text 107"/>
          <p:cNvSpPr/>
          <p:nvPr/>
        </p:nvSpPr>
        <p:spPr>
          <a:xfrm>
            <a:off x="1033200" y="633672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cosTube &lt;- cosTube * cosTubeStep - sinTube * sinTubeStep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8" name="Text 108"/>
          <p:cNvSpPr/>
          <p:nvPr/>
        </p:nvSpPr>
        <p:spPr>
          <a:xfrm>
            <a:off x="521280" y="6460200"/>
            <a:ext cx="40104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9" name="Text 109"/>
          <p:cNvSpPr/>
          <p:nvPr/>
        </p:nvSpPr>
        <p:spPr>
          <a:xfrm>
            <a:off x="1033200" y="6460200"/>
            <a:ext cx="10505160" cy="122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sinTube &lt;- tempTrig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Text 110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14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1" name="Rounded Rectangle 112">
            <a:hlinkClick r:id="rId1" action="ppaction://hlinksldjump"/>
          </p:cNvPr>
          <p:cNvSpPr/>
          <p:nvPr/>
        </p:nvSpPr>
        <p:spPr>
          <a:xfrm>
            <a:off x="9464040" y="311040"/>
            <a:ext cx="178164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Voltar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2" name="Isosceles Triangle 113"/>
          <p:cNvSpPr/>
          <p:nvPr/>
        </p:nvSpPr>
        <p:spPr>
          <a:xfrm rot="16200000">
            <a:off x="7845480" y="132732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23" name="Rounded Rectangle 114"/>
          <p:cNvSpPr/>
          <p:nvPr/>
        </p:nvSpPr>
        <p:spPr>
          <a:xfrm>
            <a:off x="8001000" y="1170360"/>
            <a:ext cx="2833200" cy="7848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Geometria do toro e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profundidade.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4" name="Isosceles Triangle 115"/>
          <p:cNvSpPr/>
          <p:nvPr/>
        </p:nvSpPr>
        <p:spPr>
          <a:xfrm rot="16200000">
            <a:off x="7845480" y="236988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25" name="Rounded Rectangle 116"/>
          <p:cNvSpPr/>
          <p:nvPr/>
        </p:nvSpPr>
        <p:spPr>
          <a:xfrm>
            <a:off x="8001000" y="2212920"/>
            <a:ext cx="2833200" cy="7848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Converte o ponto 3D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em coluna e linha da tela.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Isosceles Triangle 117"/>
          <p:cNvSpPr/>
          <p:nvPr/>
        </p:nvSpPr>
        <p:spPr>
          <a:xfrm rot="16200000">
            <a:off x="7845480" y="374148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27" name="Rounded Rectangle 118"/>
          <p:cNvSpPr/>
          <p:nvPr/>
        </p:nvSpPr>
        <p:spPr>
          <a:xfrm>
            <a:off x="8001000" y="3584520"/>
            <a:ext cx="2833200" cy="93132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Iluminação: escolhe qual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caractere da rampa ASCII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será usado.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8" name="Isosceles Triangle 119"/>
          <p:cNvSpPr/>
          <p:nvPr/>
        </p:nvSpPr>
        <p:spPr>
          <a:xfrm rot="16200000">
            <a:off x="7845480" y="521352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429" name="Rounded Rectangle 120"/>
          <p:cNvSpPr/>
          <p:nvPr/>
        </p:nvSpPr>
        <p:spPr>
          <a:xfrm>
            <a:off x="8001000" y="5056560"/>
            <a:ext cx="2833200" cy="7848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Avanço trigonométrico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sem chamar sen/cos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em todo ponto.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1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2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Desenho no console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3" name="Text 3"/>
          <p:cNvSpPr/>
          <p:nvPr/>
        </p:nvSpPr>
        <p:spPr>
          <a:xfrm>
            <a:off x="530280" y="678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abacd"/>
                </a:solidFill>
                <a:latin typeface="Aptos"/>
                <a:ea typeface="DejaVu Sans"/>
              </a:rPr>
              <a:t>A versão para Windows limpa a tela e reimprime todas as linhas do quadro.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502920" y="1097280"/>
            <a:ext cx="11108520" cy="5439240"/>
          </a:xfrm>
          <a:prstGeom prst="roundRect">
            <a:avLst>
              <a:gd name="adj" fmla="val 1345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5" name="Shape 5"/>
          <p:cNvSpPr/>
          <p:nvPr/>
        </p:nvSpPr>
        <p:spPr>
          <a:xfrm>
            <a:off x="1051560" y="1134000"/>
            <a:ext cx="12240" cy="536616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6" name="Shape 6"/>
          <p:cNvSpPr/>
          <p:nvPr/>
        </p:nvSpPr>
        <p:spPr>
          <a:xfrm>
            <a:off x="1106280" y="1344240"/>
            <a:ext cx="5439240" cy="986040"/>
          </a:xfrm>
          <a:prstGeom prst="roundRect">
            <a:avLst>
              <a:gd name="adj" fmla="val 2765"/>
            </a:avLst>
          </a:prstGeom>
          <a:solidFill>
            <a:srgbClr val="37d9f5">
              <a:alpha val="12000"/>
            </a:srgbClr>
          </a:solidFill>
          <a:ln w="17640">
            <a:solidFill>
              <a:srgbClr val="37d9f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7" name="Shape 10"/>
          <p:cNvSpPr/>
          <p:nvPr/>
        </p:nvSpPr>
        <p:spPr>
          <a:xfrm>
            <a:off x="1106280" y="4718160"/>
            <a:ext cx="4479120" cy="1470600"/>
          </a:xfrm>
          <a:prstGeom prst="roundRect">
            <a:avLst>
              <a:gd name="adj" fmla="val 1863"/>
            </a:avLst>
          </a:prstGeom>
          <a:solidFill>
            <a:srgbClr val="ffb22e">
              <a:alpha val="12000"/>
            </a:srgbClr>
          </a:solidFill>
          <a:ln w="17640">
            <a:solidFill>
              <a:srgbClr val="ffb22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438" name="Text 14"/>
          <p:cNvSpPr/>
          <p:nvPr/>
        </p:nvSpPr>
        <p:spPr>
          <a:xfrm>
            <a:off x="612720" y="120708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9" name="Text 15"/>
          <p:cNvSpPr/>
          <p:nvPr/>
        </p:nvSpPr>
        <p:spPr>
          <a:xfrm>
            <a:off x="1124640" y="120708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Mantém os pontos dentro do console e guarda apenas o mais próximo por célula.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16"/>
          <p:cNvSpPr/>
          <p:nvPr/>
        </p:nvSpPr>
        <p:spPr>
          <a:xfrm>
            <a:off x="612720" y="136692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1" name="Text 17"/>
          <p:cNvSpPr/>
          <p:nvPr/>
        </p:nvSpPr>
        <p:spPr>
          <a:xfrm>
            <a:off x="1124640" y="136692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se (screenRow &gt;= 0) e (screenRow &lt; 40) e (screenCol &gt;= 0) e (screenCol &lt; 119) entao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2" name="Text 18"/>
          <p:cNvSpPr/>
          <p:nvPr/>
        </p:nvSpPr>
        <p:spPr>
          <a:xfrm>
            <a:off x="612720" y="152712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3" name="Text 19"/>
          <p:cNvSpPr/>
          <p:nvPr/>
        </p:nvSpPr>
        <p:spPr>
          <a:xfrm>
            <a:off x="1124640" y="152712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se (inverseDepth &gt; depthBuffer[screenRow, screenCol]) entao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4" name="Text 20"/>
          <p:cNvSpPr/>
          <p:nvPr/>
        </p:nvSpPr>
        <p:spPr>
          <a:xfrm>
            <a:off x="612720" y="168696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5" name="Text 21"/>
          <p:cNvSpPr/>
          <p:nvPr/>
        </p:nvSpPr>
        <p:spPr>
          <a:xfrm>
            <a:off x="1124640" y="168696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depthBuffer[screenRow, screenCol] &lt;- inverseDepth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6" name="Text 22"/>
          <p:cNvSpPr/>
          <p:nvPr/>
        </p:nvSpPr>
        <p:spPr>
          <a:xfrm>
            <a:off x="612720" y="184716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Text 23"/>
          <p:cNvSpPr/>
          <p:nvPr/>
        </p:nvSpPr>
        <p:spPr>
          <a:xfrm>
            <a:off x="1124640" y="184716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charBuffer[screenRow, screenCol] &lt;- copia(shadeRamp, shadeIndex + 1, 1)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8" name="Text 24"/>
          <p:cNvSpPr/>
          <p:nvPr/>
        </p:nvSpPr>
        <p:spPr>
          <a:xfrm>
            <a:off x="612720" y="200700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9" name="Text 25"/>
          <p:cNvSpPr/>
          <p:nvPr/>
        </p:nvSpPr>
        <p:spPr>
          <a:xfrm>
            <a:off x="1124640" y="200700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fimse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0" name="Text 26"/>
          <p:cNvSpPr/>
          <p:nvPr/>
        </p:nvSpPr>
        <p:spPr>
          <a:xfrm>
            <a:off x="612720" y="216720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1" name="Text 27"/>
          <p:cNvSpPr/>
          <p:nvPr/>
        </p:nvSpPr>
        <p:spPr>
          <a:xfrm>
            <a:off x="1124640" y="216720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fimse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2" name="Text 28"/>
          <p:cNvSpPr/>
          <p:nvPr/>
        </p:nvSpPr>
        <p:spPr>
          <a:xfrm>
            <a:off x="612720" y="232704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Text 29"/>
          <p:cNvSpPr/>
          <p:nvPr/>
        </p:nvSpPr>
        <p:spPr>
          <a:xfrm>
            <a:off x="1124640" y="232704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4" name="Text 30"/>
          <p:cNvSpPr/>
          <p:nvPr/>
        </p:nvSpPr>
        <p:spPr>
          <a:xfrm>
            <a:off x="612720" y="248724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5" name="Text 31"/>
          <p:cNvSpPr/>
          <p:nvPr/>
        </p:nvSpPr>
        <p:spPr>
          <a:xfrm>
            <a:off x="1124640" y="248724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Avança sen/cos ao redor do anel sem chamar sen/cos novamente.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6" name="Text 32"/>
          <p:cNvSpPr/>
          <p:nvPr/>
        </p:nvSpPr>
        <p:spPr>
          <a:xfrm>
            <a:off x="612720" y="264708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129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7" name="Text 33"/>
          <p:cNvSpPr/>
          <p:nvPr/>
        </p:nvSpPr>
        <p:spPr>
          <a:xfrm>
            <a:off x="1124640" y="264708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tempTrig &lt;- sinRing * cosRingStep + cosRing * sinRingStep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8" name="Text 34"/>
          <p:cNvSpPr/>
          <p:nvPr/>
        </p:nvSpPr>
        <p:spPr>
          <a:xfrm>
            <a:off x="612720" y="280728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Text 35"/>
          <p:cNvSpPr/>
          <p:nvPr/>
        </p:nvSpPr>
        <p:spPr>
          <a:xfrm>
            <a:off x="1124640" y="280728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cosRing &lt;- cosRing * cosRingStep - sinRing * sinRingStep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0" name="Text 36"/>
          <p:cNvSpPr/>
          <p:nvPr/>
        </p:nvSpPr>
        <p:spPr>
          <a:xfrm>
            <a:off x="612720" y="296712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1" name="Text 37"/>
          <p:cNvSpPr/>
          <p:nvPr/>
        </p:nvSpPr>
        <p:spPr>
          <a:xfrm>
            <a:off x="1124640" y="296712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sinRing &lt;- tempTrig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2" name="Text 38"/>
          <p:cNvSpPr/>
          <p:nvPr/>
        </p:nvSpPr>
        <p:spPr>
          <a:xfrm>
            <a:off x="612720" y="312732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3" name="Text 39"/>
          <p:cNvSpPr/>
          <p:nvPr/>
        </p:nvSpPr>
        <p:spPr>
          <a:xfrm>
            <a:off x="1124640" y="312732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4" name="Text 40"/>
          <p:cNvSpPr/>
          <p:nvPr/>
        </p:nvSpPr>
        <p:spPr>
          <a:xfrm>
            <a:off x="612720" y="328716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5" name="Text 41"/>
          <p:cNvSpPr/>
          <p:nvPr/>
        </p:nvSpPr>
        <p:spPr>
          <a:xfrm>
            <a:off x="1124640" y="328716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6" name="Text 42"/>
          <p:cNvSpPr/>
          <p:nvPr/>
        </p:nvSpPr>
        <p:spPr>
          <a:xfrm>
            <a:off x="612720" y="344736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43"/>
          <p:cNvSpPr/>
          <p:nvPr/>
        </p:nvSpPr>
        <p:spPr>
          <a:xfrm>
            <a:off x="1124640" y="344736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8" name="Text 44"/>
          <p:cNvSpPr/>
          <p:nvPr/>
        </p:nvSpPr>
        <p:spPr>
          <a:xfrm>
            <a:off x="612720" y="360720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9" name="Text 45"/>
          <p:cNvSpPr/>
          <p:nvPr/>
        </p:nvSpPr>
        <p:spPr>
          <a:xfrm>
            <a:off x="1124640" y="360720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Avança sen/cos ao redor do tubo sem chamar sen/cos novamente.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0" name="Text 46"/>
          <p:cNvSpPr/>
          <p:nvPr/>
        </p:nvSpPr>
        <p:spPr>
          <a:xfrm>
            <a:off x="612720" y="376740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1" name="Text 47"/>
          <p:cNvSpPr/>
          <p:nvPr/>
        </p:nvSpPr>
        <p:spPr>
          <a:xfrm>
            <a:off x="1124640" y="376740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tempTrig &lt;- sinTube * cosTubeStep + cosTube * sinTubeStep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2" name="Text 48"/>
          <p:cNvSpPr/>
          <p:nvPr/>
        </p:nvSpPr>
        <p:spPr>
          <a:xfrm>
            <a:off x="612720" y="392724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3" name="Text 49"/>
          <p:cNvSpPr/>
          <p:nvPr/>
        </p:nvSpPr>
        <p:spPr>
          <a:xfrm>
            <a:off x="1124640" y="392724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cosTube &lt;- cosTube * cosTubeStep - sinTube * sinTubeStep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4" name="Text 50"/>
          <p:cNvSpPr/>
          <p:nvPr/>
        </p:nvSpPr>
        <p:spPr>
          <a:xfrm>
            <a:off x="612720" y="408744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Text 51"/>
          <p:cNvSpPr/>
          <p:nvPr/>
        </p:nvSpPr>
        <p:spPr>
          <a:xfrm>
            <a:off x="1124640" y="408744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sinTube &lt;- tempTrig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6" name="Text 52"/>
          <p:cNvSpPr/>
          <p:nvPr/>
        </p:nvSpPr>
        <p:spPr>
          <a:xfrm>
            <a:off x="612720" y="424728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139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7" name="Text 53"/>
          <p:cNvSpPr/>
          <p:nvPr/>
        </p:nvSpPr>
        <p:spPr>
          <a:xfrm>
            <a:off x="1124640" y="424728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8" name="Text 54"/>
          <p:cNvSpPr/>
          <p:nvPr/>
        </p:nvSpPr>
        <p:spPr>
          <a:xfrm>
            <a:off x="612720" y="440748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9" name="Text 55"/>
          <p:cNvSpPr/>
          <p:nvPr/>
        </p:nvSpPr>
        <p:spPr>
          <a:xfrm>
            <a:off x="1124640" y="440748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0" name="Text 56"/>
          <p:cNvSpPr/>
          <p:nvPr/>
        </p:nvSpPr>
        <p:spPr>
          <a:xfrm>
            <a:off x="612720" y="456732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Text 57"/>
          <p:cNvSpPr/>
          <p:nvPr/>
        </p:nvSpPr>
        <p:spPr>
          <a:xfrm>
            <a:off x="1124640" y="456732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2" name="Text 58"/>
          <p:cNvSpPr/>
          <p:nvPr/>
        </p:nvSpPr>
        <p:spPr>
          <a:xfrm>
            <a:off x="612720" y="472752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3" name="Text 59"/>
          <p:cNvSpPr/>
          <p:nvPr/>
        </p:nvSpPr>
        <p:spPr>
          <a:xfrm>
            <a:off x="1124640" y="472752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Redesenha o console gráfico do VisuAlg, uma linha de texto por vez.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4" name="Text 60"/>
          <p:cNvSpPr/>
          <p:nvPr/>
        </p:nvSpPr>
        <p:spPr>
          <a:xfrm>
            <a:off x="612720" y="488736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5" name="Text 61"/>
          <p:cNvSpPr/>
          <p:nvPr/>
        </p:nvSpPr>
        <p:spPr>
          <a:xfrm>
            <a:off x="1124640" y="488736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limpatela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6" name="Text 62"/>
          <p:cNvSpPr/>
          <p:nvPr/>
        </p:nvSpPr>
        <p:spPr>
          <a:xfrm>
            <a:off x="612720" y="504756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Text 63"/>
          <p:cNvSpPr/>
          <p:nvPr/>
        </p:nvSpPr>
        <p:spPr>
          <a:xfrm>
            <a:off x="1124640" y="504756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8" name="Text 64"/>
          <p:cNvSpPr/>
          <p:nvPr/>
        </p:nvSpPr>
        <p:spPr>
          <a:xfrm>
            <a:off x="612720" y="520740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9" name="Text 65"/>
          <p:cNvSpPr/>
          <p:nvPr/>
        </p:nvSpPr>
        <p:spPr>
          <a:xfrm>
            <a:off x="1124640" y="520740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rowIndex de 0 ate 39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0" name="Text 66"/>
          <p:cNvSpPr/>
          <p:nvPr/>
        </p:nvSpPr>
        <p:spPr>
          <a:xfrm>
            <a:off x="612720" y="536760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1" name="Text 67"/>
          <p:cNvSpPr/>
          <p:nvPr/>
        </p:nvSpPr>
        <p:spPr>
          <a:xfrm>
            <a:off x="1124640" y="536760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outputRow &lt;- ""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2" name="Text 68"/>
          <p:cNvSpPr/>
          <p:nvPr/>
        </p:nvSpPr>
        <p:spPr>
          <a:xfrm>
            <a:off x="612720" y="552744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Text 69"/>
          <p:cNvSpPr/>
          <p:nvPr/>
        </p:nvSpPr>
        <p:spPr>
          <a:xfrm>
            <a:off x="1124640" y="552744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colIndex de 0 ate 118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4" name="Text 70"/>
          <p:cNvSpPr/>
          <p:nvPr/>
        </p:nvSpPr>
        <p:spPr>
          <a:xfrm>
            <a:off x="612720" y="568764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5" name="Text 71"/>
          <p:cNvSpPr/>
          <p:nvPr/>
        </p:nvSpPr>
        <p:spPr>
          <a:xfrm>
            <a:off x="1124640" y="568764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outputRow &lt;- outputRow + charBuffer[rowIndex, colIndex]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6" name="Text 72"/>
          <p:cNvSpPr/>
          <p:nvPr/>
        </p:nvSpPr>
        <p:spPr>
          <a:xfrm>
            <a:off x="612720" y="584748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7" name="Text 73"/>
          <p:cNvSpPr/>
          <p:nvPr/>
        </p:nvSpPr>
        <p:spPr>
          <a:xfrm>
            <a:off x="1124640" y="584748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8" name="Text 74"/>
          <p:cNvSpPr/>
          <p:nvPr/>
        </p:nvSpPr>
        <p:spPr>
          <a:xfrm>
            <a:off x="612720" y="600768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9" name="Text 75"/>
          <p:cNvSpPr/>
          <p:nvPr/>
        </p:nvSpPr>
        <p:spPr>
          <a:xfrm>
            <a:off x="1124640" y="600768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escreval(outputRow)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0" name="Text 76"/>
          <p:cNvSpPr/>
          <p:nvPr/>
        </p:nvSpPr>
        <p:spPr>
          <a:xfrm>
            <a:off x="612720" y="6167520"/>
            <a:ext cx="40104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77"/>
          <p:cNvSpPr/>
          <p:nvPr/>
        </p:nvSpPr>
        <p:spPr>
          <a:xfrm>
            <a:off x="1124640" y="6167520"/>
            <a:ext cx="10322280" cy="15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2" name="Text 78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15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3" name="Rounded Rectangle 80">
            <a:hlinkClick r:id="rId1" action="ppaction://hlinksldjump"/>
          </p:cNvPr>
          <p:cNvSpPr/>
          <p:nvPr/>
        </p:nvSpPr>
        <p:spPr>
          <a:xfrm>
            <a:off x="9464040" y="311040"/>
            <a:ext cx="178164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Voltar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4" name="Isosceles Triangle 81"/>
          <p:cNvSpPr/>
          <p:nvPr/>
        </p:nvSpPr>
        <p:spPr>
          <a:xfrm rot="16200000">
            <a:off x="7772400" y="146448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05" name="Rounded Rectangle 82"/>
          <p:cNvSpPr/>
          <p:nvPr/>
        </p:nvSpPr>
        <p:spPr>
          <a:xfrm>
            <a:off x="7936920" y="1298520"/>
            <a:ext cx="2970360" cy="85824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Z-buffer: apenas o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ponto mais próximo ocupa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a célula.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6" name="Isosceles Triangle 83"/>
          <p:cNvSpPr/>
          <p:nvPr/>
        </p:nvSpPr>
        <p:spPr>
          <a:xfrm rot="16200000">
            <a:off x="7772400" y="4756320"/>
            <a:ext cx="163080" cy="199800"/>
          </a:xfrm>
          <a:prstGeom prst="triangle">
            <a:avLst>
              <a:gd name="adj" fmla="val 50000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07" name="Rounded Rectangle 84"/>
          <p:cNvSpPr/>
          <p:nvPr/>
        </p:nvSpPr>
        <p:spPr>
          <a:xfrm>
            <a:off x="7936920" y="4590360"/>
            <a:ext cx="2970360" cy="85824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Estratégia da GUI do VisuAlg: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montar a linha e usar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f0f6fa"/>
                </a:solidFill>
                <a:latin typeface="Aptos"/>
                <a:ea typeface="DejaVu Sans"/>
              </a:rPr>
              <a:t>escreval para redesenhar.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09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10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400" spc="-1" strike="noStrike">
                <a:solidFill>
                  <a:srgbClr val="f0f6fa"/>
                </a:solidFill>
                <a:latin typeface="Aptos"/>
                <a:ea typeface="DejaVu Sans"/>
              </a:rPr>
              <a:t>Onde o movimento acontece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3"/>
          <p:cNvSpPr/>
          <p:nvPr/>
        </p:nvSpPr>
        <p:spPr>
          <a:xfrm>
            <a:off x="530280" y="822960"/>
            <a:ext cx="10697040" cy="437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abacd"/>
                </a:solidFill>
                <a:latin typeface="Aptos"/>
                <a:ea typeface="DejaVu Sans"/>
              </a:rPr>
              <a:t>As duas linhas mais importantes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4"/>
          <p:cNvSpPr/>
          <p:nvPr/>
        </p:nvSpPr>
        <p:spPr>
          <a:xfrm>
            <a:off x="914400" y="1800000"/>
            <a:ext cx="10239840" cy="4250520"/>
          </a:xfrm>
          <a:prstGeom prst="roundRect">
            <a:avLst>
              <a:gd name="adj" fmla="val 1720"/>
            </a:avLst>
          </a:prstGeom>
          <a:solidFill>
            <a:srgbClr val="0d1825"/>
          </a:solidFill>
          <a:ln w="14040">
            <a:solidFill>
              <a:srgbClr val="25445e">
                <a:alpha val="9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13" name="Shape 5"/>
          <p:cNvSpPr/>
          <p:nvPr/>
        </p:nvSpPr>
        <p:spPr>
          <a:xfrm>
            <a:off x="1463040" y="1591200"/>
            <a:ext cx="12240" cy="4177440"/>
          </a:xfrm>
          <a:prstGeom prst="rect">
            <a:avLst/>
          </a:prstGeom>
          <a:solidFill>
            <a:srgbClr val="25445e"/>
          </a:solidFill>
          <a:ln w="12600">
            <a:solidFill>
              <a:srgbClr val="25445e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1024200" y="166428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11"/>
          <p:cNvSpPr/>
          <p:nvPr/>
        </p:nvSpPr>
        <p:spPr>
          <a:xfrm>
            <a:off x="1536120" y="166428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rowIndex de 0 ate 39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12"/>
          <p:cNvSpPr/>
          <p:nvPr/>
        </p:nvSpPr>
        <p:spPr>
          <a:xfrm>
            <a:off x="1024200" y="194760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Text 13"/>
          <p:cNvSpPr/>
          <p:nvPr/>
        </p:nvSpPr>
        <p:spPr>
          <a:xfrm>
            <a:off x="1536120" y="194760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outputRow &lt;- ""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8" name="Text 14"/>
          <p:cNvSpPr/>
          <p:nvPr/>
        </p:nvSpPr>
        <p:spPr>
          <a:xfrm>
            <a:off x="1024200" y="223128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1536120" y="223128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para colIndex de 0 ate 118 faca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1024200" y="251460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148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1536120" y="251460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outputRow &lt;- outputRow + charBuffer[rowIndex, colIndex]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Text 18"/>
          <p:cNvSpPr/>
          <p:nvPr/>
        </p:nvSpPr>
        <p:spPr>
          <a:xfrm>
            <a:off x="1024200" y="279792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149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3" name="Text 19"/>
          <p:cNvSpPr/>
          <p:nvPr/>
        </p:nvSpPr>
        <p:spPr>
          <a:xfrm>
            <a:off x="1536120" y="279792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20"/>
          <p:cNvSpPr/>
          <p:nvPr/>
        </p:nvSpPr>
        <p:spPr>
          <a:xfrm>
            <a:off x="1024200" y="308160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150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21"/>
          <p:cNvSpPr/>
          <p:nvPr/>
        </p:nvSpPr>
        <p:spPr>
          <a:xfrm>
            <a:off x="1536120" y="308160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escreval(outputRow)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2"/>
          <p:cNvSpPr/>
          <p:nvPr/>
        </p:nvSpPr>
        <p:spPr>
          <a:xfrm>
            <a:off x="1024200" y="336492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151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7" name="Text 23"/>
          <p:cNvSpPr/>
          <p:nvPr/>
        </p:nvSpPr>
        <p:spPr>
          <a:xfrm>
            <a:off x="1536120" y="336492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fimpara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8" name="Text 24"/>
          <p:cNvSpPr/>
          <p:nvPr/>
        </p:nvSpPr>
        <p:spPr>
          <a:xfrm>
            <a:off x="1024200" y="364860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152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9" name="Text 25"/>
          <p:cNvSpPr/>
          <p:nvPr/>
        </p:nvSpPr>
        <p:spPr>
          <a:xfrm>
            <a:off x="1536120" y="364860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0" name="Text 26"/>
          <p:cNvSpPr/>
          <p:nvPr/>
        </p:nvSpPr>
        <p:spPr>
          <a:xfrm>
            <a:off x="1024200" y="393192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153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1" name="Text 27"/>
          <p:cNvSpPr/>
          <p:nvPr/>
        </p:nvSpPr>
        <p:spPr>
          <a:xfrm>
            <a:off x="1536120" y="393192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// O movimento acontece aqui: avança os dois ângulos antes do próximo quadro.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2" name="Text 28"/>
          <p:cNvSpPr/>
          <p:nvPr/>
        </p:nvSpPr>
        <p:spPr>
          <a:xfrm>
            <a:off x="1024200" y="421524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154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3" name="Text 30"/>
          <p:cNvSpPr/>
          <p:nvPr/>
        </p:nvSpPr>
        <p:spPr>
          <a:xfrm>
            <a:off x="1024200" y="449892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155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4" name="Text 31"/>
          <p:cNvSpPr/>
          <p:nvPr/>
        </p:nvSpPr>
        <p:spPr>
          <a:xfrm>
            <a:off x="1536120" y="449892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angleElevation &lt;- angleElevation + elevationStep * speedMultiplier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5" name="Text 32"/>
          <p:cNvSpPr/>
          <p:nvPr/>
        </p:nvSpPr>
        <p:spPr>
          <a:xfrm>
            <a:off x="1024200" y="478224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156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6" name="Text 33"/>
          <p:cNvSpPr/>
          <p:nvPr/>
        </p:nvSpPr>
        <p:spPr>
          <a:xfrm>
            <a:off x="1536120" y="478224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7" name="Text 34"/>
          <p:cNvSpPr/>
          <p:nvPr/>
        </p:nvSpPr>
        <p:spPr>
          <a:xfrm>
            <a:off x="1024200" y="5065920"/>
            <a:ext cx="40104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20" spc="-1" strike="noStrike">
                <a:solidFill>
                  <a:srgbClr val="a8b9c7"/>
                </a:solidFill>
                <a:latin typeface="Cascadia Mono"/>
                <a:ea typeface="Cascadia Mono"/>
              </a:rPr>
              <a:t>157</a:t>
            </a:r>
            <a:endParaRPr b="0" lang="pt-BR" sz="92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8" name="Text 35"/>
          <p:cNvSpPr/>
          <p:nvPr/>
        </p:nvSpPr>
        <p:spPr>
          <a:xfrm>
            <a:off x="1536120" y="5065920"/>
            <a:ext cx="9453600" cy="28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   </a:t>
            </a:r>
            <a:r>
              <a:rPr b="0" lang="en-US" sz="960" spc="-1" strike="noStrike">
                <a:solidFill>
                  <a:srgbClr val="d9f1ff"/>
                </a:solidFill>
                <a:latin typeface="Cascadia Mono"/>
                <a:ea typeface="Cascadia Mono"/>
              </a:rPr>
              <a:t>fimenquanto</a:t>
            </a:r>
            <a:endParaRPr b="0" lang="pt-BR" sz="96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9" name="Text 36"/>
          <p:cNvSpPr/>
          <p:nvPr/>
        </p:nvSpPr>
        <p:spPr>
          <a:xfrm>
            <a:off x="914400" y="5943600"/>
            <a:ext cx="19188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dk1"/>
                </a:solidFill>
                <a:latin typeface="Aptos"/>
                <a:ea typeface="DejaVu Sans"/>
              </a:rPr>
              <a:t>Resumo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0" name="Text 37"/>
          <p:cNvSpPr/>
          <p:nvPr/>
        </p:nvSpPr>
        <p:spPr>
          <a:xfrm>
            <a:off x="960120" y="6172200"/>
            <a:ext cx="4936320" cy="50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8b9c7"/>
                </a:solidFill>
                <a:latin typeface="Aptos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a8b9c7"/>
                </a:solidFill>
                <a:latin typeface="Aptos"/>
                <a:ea typeface="DejaVu Sans"/>
              </a:rPr>
              <a:t>Os laços internos desenham o toro.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8b9c7"/>
                </a:solidFill>
                <a:latin typeface="Aptos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a8b9c7"/>
                </a:solidFill>
                <a:latin typeface="Aptos"/>
                <a:ea typeface="DejaVu Sans"/>
              </a:rPr>
              <a:t>O redesenho imprime o quadro.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pc="-1" strike="noStrike">
                <a:solidFill>
                  <a:srgbClr val="a8b9c7"/>
                </a:solidFill>
                <a:latin typeface="Aptos"/>
                <a:ea typeface="DejaVu Sans"/>
              </a:rPr>
              <a:t>• </a:t>
            </a:r>
            <a:r>
              <a:rPr b="0" lang="en-US" sz="1500" spc="-1" strike="noStrike">
                <a:solidFill>
                  <a:srgbClr val="a8b9c7"/>
                </a:solidFill>
                <a:latin typeface="Aptos"/>
                <a:ea typeface="DejaVu Sans"/>
              </a:rPr>
              <a:t>As linhas 154–155 fazem o toro mexer.</a:t>
            </a:r>
            <a:endParaRPr b="0" lang="pt-BR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1" name="Text 38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16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2" name="Rounded Rectangle 40">
            <a:hlinkClick r:id="rId1" action="ppaction://hlinksldjump"/>
          </p:cNvPr>
          <p:cNvSpPr/>
          <p:nvPr/>
        </p:nvSpPr>
        <p:spPr>
          <a:xfrm>
            <a:off x="9464040" y="311040"/>
            <a:ext cx="178164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37d9f5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← </a:t>
            </a:r>
            <a:r>
              <a:rPr b="0" lang="pt-BR" sz="1800" spc="-1" strike="noStrike">
                <a:solidFill>
                  <a:schemeClr val="lt1"/>
                </a:solidFill>
                <a:latin typeface="Aptos"/>
                <a:ea typeface="DejaVu Sans"/>
              </a:rPr>
              <a:t>Voltar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3" name="Rounded Rectangle 44"/>
          <p:cNvSpPr/>
          <p:nvPr/>
        </p:nvSpPr>
        <p:spPr>
          <a:xfrm>
            <a:off x="1553400" y="4205520"/>
            <a:ext cx="5987880" cy="6570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20160">
            <a:solidFill>
              <a:srgbClr val="ffb22e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44" name="TextBox 45"/>
          <p:cNvSpPr/>
          <p:nvPr/>
        </p:nvSpPr>
        <p:spPr>
          <a:xfrm>
            <a:off x="1536120" y="4215240"/>
            <a:ext cx="421236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d9f1ff"/>
                </a:solidFill>
                <a:latin typeface="Cascadia Mono"/>
                <a:ea typeface="DejaVu Sans"/>
              </a:rPr>
              <a:t>      </a:t>
            </a:r>
            <a:r>
              <a:rPr b="0" lang="pt-BR" sz="1200" spc="-1" strike="noStrike">
                <a:solidFill>
                  <a:srgbClr val="d9f1ff"/>
                </a:solidFill>
                <a:latin typeface="Cascadia Mono"/>
                <a:ea typeface="DejaVu Sans"/>
              </a:rPr>
              <a:t>angleAxial &lt;- angleAxial + axialStep * speedMultiplier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5" name="TextBox 46"/>
          <p:cNvSpPr/>
          <p:nvPr/>
        </p:nvSpPr>
        <p:spPr>
          <a:xfrm>
            <a:off x="1536120" y="4498920"/>
            <a:ext cx="5151240" cy="27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d9f1ff"/>
                </a:solidFill>
                <a:latin typeface="Cascadia Mono"/>
                <a:ea typeface="DejaVu Sans"/>
              </a:rPr>
              <a:t>      </a:t>
            </a:r>
            <a:r>
              <a:rPr b="0" lang="pt-BR" sz="1200" spc="-1" strike="noStrike">
                <a:solidFill>
                  <a:srgbClr val="d9f1ff"/>
                </a:solidFill>
                <a:latin typeface="Cascadia Mono"/>
                <a:ea typeface="DejaVu Sans"/>
              </a:rPr>
              <a:t>angleElevation &lt;- angleElevation + elevationStep * speedMultiplier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6" name="Rounded Rectangle 48"/>
          <p:cNvSpPr/>
          <p:nvPr/>
        </p:nvSpPr>
        <p:spPr>
          <a:xfrm>
            <a:off x="7876440" y="4095360"/>
            <a:ext cx="2997720" cy="8398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f2f7fa"/>
                </a:solidFill>
                <a:latin typeface="Aptos"/>
                <a:ea typeface="DejaVu Sans"/>
              </a:rPr>
              <a:t>Essas duas linhas avançam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f2f7fa"/>
                </a:solidFill>
                <a:latin typeface="Aptos"/>
                <a:ea typeface="DejaVu Sans"/>
              </a:rPr>
              <a:t>os ângulos e criam a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050" spc="-1" strike="noStrike">
                <a:solidFill>
                  <a:srgbClr val="f2f7fa"/>
                </a:solidFill>
                <a:latin typeface="Aptos"/>
                <a:ea typeface="DejaVu Sans"/>
              </a:rPr>
              <a:t>animação quadro a quadro.</a:t>
            </a:r>
            <a:endParaRPr b="0" lang="pt-BR" sz="10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Shape 0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12600">
            <a:solidFill>
              <a:srgbClr val="07111f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48" name="Shape 1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>
              <a:alpha val="75000"/>
            </a:srgbClr>
          </a:solidFill>
          <a:ln w="12600">
            <a:solidFill>
              <a:srgbClr val="37d9f5">
                <a:alpha val="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dk1"/>
              </a:solidFill>
              <a:latin typeface="Aptos"/>
              <a:ea typeface="DejaVu Sans"/>
            </a:endParaRPr>
          </a:p>
        </p:txBody>
      </p:sp>
      <p:sp>
        <p:nvSpPr>
          <p:cNvPr id="549" name="Text 2"/>
          <p:cNvSpPr/>
          <p:nvPr/>
        </p:nvSpPr>
        <p:spPr>
          <a:xfrm>
            <a:off x="502920" y="311040"/>
            <a:ext cx="10788480" cy="51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pt-BR" sz="2400" spc="-1" strike="noStrike">
                <a:solidFill>
                  <a:srgbClr val="f2f7fa"/>
                </a:solidFill>
                <a:latin typeface="Aptos"/>
                <a:ea typeface="DejaVu Sans"/>
              </a:rPr>
              <a:t>16. Tabela de variáveis</a:t>
            </a:r>
            <a:endParaRPr b="0" lang="pt-B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0" name="Text 4"/>
          <p:cNvSpPr/>
          <p:nvPr/>
        </p:nvSpPr>
        <p:spPr>
          <a:xfrm>
            <a:off x="777240" y="1207080"/>
            <a:ext cx="219312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a8b9c7"/>
                </a:solidFill>
                <a:latin typeface="Aptos"/>
                <a:ea typeface="DejaVu Sans"/>
              </a:rPr>
              <a:t>Versão ofuscada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1" name="Text 5"/>
          <p:cNvSpPr/>
          <p:nvPr/>
        </p:nvSpPr>
        <p:spPr>
          <a:xfrm>
            <a:off x="2743200" y="1207080"/>
            <a:ext cx="27417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a8b9c7"/>
                </a:solidFill>
                <a:latin typeface="Aptos"/>
                <a:ea typeface="DejaVu Sans"/>
              </a:rPr>
              <a:t>Versão legível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2" name="Text 6"/>
          <p:cNvSpPr/>
          <p:nvPr/>
        </p:nvSpPr>
        <p:spPr>
          <a:xfrm>
            <a:off x="5486400" y="1207080"/>
            <a:ext cx="54849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pc="-1" strike="noStrike">
                <a:solidFill>
                  <a:srgbClr val="a8b9c7"/>
                </a:solidFill>
                <a:latin typeface="Aptos"/>
                <a:ea typeface="DejaVu Sans"/>
              </a:rPr>
              <a:t>Significado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3" name="Text 7"/>
          <p:cNvSpPr/>
          <p:nvPr/>
        </p:nvSpPr>
        <p:spPr>
          <a:xfrm>
            <a:off x="868680" y="164592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4" name="Text 8"/>
          <p:cNvSpPr/>
          <p:nvPr/>
        </p:nvSpPr>
        <p:spPr>
          <a:xfrm>
            <a:off x="2788920" y="164592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angleAxial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5" name="Text 9"/>
          <p:cNvSpPr/>
          <p:nvPr/>
        </p:nvSpPr>
        <p:spPr>
          <a:xfrm>
            <a:off x="5504760" y="164592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ângulo axial global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6" name="Text 10"/>
          <p:cNvSpPr/>
          <p:nvPr/>
        </p:nvSpPr>
        <p:spPr>
          <a:xfrm>
            <a:off x="868680" y="207576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b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7" name="Text 11"/>
          <p:cNvSpPr/>
          <p:nvPr/>
        </p:nvSpPr>
        <p:spPr>
          <a:xfrm>
            <a:off x="2788920" y="207576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angleElevation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8" name="Text 12"/>
          <p:cNvSpPr/>
          <p:nvPr/>
        </p:nvSpPr>
        <p:spPr>
          <a:xfrm>
            <a:off x="5504760" y="207576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ângulo global de inclinação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9" name="Text 13"/>
          <p:cNvSpPr/>
          <p:nvPr/>
        </p:nvSpPr>
        <p:spPr>
          <a:xfrm>
            <a:off x="868680" y="250560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g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0" name="Text 14"/>
          <p:cNvSpPr/>
          <p:nvPr/>
        </p:nvSpPr>
        <p:spPr>
          <a:xfrm>
            <a:off x="2788920" y="250560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axialStep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1" name="Text 15"/>
          <p:cNvSpPr/>
          <p:nvPr/>
        </p:nvSpPr>
        <p:spPr>
          <a:xfrm>
            <a:off x="5504760" y="250560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incremento do giro axial por quadro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2" name="Text 16"/>
          <p:cNvSpPr/>
          <p:nvPr/>
        </p:nvSpPr>
        <p:spPr>
          <a:xfrm>
            <a:off x="868680" y="293508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h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3" name="Text 17"/>
          <p:cNvSpPr/>
          <p:nvPr/>
        </p:nvSpPr>
        <p:spPr>
          <a:xfrm>
            <a:off x="2788920" y="293508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elevationStep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4" name="Text 18"/>
          <p:cNvSpPr/>
          <p:nvPr/>
        </p:nvSpPr>
        <p:spPr>
          <a:xfrm>
            <a:off x="5504760" y="293508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incremento da inclinação por quadro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5" name="Text 19"/>
          <p:cNvSpPr/>
          <p:nvPr/>
        </p:nvSpPr>
        <p:spPr>
          <a:xfrm>
            <a:off x="868680" y="336492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ak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6" name="Text 20"/>
          <p:cNvSpPr/>
          <p:nvPr/>
        </p:nvSpPr>
        <p:spPr>
          <a:xfrm>
            <a:off x="2788920" y="336492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speedMultiplier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7" name="Text 21"/>
          <p:cNvSpPr/>
          <p:nvPr/>
        </p:nvSpPr>
        <p:spPr>
          <a:xfrm>
            <a:off x="5504760" y="336492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multiplicador de velocidade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8" name="Text 22"/>
          <p:cNvSpPr/>
          <p:nvPr/>
        </p:nvSpPr>
        <p:spPr>
          <a:xfrm>
            <a:off x="868680" y="379476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c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9" name="Text 23"/>
          <p:cNvSpPr/>
          <p:nvPr/>
        </p:nvSpPr>
        <p:spPr>
          <a:xfrm>
            <a:off x="2788920" y="379476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charBuffer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0" name="Text 24"/>
          <p:cNvSpPr/>
          <p:nvPr/>
        </p:nvSpPr>
        <p:spPr>
          <a:xfrm>
            <a:off x="5504760" y="379476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buffer de caracteres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1" name="Text 25"/>
          <p:cNvSpPr/>
          <p:nvPr/>
        </p:nvSpPr>
        <p:spPr>
          <a:xfrm>
            <a:off x="868680" y="422460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d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2" name="Text 26"/>
          <p:cNvSpPr/>
          <p:nvPr/>
        </p:nvSpPr>
        <p:spPr>
          <a:xfrm>
            <a:off x="2788920" y="422460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depthBuffer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3" name="Text 27"/>
          <p:cNvSpPr/>
          <p:nvPr/>
        </p:nvSpPr>
        <p:spPr>
          <a:xfrm>
            <a:off x="5504760" y="422460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z-buffer / buffer de profundidade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4" name="Text 28"/>
          <p:cNvSpPr/>
          <p:nvPr/>
        </p:nvSpPr>
        <p:spPr>
          <a:xfrm>
            <a:off x="868680" y="465444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w / x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5" name="Text 29"/>
          <p:cNvSpPr/>
          <p:nvPr/>
        </p:nvSpPr>
        <p:spPr>
          <a:xfrm>
            <a:off x="2788920" y="465444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screenCol / screenRow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6" name="Text 30"/>
          <p:cNvSpPr/>
          <p:nvPr/>
        </p:nvSpPr>
        <p:spPr>
          <a:xfrm>
            <a:off x="5504760" y="465444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posição projetada na tela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7" name="Text 31"/>
          <p:cNvSpPr/>
          <p:nvPr/>
        </p:nvSpPr>
        <p:spPr>
          <a:xfrm>
            <a:off x="868680" y="508392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y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8" name="Text 32"/>
          <p:cNvSpPr/>
          <p:nvPr/>
        </p:nvSpPr>
        <p:spPr>
          <a:xfrm>
            <a:off x="2788920" y="508392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shadeIndex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9" name="Text 33"/>
          <p:cNvSpPr/>
          <p:nvPr/>
        </p:nvSpPr>
        <p:spPr>
          <a:xfrm>
            <a:off x="5504760" y="508392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índice na rampa de brilho ASCII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0" name="Text 34"/>
          <p:cNvSpPr/>
          <p:nvPr/>
        </p:nvSpPr>
        <p:spPr>
          <a:xfrm>
            <a:off x="868680" y="5513760"/>
            <a:ext cx="155304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ffb22e"/>
                </a:solidFill>
                <a:latin typeface="Cascadia Mono"/>
                <a:ea typeface="Cascadia Mono"/>
              </a:rPr>
              <a:t>z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1" name="Text 35"/>
          <p:cNvSpPr/>
          <p:nvPr/>
        </p:nvSpPr>
        <p:spPr>
          <a:xfrm>
            <a:off x="2788920" y="5513760"/>
            <a:ext cx="251316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pc="-1" strike="noStrike">
                <a:solidFill>
                  <a:srgbClr val="78f5ff"/>
                </a:solidFill>
                <a:latin typeface="Cascadia Mono"/>
                <a:ea typeface="Cascadia Mono"/>
              </a:rPr>
              <a:t>shadeRamp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2" name="Text 36"/>
          <p:cNvSpPr/>
          <p:nvPr/>
        </p:nvSpPr>
        <p:spPr>
          <a:xfrm>
            <a:off x="5504760" y="5513760"/>
            <a:ext cx="5347800" cy="21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300" spc="-1" strike="noStrike">
                <a:solidFill>
                  <a:srgbClr val="f2f7fa"/>
                </a:solidFill>
                <a:latin typeface="Aptos"/>
                <a:ea typeface="DejaVu Sans"/>
              </a:rPr>
              <a:t>rampa de caracteres de sombra → brilho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3" name="Text 37"/>
          <p:cNvSpPr/>
          <p:nvPr/>
        </p:nvSpPr>
        <p:spPr>
          <a:xfrm>
            <a:off x="11292840" y="6455520"/>
            <a:ext cx="474120" cy="16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8b9c7"/>
                </a:solidFill>
                <a:latin typeface="Aptos"/>
                <a:ea typeface="DejaVu Sans"/>
              </a:rPr>
              <a:t>17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Rectangle 1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85" name="Rectangle 2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86" name="TextBox 3"/>
          <p:cNvSpPr/>
          <p:nvPr/>
        </p:nvSpPr>
        <p:spPr>
          <a:xfrm>
            <a:off x="640080" y="311040"/>
            <a:ext cx="470340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600" spc="-1" strike="noStrike">
                <a:solidFill>
                  <a:srgbClr val="f2f7fa"/>
                </a:solidFill>
                <a:latin typeface="Aptos"/>
                <a:ea typeface="DejaVu Sans"/>
              </a:rPr>
              <a:t>Giro e iluminação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7" name="TextBox 4"/>
          <p:cNvSpPr/>
          <p:nvPr/>
        </p:nvSpPr>
        <p:spPr>
          <a:xfrm>
            <a:off x="640080" y="822960"/>
            <a:ext cx="563652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50" spc="-1" strike="noStrike">
                <a:solidFill>
                  <a:srgbClr val="aabacd"/>
                </a:solidFill>
                <a:latin typeface="Aptos"/>
                <a:ea typeface="DejaVu Sans"/>
              </a:rPr>
              <a:t>Note o giro e a mudança de iluminação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88" name="Picture 5" descr="image.gif"/>
          <p:cNvPicPr/>
          <p:nvPr/>
        </p:nvPicPr>
        <p:blipFill>
          <a:blip r:embed="rId1"/>
          <a:stretch/>
        </p:blipFill>
        <p:spPr>
          <a:xfrm>
            <a:off x="640080" y="1280160"/>
            <a:ext cx="6490800" cy="3976200"/>
          </a:xfrm>
          <a:prstGeom prst="rect">
            <a:avLst/>
          </a:prstGeom>
          <a:ln w="0">
            <a:noFill/>
          </a:ln>
        </p:spPr>
      </p:pic>
      <p:sp>
        <p:nvSpPr>
          <p:cNvPr id="589" name="TextBox 6"/>
          <p:cNvSpPr/>
          <p:nvPr/>
        </p:nvSpPr>
        <p:spPr>
          <a:xfrm>
            <a:off x="684000" y="5402880"/>
            <a:ext cx="287964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animação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0" name="TextBox 7"/>
          <p:cNvSpPr/>
          <p:nvPr/>
        </p:nvSpPr>
        <p:spPr>
          <a:xfrm>
            <a:off x="7200000" y="1417320"/>
            <a:ext cx="4860000" cy="72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• </a:t>
            </a: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O toro parece girar porque os ângulos globais mudam a cada quadro.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• </a:t>
            </a: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A rampa ASCII muda de caractere conforme a luz aparente da superfície.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1" name="Rounded Rectangle 8"/>
          <p:cNvSpPr/>
          <p:nvPr/>
        </p:nvSpPr>
        <p:spPr>
          <a:xfrm>
            <a:off x="7269480" y="3977640"/>
            <a:ext cx="4341960" cy="95868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angleAxial &lt;- angleAxial + axialStep * speedMultiplier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200" spc="-1" strike="noStrike">
                <a:solidFill>
                  <a:srgbClr val="f2f7fa"/>
                </a:solidFill>
                <a:latin typeface="Aptos"/>
                <a:ea typeface="DejaVu Sans"/>
              </a:rPr>
              <a:t>angleElevation &lt;- angleElevation + elevationStep * speedMultiplier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2" name="TextBox 9"/>
          <p:cNvSpPr/>
          <p:nvPr/>
        </p:nvSpPr>
        <p:spPr>
          <a:xfrm>
            <a:off x="1149156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18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Rectangle 1"/>
          <p:cNvSpPr/>
          <p:nvPr/>
        </p:nvSpPr>
        <p:spPr>
          <a:xfrm>
            <a:off x="0" y="0"/>
            <a:ext cx="12190320" cy="6856560"/>
          </a:xfrm>
          <a:prstGeom prst="rect">
            <a:avLst/>
          </a:prstGeom>
          <a:solidFill>
            <a:srgbClr val="07111f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94" name="Rectangle 2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595" name="TextBox 3"/>
          <p:cNvSpPr/>
          <p:nvPr/>
        </p:nvSpPr>
        <p:spPr>
          <a:xfrm>
            <a:off x="594360" y="311040"/>
            <a:ext cx="6472440" cy="48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600" spc="-1" strike="noStrike">
                <a:solidFill>
                  <a:srgbClr val="f2f7fa"/>
                </a:solidFill>
                <a:latin typeface="Aptos"/>
                <a:ea typeface="DejaVu Sans"/>
              </a:rPr>
              <a:t>Ângulos globais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6" name="TextBox 4"/>
          <p:cNvSpPr/>
          <p:nvPr/>
        </p:nvSpPr>
        <p:spPr>
          <a:xfrm>
            <a:off x="594360" y="822960"/>
            <a:ext cx="4985640" cy="264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50" spc="-1" strike="noStrike">
                <a:solidFill>
                  <a:srgbClr val="aabacd"/>
                </a:solidFill>
                <a:latin typeface="Aptos"/>
                <a:ea typeface="DejaVu Sans"/>
              </a:rPr>
              <a:t>Veja os cálculos de seno e cosseno usados na animação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597" name="Picture 5" descr="image.gif"/>
          <p:cNvPicPr/>
          <p:nvPr/>
        </p:nvPicPr>
        <p:blipFill>
          <a:blip r:embed="rId1"/>
          <a:stretch/>
        </p:blipFill>
        <p:spPr>
          <a:xfrm>
            <a:off x="594360" y="1325880"/>
            <a:ext cx="6399360" cy="4021920"/>
          </a:xfrm>
          <a:prstGeom prst="rect">
            <a:avLst/>
          </a:prstGeom>
          <a:ln w="0">
            <a:noFill/>
          </a:ln>
        </p:spPr>
      </p:pic>
      <p:sp>
        <p:nvSpPr>
          <p:cNvPr id="598" name="TextBox 6"/>
          <p:cNvSpPr/>
          <p:nvPr/>
        </p:nvSpPr>
        <p:spPr>
          <a:xfrm>
            <a:off x="2397960" y="5422320"/>
            <a:ext cx="2791800" cy="11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750" spc="-1" strike="noStrike">
                <a:solidFill>
                  <a:srgbClr val="aabacd"/>
                </a:solidFill>
                <a:latin typeface="Aptos"/>
                <a:ea typeface="DejaVu Sans"/>
              </a:rPr>
              <a:t>Fonte: animação gerada pelo autor com auxílio de IA ChatGPT</a:t>
            </a:r>
            <a:endParaRPr b="0" lang="pt-BR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9" name="TextBox 7"/>
          <p:cNvSpPr/>
          <p:nvPr/>
        </p:nvSpPr>
        <p:spPr>
          <a:xfrm>
            <a:off x="7904880" y="1371600"/>
            <a:ext cx="4139280" cy="136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A cada quadro, calcula-se: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2f7fa"/>
              </a:buClr>
              <a:buFont typeface="Symbol" charset="2"/>
              <a:buChar char=""/>
            </a:pP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cos(angleAxial)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2f7fa"/>
              </a:buClr>
              <a:buFont typeface="Symbol" charset="2"/>
              <a:buChar char=""/>
            </a:pP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sen(angleAxial)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2f7fa"/>
              </a:buClr>
              <a:buFont typeface="Symbol" charset="2"/>
              <a:buChar char=""/>
            </a:pP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cos(angleElevation)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f2f7fa"/>
              </a:buClr>
              <a:buFont typeface="Symbol" charset="2"/>
              <a:buChar char=""/>
            </a:pP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sen(angleElevation)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400" spc="-1" strike="noStrike">
                <a:solidFill>
                  <a:srgbClr val="f2f7fa"/>
                </a:solidFill>
                <a:latin typeface="Aptos"/>
                <a:ea typeface="DejaVu Sans"/>
              </a:rPr>
              <a:t>Esses valores entram nas rotações do ponto 3D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0" name="Rounded Rectangle 8"/>
          <p:cNvSpPr/>
          <p:nvPr/>
        </p:nvSpPr>
        <p:spPr>
          <a:xfrm>
            <a:off x="7223760" y="4916520"/>
            <a:ext cx="4406040" cy="97704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12600">
            <a:solidFill>
              <a:srgbClr val="22568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ptos"/>
                <a:ea typeface="DejaVu Sans"/>
              </a:rPr>
              <a:t>cosAxial = cos(angleAxial)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ptos"/>
                <a:ea typeface="DejaVu Sans"/>
              </a:rPr>
              <a:t>sinAxial = sen(angleAxial)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ptos"/>
                <a:ea typeface="DejaVu Sans"/>
              </a:rPr>
              <a:t>cosElevation = cos(angleElevation)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pt-BR" sz="1150" spc="-1" strike="noStrike">
                <a:solidFill>
                  <a:srgbClr val="f2f7fa"/>
                </a:solidFill>
                <a:latin typeface="Aptos"/>
                <a:ea typeface="DejaVu Sans"/>
              </a:rPr>
              <a:t>sinElevation = sen(angleElevation)</a:t>
            </a:r>
            <a:endParaRPr b="0" lang="pt-BR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1" name="TextBox 9"/>
          <p:cNvSpPr/>
          <p:nvPr/>
        </p:nvSpPr>
        <p:spPr>
          <a:xfrm>
            <a:off x="1296000" y="1481400"/>
            <a:ext cx="111888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400" spc="-1" strike="noStrike">
                <a:solidFill>
                  <a:srgbClr val="ffb22e"/>
                </a:solidFill>
                <a:latin typeface="Aptos"/>
                <a:ea typeface="DejaVu Sans"/>
              </a:rPr>
              <a:t>angleAxial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2" name="TextBox 10"/>
          <p:cNvSpPr/>
          <p:nvPr/>
        </p:nvSpPr>
        <p:spPr>
          <a:xfrm>
            <a:off x="5306400" y="3730680"/>
            <a:ext cx="1501200" cy="30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400" spc="-1" strike="noStrike">
                <a:solidFill>
                  <a:srgbClr val="37d9f5"/>
                </a:solidFill>
                <a:latin typeface="Aptos"/>
                <a:ea typeface="DejaVu Sans"/>
              </a:rPr>
              <a:t>angleElevation</a:t>
            </a:r>
            <a:endParaRPr b="0" lang="pt-BR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3" name="TextBox 11"/>
          <p:cNvSpPr/>
          <p:nvPr/>
        </p:nvSpPr>
        <p:spPr>
          <a:xfrm>
            <a:off x="1149156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19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Picture 7" descr="mapped_code_zoomout_wide_1.png"/>
          <p:cNvPicPr/>
          <p:nvPr/>
        </p:nvPicPr>
        <p:blipFill>
          <a:blip r:embed="rId1"/>
          <a:srcRect l="0" t="0" r="14828" b="0"/>
          <a:stretch/>
        </p:blipFill>
        <p:spPr>
          <a:xfrm>
            <a:off x="228600" y="777240"/>
            <a:ext cx="11650680" cy="5399640"/>
          </a:xfrm>
          <a:prstGeom prst="rect">
            <a:avLst/>
          </a:prstGeom>
          <a:ln w="0">
            <a:noFill/>
          </a:ln>
        </p:spPr>
      </p:pic>
      <p:sp>
        <p:nvSpPr>
          <p:cNvPr id="605" name="TextBox 1"/>
          <p:cNvSpPr/>
          <p:nvPr/>
        </p:nvSpPr>
        <p:spPr>
          <a:xfrm>
            <a:off x="843480" y="164520"/>
            <a:ext cx="57182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Toro ASCII em VisuAlg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6" name="TextBox 2"/>
          <p:cNvSpPr/>
          <p:nvPr/>
        </p:nvSpPr>
        <p:spPr>
          <a:xfrm>
            <a:off x="843480" y="475560"/>
            <a:ext cx="18244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aabacd"/>
                </a:solidFill>
                <a:latin typeface="Aptos"/>
                <a:ea typeface="DejaVu Sans"/>
              </a:rPr>
              <a:t>Trecho 1/4 — linhas 1–32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7" name="Rounded Rectangle 4">
            <a:hlinkClick r:id="rId2" action="ppaction://hlinksldjump"/>
          </p:cNvPr>
          <p:cNvSpPr/>
          <p:nvPr/>
        </p:nvSpPr>
        <p:spPr>
          <a:xfrm>
            <a:off x="1033272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Próximo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8" name="Rectangle 5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09" name="TextBox 6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20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0" name="Picture 8" descr="mapped_code_zoomout_wide_2.png"/>
          <p:cNvPicPr/>
          <p:nvPr/>
        </p:nvPicPr>
        <p:blipFill>
          <a:blip r:embed="rId1"/>
          <a:srcRect l="0" t="0" r="14828" b="0"/>
          <a:stretch/>
        </p:blipFill>
        <p:spPr>
          <a:xfrm>
            <a:off x="228600" y="720000"/>
            <a:ext cx="11650680" cy="5399640"/>
          </a:xfrm>
          <a:prstGeom prst="rect">
            <a:avLst/>
          </a:prstGeom>
          <a:ln w="0">
            <a:noFill/>
          </a:ln>
        </p:spPr>
      </p:pic>
      <p:sp>
        <p:nvSpPr>
          <p:cNvPr id="611" name="TextBox 1"/>
          <p:cNvSpPr/>
          <p:nvPr/>
        </p:nvSpPr>
        <p:spPr>
          <a:xfrm>
            <a:off x="843480" y="164520"/>
            <a:ext cx="57182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Toro ASCII em VisuAlg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2" name="TextBox 2"/>
          <p:cNvSpPr/>
          <p:nvPr/>
        </p:nvSpPr>
        <p:spPr>
          <a:xfrm>
            <a:off x="843480" y="475560"/>
            <a:ext cx="1903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aabacd"/>
                </a:solidFill>
                <a:latin typeface="Aptos"/>
                <a:ea typeface="DejaVu Sans"/>
              </a:rPr>
              <a:t>Trecho 2/4 — linhas 33–64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3" name="Rounded Rectangle 4">
            <a:hlinkClick r:id="rId2" action="ppaction://hlinksldjump"/>
          </p:cNvPr>
          <p:cNvSpPr/>
          <p:nvPr/>
        </p:nvSpPr>
        <p:spPr>
          <a:xfrm>
            <a:off x="928116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Anterior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4" name="Rounded Rectangle 5">
            <a:hlinkClick r:id="rId3" action="ppaction://hlinksldjump"/>
          </p:cNvPr>
          <p:cNvSpPr/>
          <p:nvPr/>
        </p:nvSpPr>
        <p:spPr>
          <a:xfrm>
            <a:off x="1033272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Próximo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5" name="Rectangle 6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16" name="TextBox 7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21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7" name="Picture 8" descr="mapped_code_zoomout_wide_3.png"/>
          <p:cNvPicPr/>
          <p:nvPr/>
        </p:nvPicPr>
        <p:blipFill>
          <a:blip r:embed="rId1"/>
          <a:srcRect l="0" t="0" r="16144" b="0"/>
          <a:stretch/>
        </p:blipFill>
        <p:spPr>
          <a:xfrm>
            <a:off x="228600" y="777240"/>
            <a:ext cx="11470680" cy="5399640"/>
          </a:xfrm>
          <a:prstGeom prst="rect">
            <a:avLst/>
          </a:prstGeom>
          <a:ln w="0">
            <a:noFill/>
          </a:ln>
        </p:spPr>
      </p:pic>
      <p:sp>
        <p:nvSpPr>
          <p:cNvPr id="618" name="TextBox 1"/>
          <p:cNvSpPr/>
          <p:nvPr/>
        </p:nvSpPr>
        <p:spPr>
          <a:xfrm>
            <a:off x="843480" y="164520"/>
            <a:ext cx="57182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Toro ASCII em VisuAlg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9" name="TextBox 2"/>
          <p:cNvSpPr/>
          <p:nvPr/>
        </p:nvSpPr>
        <p:spPr>
          <a:xfrm>
            <a:off x="843480" y="475560"/>
            <a:ext cx="190368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aabacd"/>
                </a:solidFill>
                <a:latin typeface="Aptos"/>
                <a:ea typeface="DejaVu Sans"/>
              </a:rPr>
              <a:t>Trecho 3/4 — linhas 65–96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0" name="Rounded Rectangle 4">
            <a:hlinkClick r:id="rId2" action="ppaction://hlinksldjump"/>
          </p:cNvPr>
          <p:cNvSpPr/>
          <p:nvPr/>
        </p:nvSpPr>
        <p:spPr>
          <a:xfrm>
            <a:off x="928116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Anterior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1" name="Rounded Rectangle 5">
            <a:hlinkClick r:id="rId3" action="ppaction://hlinksldjump"/>
          </p:cNvPr>
          <p:cNvSpPr/>
          <p:nvPr/>
        </p:nvSpPr>
        <p:spPr>
          <a:xfrm>
            <a:off x="1033272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Próximo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2" name="Rectangle 6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23" name="TextBox 7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22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4" name="Picture 8" descr="mapped_code_zoomout_wide_4.png"/>
          <p:cNvPicPr/>
          <p:nvPr/>
        </p:nvPicPr>
        <p:blipFill>
          <a:blip r:embed="rId1"/>
          <a:srcRect l="0" t="0" r="16144" b="0"/>
          <a:stretch/>
        </p:blipFill>
        <p:spPr>
          <a:xfrm>
            <a:off x="228600" y="777240"/>
            <a:ext cx="11470680" cy="5399640"/>
          </a:xfrm>
          <a:prstGeom prst="rect">
            <a:avLst/>
          </a:prstGeom>
          <a:ln w="0">
            <a:noFill/>
          </a:ln>
        </p:spPr>
      </p:pic>
      <p:sp>
        <p:nvSpPr>
          <p:cNvPr id="625" name="TextBox 1"/>
          <p:cNvSpPr/>
          <p:nvPr/>
        </p:nvSpPr>
        <p:spPr>
          <a:xfrm>
            <a:off x="843480" y="164520"/>
            <a:ext cx="5718240" cy="36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1800" spc="-1" strike="noStrike">
                <a:solidFill>
                  <a:srgbClr val="f0f6fa"/>
                </a:solidFill>
                <a:latin typeface="Aptos"/>
                <a:ea typeface="DejaVu Sans"/>
              </a:rPr>
              <a:t>Toro ASCII em VisuAlg</a:t>
            </a:r>
            <a:endParaRPr b="0" lang="pt-BR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6" name="TextBox 2"/>
          <p:cNvSpPr/>
          <p:nvPr/>
        </p:nvSpPr>
        <p:spPr>
          <a:xfrm>
            <a:off x="843480" y="475560"/>
            <a:ext cx="1984320" cy="2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100" spc="-1" strike="noStrike">
                <a:solidFill>
                  <a:srgbClr val="aabacd"/>
                </a:solidFill>
                <a:latin typeface="Aptos"/>
                <a:ea typeface="DejaVu Sans"/>
              </a:rPr>
              <a:t>Trecho 4/4 — linhas 97–130</a:t>
            </a:r>
            <a:endParaRPr b="0" lang="pt-BR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7" name="Rounded Rectangle 4">
            <a:hlinkClick r:id="rId2" action="ppaction://hlinksldjump"/>
          </p:cNvPr>
          <p:cNvSpPr/>
          <p:nvPr/>
        </p:nvSpPr>
        <p:spPr>
          <a:xfrm>
            <a:off x="928116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Anterior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8" name="Rounded Rectangle 5">
            <a:hlinkClick r:id="rId3" action="ppaction://hlinksldjump"/>
          </p:cNvPr>
          <p:cNvSpPr/>
          <p:nvPr/>
        </p:nvSpPr>
        <p:spPr>
          <a:xfrm>
            <a:off x="10332720" y="164520"/>
            <a:ext cx="958680" cy="309600"/>
          </a:xfrm>
          <a:prstGeom prst="roundRect">
            <a:avLst>
              <a:gd name="adj" fmla="val 16667"/>
            </a:avLst>
          </a:prstGeom>
          <a:solidFill>
            <a:srgbClr val="0b1a2b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b="1" lang="pt-BR" sz="950" spc="-1" strike="noStrike">
                <a:solidFill>
                  <a:srgbClr val="f0f6fa"/>
                </a:solidFill>
                <a:latin typeface="Aptos"/>
                <a:ea typeface="DejaVu Sans"/>
              </a:rPr>
              <a:t>Voltar</a:t>
            </a:r>
            <a:endParaRPr b="0" lang="pt-BR" sz="9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9" name="Rectangle 6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30" name="TextBox 7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23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Rectangle 2"/>
          <p:cNvSpPr/>
          <p:nvPr/>
        </p:nvSpPr>
        <p:spPr>
          <a:xfrm>
            <a:off x="640080" y="1600200"/>
            <a:ext cx="6033600" cy="44280"/>
          </a:xfrm>
          <a:prstGeom prst="rect">
            <a:avLst/>
          </a:prstGeom>
          <a:solidFill>
            <a:srgbClr val="ffb22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32" name="TextBox 3"/>
          <p:cNvSpPr/>
          <p:nvPr/>
        </p:nvSpPr>
        <p:spPr>
          <a:xfrm>
            <a:off x="640080" y="1051560"/>
            <a:ext cx="410724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f0f6fa"/>
                </a:solidFill>
                <a:latin typeface="Aptos"/>
                <a:ea typeface="DejaVu Sans"/>
              </a:rPr>
              <a:t>Perguntas e respostas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3" name="TextBox 4"/>
          <p:cNvSpPr/>
          <p:nvPr/>
        </p:nvSpPr>
        <p:spPr>
          <a:xfrm>
            <a:off x="640080" y="1965960"/>
            <a:ext cx="621648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0" lang="pt-BR" sz="1600" spc="-1" strike="noStrike">
                <a:solidFill>
                  <a:srgbClr val="aabacd"/>
                </a:solidFill>
                <a:latin typeface="Aptos"/>
                <a:ea typeface="DejaVu Sans"/>
              </a:rPr>
              <a:t>Espaço para perguntas, comentários e discussão.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4" name="Rectangle 5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35" name="TextBox 6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20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Rectangle 2"/>
          <p:cNvSpPr/>
          <p:nvPr/>
        </p:nvSpPr>
        <p:spPr>
          <a:xfrm>
            <a:off x="640080" y="1600200"/>
            <a:ext cx="6033600" cy="44280"/>
          </a:xfrm>
          <a:prstGeom prst="rect">
            <a:avLst/>
          </a:prstGeom>
          <a:solidFill>
            <a:srgbClr val="ffb22e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37" name="TextBox 3"/>
          <p:cNvSpPr/>
          <p:nvPr/>
        </p:nvSpPr>
        <p:spPr>
          <a:xfrm>
            <a:off x="640080" y="1051560"/>
            <a:ext cx="302076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r>
              <a:rPr b="1" lang="pt-BR" sz="2800" spc="-1" strike="noStrike">
                <a:solidFill>
                  <a:srgbClr val="f0f6fa"/>
                </a:solidFill>
                <a:latin typeface="Aptos"/>
                <a:ea typeface="DejaVu Sans"/>
              </a:rPr>
              <a:t>Muito obrigado!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8" name="Rectangle 5"/>
          <p:cNvSpPr/>
          <p:nvPr/>
        </p:nvSpPr>
        <p:spPr>
          <a:xfrm>
            <a:off x="0" y="6748200"/>
            <a:ext cx="12190320" cy="108360"/>
          </a:xfrm>
          <a:prstGeom prst="rect">
            <a:avLst/>
          </a:prstGeom>
          <a:solidFill>
            <a:srgbClr val="37d9f5"/>
          </a:solidFill>
          <a:ln w="648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ptos"/>
              <a:ea typeface="DejaVu Sans"/>
            </a:endParaRPr>
          </a:p>
        </p:txBody>
      </p:sp>
      <p:sp>
        <p:nvSpPr>
          <p:cNvPr id="639" name="TextBox 6"/>
          <p:cNvSpPr/>
          <p:nvPr/>
        </p:nvSpPr>
        <p:spPr>
          <a:xfrm>
            <a:off x="11544480" y="6565320"/>
            <a:ext cx="295920" cy="21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 defTabSz="914400">
              <a:lnSpc>
                <a:spcPct val="100000"/>
              </a:lnSpc>
            </a:pPr>
            <a:r>
              <a:rPr b="0" lang="pt-BR" sz="800" spc="-1" strike="noStrike">
                <a:solidFill>
                  <a:srgbClr val="aabacd"/>
                </a:solidFill>
                <a:latin typeface="Aptos"/>
                <a:ea typeface="DejaVu Sans"/>
              </a:rPr>
              <a:t>21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0" name=""/>
          <p:cNvSpPr/>
          <p:nvPr/>
        </p:nvSpPr>
        <p:spPr>
          <a:xfrm>
            <a:off x="640080" y="1980000"/>
            <a:ext cx="4399560" cy="36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pPr>
              <a:lnSpc>
                <a:spcPct val="100000"/>
              </a:lnSpc>
            </a:pPr>
            <a:r>
              <a:rPr b="0" lang="pt-BR" sz="1600" spc="-1" strike="noStrike">
                <a:solidFill>
                  <a:srgbClr val="aabacd"/>
                </a:solidFill>
                <a:latin typeface="Aptos"/>
                <a:ea typeface="DejaVu Sans"/>
              </a:rPr>
              <a:t>Muito obrigado pela atenção e participação!</a:t>
            </a:r>
            <a:endParaRPr b="0" lang="pt-BR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Rectangle 1"/>
          <p:cNvSpPr/>
          <p:nvPr/>
        </p:nvSpPr>
        <p:spPr>
          <a:xfrm>
            <a:off x="0" y="0"/>
            <a:ext cx="12191040" cy="685692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42" name="TextBox 2"/>
          <p:cNvSpPr/>
          <p:nvPr/>
        </p:nvSpPr>
        <p:spPr>
          <a:xfrm>
            <a:off x="4018320" y="365760"/>
            <a:ext cx="4123080" cy="51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1" lang="pt-BR" sz="2800" spc="-1" strike="noStrike">
                <a:solidFill>
                  <a:srgbClr val="f5f5f5"/>
                </a:solidFill>
                <a:latin typeface="Aptos Display"/>
                <a:ea typeface="DejaVu Sans"/>
              </a:rPr>
              <a:t>Páginas ocultas: código fonte</a:t>
            </a:r>
            <a:endParaRPr b="0" lang="pt-BR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3" name="TextBox 4"/>
          <p:cNvSpPr/>
          <p:nvPr/>
        </p:nvSpPr>
        <p:spPr>
          <a:xfrm>
            <a:off x="1823760" y="2011680"/>
            <a:ext cx="8518320" cy="42480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>
              <a:lnSpc>
                <a:spcPct val="100000"/>
              </a:lnSpc>
            </a:pPr>
            <a:r>
              <a:rPr b="0" lang="pt-BR" sz="2000" spc="-1" strike="noStrike">
                <a:solidFill>
                  <a:srgbClr val="f5f5f5"/>
                </a:solidFill>
                <a:latin typeface="Aptos"/>
                <a:ea typeface="DejaVu Sans"/>
              </a:rPr>
              <a:t>As páginas ocultas a seguir incluem o algoritmo completo, em formato legível.</a:t>
            </a:r>
            <a:endParaRPr b="0" lang="pt-BR" sz="2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Rectangle 1"/>
          <p:cNvSpPr/>
          <p:nvPr/>
        </p:nvSpPr>
        <p:spPr>
          <a:xfrm>
            <a:off x="594360" y="1051560"/>
            <a:ext cx="10972080" cy="4799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45" name="TextBox 2"/>
          <p:cNvSpPr/>
          <p:nvPr/>
        </p:nvSpPr>
        <p:spPr>
          <a:xfrm>
            <a:off x="685800" y="320040"/>
            <a:ext cx="6582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5f5f5"/>
                </a:solidFill>
                <a:latin typeface="Aptos Display"/>
                <a:ea typeface="DejaVu Sans"/>
              </a:rPr>
              <a:t>Código legível: torus-for-windows.alg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6" name="TextBox 3"/>
          <p:cNvSpPr/>
          <p:nvPr/>
        </p:nvSpPr>
        <p:spPr>
          <a:xfrm>
            <a:off x="685800" y="857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dcdcdc"/>
                </a:solidFill>
                <a:latin typeface="Aptos"/>
                <a:ea typeface="DejaVu Sans"/>
              </a:rPr>
              <a:t>Linhas 1–26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7" name="TextBox 4"/>
          <p:cNvSpPr/>
          <p:nvPr/>
        </p:nvSpPr>
        <p:spPr>
          <a:xfrm>
            <a:off x="594360" y="1627560"/>
            <a:ext cx="10972080" cy="4799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  algoritmo "torus_readable_windows"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  // Versão legível em VisuAlg da clássica animação ASCII de toro.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  // Alvo: console gráfico clássico do VisuAlg no Windows.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  // O código evita sequências ANSI de terminal e redesenha com limpatela.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  var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     angleAxial, angleElevation: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10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11     charBuffer: vetor[0..39, 0..118] de caractere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12     depthBuffer: vetor[0..39, 0..118] de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     piValue: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     axialStep, elevationStep: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16     speedMultiplier: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17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18     tubeIndex, ringIndex: inteiro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19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20     cosTube, sinTube: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21     sinRing, cosRing: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22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23     cosAxial, sinAxial: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24     cosElevation, sinElevation: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25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26     ringDistance, tubeYOffset: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8" name="TextBox 5"/>
          <p:cNvSpPr/>
          <p:nvPr/>
        </p:nvSpPr>
        <p:spPr>
          <a:xfrm>
            <a:off x="11064240" y="6492240"/>
            <a:ext cx="31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900" spc="-1" strike="noStrike">
                <a:solidFill>
                  <a:srgbClr val="b4b4b4"/>
                </a:solidFill>
                <a:latin typeface="Aptos"/>
                <a:ea typeface="DejaVu Sans"/>
              </a:rPr>
              <a:t>27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9" name="Rounded Rectangle 651">
            <a:hlinkClick r:id="rId1" action="ppaction://hlinksldjump"/>
          </p:cNvPr>
          <p:cNvSpPr/>
          <p:nvPr/>
        </p:nvSpPr>
        <p:spPr>
          <a:xfrm>
            <a:off x="921708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Próximo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0" name="Rounded Rectangle 652">
            <a:hlinkClick r:id="rId2" action="ppaction://hlinksldjump"/>
          </p:cNvPr>
          <p:cNvSpPr/>
          <p:nvPr/>
        </p:nvSpPr>
        <p:spPr>
          <a:xfrm>
            <a:off x="1028700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Voltar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594360" y="1051560"/>
            <a:ext cx="10972080" cy="4799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52" name="TextBox 2"/>
          <p:cNvSpPr/>
          <p:nvPr/>
        </p:nvSpPr>
        <p:spPr>
          <a:xfrm>
            <a:off x="685800" y="320040"/>
            <a:ext cx="6582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5f5f5"/>
                </a:solidFill>
                <a:latin typeface="Aptos Display"/>
                <a:ea typeface="DejaVu Sans"/>
              </a:rPr>
              <a:t>Código legível: torus-for-windows.alg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3" name="TextBox 3"/>
          <p:cNvSpPr/>
          <p:nvPr/>
        </p:nvSpPr>
        <p:spPr>
          <a:xfrm>
            <a:off x="685800" y="857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dcdcdc"/>
                </a:solidFill>
                <a:latin typeface="Aptos"/>
                <a:ea typeface="DejaVu Sans"/>
              </a:rPr>
              <a:t>Linhas 27–52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4" name="TextBox 4"/>
          <p:cNvSpPr/>
          <p:nvPr/>
        </p:nvSpPr>
        <p:spPr>
          <a:xfrm>
            <a:off x="594360" y="1699560"/>
            <a:ext cx="10972080" cy="4799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27     inverseDepth, rotatedY: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28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29     screenCol, screenRow: inteiro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30     shadeIndex: inteiro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31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32     shadeRamp: caractere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33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34     rowIndex, colIndex: inteiro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35     outputRow: caractere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36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37     sinTubeStep, cosTubeStep: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38     sinRingStep, cosRingStep: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39     tempTrig: real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40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41  inicio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42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43     piValue &lt;- 3.141592653589793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44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45     // Orientação inicial.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46     angleAxial &lt;- 1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47     angleElevation &lt;- 1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48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49     // Relação original da animação: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50     // 11 giros axiais para cada 5 giros de inclinação.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51     axialStep &lt;- (2 * piValue * 11) / 6280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52     elevationStep &lt;- (2 * piValue * 5) / 6280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5" name="TextBox 5"/>
          <p:cNvSpPr/>
          <p:nvPr/>
        </p:nvSpPr>
        <p:spPr>
          <a:xfrm>
            <a:off x="11064240" y="6492240"/>
            <a:ext cx="31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900" spc="-1" strike="noStrike">
                <a:solidFill>
                  <a:srgbClr val="b4b4b4"/>
                </a:solidFill>
                <a:latin typeface="Aptos"/>
                <a:ea typeface="DejaVu Sans"/>
              </a:rPr>
              <a:t>28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6" name="Rounded Rectangle 656">
            <a:hlinkClick r:id="rId1" action="ppaction://hlinksldjump"/>
          </p:cNvPr>
          <p:cNvSpPr/>
          <p:nvPr/>
        </p:nvSpPr>
        <p:spPr>
          <a:xfrm>
            <a:off x="814716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Anterior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7" name="Rounded Rectangle 657">
            <a:hlinkClick r:id="rId2" action="ppaction://hlinksldjump"/>
          </p:cNvPr>
          <p:cNvSpPr/>
          <p:nvPr/>
        </p:nvSpPr>
        <p:spPr>
          <a:xfrm>
            <a:off x="921708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Próximo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8" name="Rounded Rectangle 658">
            <a:hlinkClick r:id="rId3" action="ppaction://hlinksldjump"/>
          </p:cNvPr>
          <p:cNvSpPr/>
          <p:nvPr/>
        </p:nvSpPr>
        <p:spPr>
          <a:xfrm>
            <a:off x="1028700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Voltar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Rectangle 1"/>
          <p:cNvSpPr/>
          <p:nvPr/>
        </p:nvSpPr>
        <p:spPr>
          <a:xfrm>
            <a:off x="594360" y="1051560"/>
            <a:ext cx="10972080" cy="4799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60" name="TextBox 2"/>
          <p:cNvSpPr/>
          <p:nvPr/>
        </p:nvSpPr>
        <p:spPr>
          <a:xfrm>
            <a:off x="685800" y="320040"/>
            <a:ext cx="6582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5f5f5"/>
                </a:solidFill>
                <a:latin typeface="Aptos Display"/>
                <a:ea typeface="DejaVu Sans"/>
              </a:rPr>
              <a:t>Código legível: torus-for-windows.alg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1" name="TextBox 3"/>
          <p:cNvSpPr/>
          <p:nvPr/>
        </p:nvSpPr>
        <p:spPr>
          <a:xfrm>
            <a:off x="685800" y="857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dcdcdc"/>
                </a:solidFill>
                <a:latin typeface="Aptos"/>
                <a:ea typeface="DejaVu Sans"/>
              </a:rPr>
              <a:t>Linhas 53–78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2" name="TextBox 4"/>
          <p:cNvSpPr/>
          <p:nvPr/>
        </p:nvSpPr>
        <p:spPr>
          <a:xfrm>
            <a:off x="594360" y="1699560"/>
            <a:ext cx="10972080" cy="4799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53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54     // O console gráfico do VisuAlg é mais lento que uma animação em navegador/terminal,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55     // por isso cada quadro exibido avança mais a rotação.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56     speedMultiplier &lt;- 4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57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58     // Da sombra ao brilho.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59     shadeRamp &lt;- ".,-~:;=+!*#$%@"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60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61     // Passos fixos de amostragem para os laços do tubo e do anel.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62     sinTubeStep &lt;- sen(0.12)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63     cosTubeStep &lt;- cos(0.12)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64     sinRingStep &lt;- sen(0.04)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65     cosRingStep &lt;- cos(0.04)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66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67     enquanto (1 = 1)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68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69        // Calcula as duas rotações globais deste quadro.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70        cosAxial &lt;- cos(angleAxial)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71        sinAxial &lt;- sen(angleAxial)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72        cosElevation &lt;- cos(angleElevation)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73        sinElevation &lt;- sen(angleElevation)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74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75        // Limpa o buffer de tela e o buffer de profundidade.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76        para rowIndex de 0 ate 39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77           para colIndex de 0 ate 118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78              charBuffer[rowIndex, colIndex] &lt;- " "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3" name="TextBox 5"/>
          <p:cNvSpPr/>
          <p:nvPr/>
        </p:nvSpPr>
        <p:spPr>
          <a:xfrm>
            <a:off x="11064240" y="6492240"/>
            <a:ext cx="31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900" spc="-1" strike="noStrike">
                <a:solidFill>
                  <a:srgbClr val="b4b4b4"/>
                </a:solidFill>
                <a:latin typeface="Aptos"/>
                <a:ea typeface="DejaVu Sans"/>
              </a:rPr>
              <a:t>29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4" name="Rounded Rectangle 661">
            <a:hlinkClick r:id="rId1" action="ppaction://hlinksldjump"/>
          </p:cNvPr>
          <p:cNvSpPr/>
          <p:nvPr/>
        </p:nvSpPr>
        <p:spPr>
          <a:xfrm>
            <a:off x="814716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Anterior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5" name="Rounded Rectangle 662">
            <a:hlinkClick r:id="rId2" action="ppaction://hlinksldjump"/>
          </p:cNvPr>
          <p:cNvSpPr/>
          <p:nvPr/>
        </p:nvSpPr>
        <p:spPr>
          <a:xfrm>
            <a:off x="921708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Próximo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6" name="Rounded Rectangle 663">
            <a:hlinkClick r:id="rId3" action="ppaction://hlinksldjump"/>
          </p:cNvPr>
          <p:cNvSpPr/>
          <p:nvPr/>
        </p:nvSpPr>
        <p:spPr>
          <a:xfrm>
            <a:off x="1028700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Voltar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Rectangle 1"/>
          <p:cNvSpPr/>
          <p:nvPr/>
        </p:nvSpPr>
        <p:spPr>
          <a:xfrm>
            <a:off x="594360" y="1051560"/>
            <a:ext cx="10972080" cy="4799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68" name="TextBox 2"/>
          <p:cNvSpPr/>
          <p:nvPr/>
        </p:nvSpPr>
        <p:spPr>
          <a:xfrm>
            <a:off x="685800" y="320040"/>
            <a:ext cx="6582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5f5f5"/>
                </a:solidFill>
                <a:latin typeface="Aptos Display"/>
                <a:ea typeface="DejaVu Sans"/>
              </a:rPr>
              <a:t>Código legível: torus-for-windows.alg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9" name="TextBox 3"/>
          <p:cNvSpPr/>
          <p:nvPr/>
        </p:nvSpPr>
        <p:spPr>
          <a:xfrm>
            <a:off x="685800" y="857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dcdcdc"/>
                </a:solidFill>
                <a:latin typeface="Aptos"/>
                <a:ea typeface="DejaVu Sans"/>
              </a:rPr>
              <a:t>Linhas 79–104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0" name="TextBox 4"/>
          <p:cNvSpPr/>
          <p:nvPr/>
        </p:nvSpPr>
        <p:spPr>
          <a:xfrm>
            <a:off x="594360" y="1735560"/>
            <a:ext cx="10972080" cy="4799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79              depthBuffer[rowIndex, colIndex] &lt;- 0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80           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81        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82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83        // O laço do tubo começa no ângulo 0: cos=1, sen=0.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84        cosTube &lt;- 1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85        sinTube &lt;- 0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86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87        para tubeIndex de 0 ate 52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88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89           // O laço do anel começa no ângulo 0: cos=1, sen=0.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90           sinRing &lt;- 0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91           cosRing &lt;- 1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92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93           para ringIndex de 0 ate 157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94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95              // Geometria do toro: percorre o tubo e depois o anel.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96              ringDistance &lt;- 22 + 4.2 * cosTube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97              tubeYOffset &lt;- 4.2 * sinTube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98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 </a:t>
            </a: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99              // Perspectiva: pontos mais próximos recebem inverseDepth maior.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100              inverseDepth &lt;- 1 / (sinRing * ringDistance * sinAxial + tubeYOffset * cosAxial + 28)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101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102              // Rotaciona em torno do ângulo axial.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103              rotatedY &lt;- sinRing * ringDistance * cosAxial - tubeYOffset * sinAxial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104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1" name="TextBox 5"/>
          <p:cNvSpPr/>
          <p:nvPr/>
        </p:nvSpPr>
        <p:spPr>
          <a:xfrm>
            <a:off x="11064240" y="6492240"/>
            <a:ext cx="31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900" spc="-1" strike="noStrike">
                <a:solidFill>
                  <a:srgbClr val="b4b4b4"/>
                </a:solidFill>
                <a:latin typeface="Aptos"/>
                <a:ea typeface="DejaVu Sans"/>
              </a:rPr>
              <a:t>30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2" name="Rounded Rectangle 666">
            <a:hlinkClick r:id="rId1" action="ppaction://hlinksldjump"/>
          </p:cNvPr>
          <p:cNvSpPr/>
          <p:nvPr/>
        </p:nvSpPr>
        <p:spPr>
          <a:xfrm>
            <a:off x="814716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Anterior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3" name="Rounded Rectangle 667">
            <a:hlinkClick r:id="rId2" action="ppaction://hlinksldjump"/>
          </p:cNvPr>
          <p:cNvSpPr/>
          <p:nvPr/>
        </p:nvSpPr>
        <p:spPr>
          <a:xfrm>
            <a:off x="921708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Próximo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4" name="Rounded Rectangle 668">
            <a:hlinkClick r:id="rId3" action="ppaction://hlinksldjump"/>
          </p:cNvPr>
          <p:cNvSpPr/>
          <p:nvPr/>
        </p:nvSpPr>
        <p:spPr>
          <a:xfrm>
            <a:off x="1028700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Voltar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Rectangle 1"/>
          <p:cNvSpPr/>
          <p:nvPr/>
        </p:nvSpPr>
        <p:spPr>
          <a:xfrm>
            <a:off x="594360" y="1051560"/>
            <a:ext cx="10972080" cy="4799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76" name="TextBox 2"/>
          <p:cNvSpPr/>
          <p:nvPr/>
        </p:nvSpPr>
        <p:spPr>
          <a:xfrm>
            <a:off x="685800" y="320040"/>
            <a:ext cx="6582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5f5f5"/>
                </a:solidFill>
                <a:latin typeface="Aptos Display"/>
                <a:ea typeface="DejaVu Sans"/>
              </a:rPr>
              <a:t>Código legível: torus-for-windows.alg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7" name="TextBox 3"/>
          <p:cNvSpPr/>
          <p:nvPr/>
        </p:nvSpPr>
        <p:spPr>
          <a:xfrm>
            <a:off x="685800" y="857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dcdcdc"/>
                </a:solidFill>
                <a:latin typeface="Aptos"/>
                <a:ea typeface="DejaVu Sans"/>
              </a:rPr>
              <a:t>Linhas 105–130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8" name="TextBox 4"/>
          <p:cNvSpPr/>
          <p:nvPr/>
        </p:nvSpPr>
        <p:spPr>
          <a:xfrm>
            <a:off x="180000" y="1735560"/>
            <a:ext cx="12011760" cy="4799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105              // Projeta o ponto 3D na tela de texto 120 x 40.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106              screenCol &lt;- int(60 + 18 * inverseDepth * (cosRing * ringDistance * cosElevation - rotatedY * sinElevation))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107              screenRow &lt;- int(20 + 8 * inverseDepth * (cosRing * ringDistance * sinElevation + rotatedY * cosElevation))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108  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109              // Iluminação: converte a direção da superfície em índice na rampa ASCII.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110              </a:t>
            </a:r>
            <a:r>
              <a:rPr b="0" lang="pt-BR" sz="700" spc="-1" strike="noStrike">
                <a:solidFill>
                  <a:srgbClr val="ebebeb"/>
                </a:solidFill>
                <a:latin typeface="Consolas"/>
                <a:ea typeface="DejaVu Sans"/>
              </a:rPr>
              <a:t>shadeIndex &lt;- int(6 + 4.5 * ((sinTube * sinAxial - sinRing * cosTube * cosAxial) * cosElevation - sinRing * cosTube * sinAxial - sinTube * cosAxial - cosRing * cosTube * sinElevation))</a:t>
            </a:r>
            <a:endParaRPr b="0" lang="pt-BR" sz="7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111  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112              se (shadeIndex &lt; 0) entao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113                 shadeIndex &lt;- 0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114              fimse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115  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116              se (shadeIndex &gt; 13) entao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117                 shadeIndex &lt;- 13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118              fimse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119  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120              // Mantém os pontos dentro do console e guarda apenas o mais próximo por célula.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121              se (screenRow &gt;= 0) e (screenRow &lt; 40) e (screenCol &gt;= 0) e (screenCol &lt; 119) entao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122                 se (inverseDepth &gt; depthBuffer[screenRow, screenCol]) entao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123                    depthBuffer[screenRow, screenCol] &lt;- inverseDepth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124                    charBuffer[screenRow, screenCol] &lt;- copia(shadeRamp, shadeIndex + 1, 1)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125                 fimse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126              fimse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127  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128              // Avança sen/cos ao redor do anel sem chamar sen/cos novamente.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129              tempTrig &lt;- sinRing * cosRingStep + cosRing * sinRingStep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800" spc="-1" strike="noStrike">
                <a:solidFill>
                  <a:srgbClr val="ebebeb"/>
                </a:solidFill>
                <a:latin typeface="Consolas"/>
                <a:ea typeface="DejaVu Sans"/>
              </a:rPr>
              <a:t>130              cosRing &lt;- cosRing * cosRingStep - sinRing * sinRingStep</a:t>
            </a:r>
            <a:endParaRPr b="0" lang="pt-BR" sz="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9" name="TextBox 5"/>
          <p:cNvSpPr/>
          <p:nvPr/>
        </p:nvSpPr>
        <p:spPr>
          <a:xfrm>
            <a:off x="11064240" y="6492240"/>
            <a:ext cx="31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900" spc="-1" strike="noStrike">
                <a:solidFill>
                  <a:srgbClr val="b4b4b4"/>
                </a:solidFill>
                <a:latin typeface="Aptos"/>
                <a:ea typeface="DejaVu Sans"/>
              </a:rPr>
              <a:t>31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0" name="Rounded Rectangle 671">
            <a:hlinkClick r:id="rId1" action="ppaction://hlinksldjump"/>
          </p:cNvPr>
          <p:cNvSpPr/>
          <p:nvPr/>
        </p:nvSpPr>
        <p:spPr>
          <a:xfrm>
            <a:off x="814716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Anterior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Rounded Rectangle 672">
            <a:hlinkClick r:id="rId2" action="ppaction://hlinksldjump"/>
          </p:cNvPr>
          <p:cNvSpPr/>
          <p:nvPr/>
        </p:nvSpPr>
        <p:spPr>
          <a:xfrm>
            <a:off x="921708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Próximo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2" name="Rounded Rectangle 673">
            <a:hlinkClick r:id="rId3" action="ppaction://hlinksldjump"/>
          </p:cNvPr>
          <p:cNvSpPr/>
          <p:nvPr/>
        </p:nvSpPr>
        <p:spPr>
          <a:xfrm>
            <a:off x="1028700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Voltar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Rectangle 1"/>
          <p:cNvSpPr/>
          <p:nvPr/>
        </p:nvSpPr>
        <p:spPr>
          <a:xfrm>
            <a:off x="594360" y="1051560"/>
            <a:ext cx="10972080" cy="4799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84" name="TextBox 2"/>
          <p:cNvSpPr/>
          <p:nvPr/>
        </p:nvSpPr>
        <p:spPr>
          <a:xfrm>
            <a:off x="685800" y="320040"/>
            <a:ext cx="6582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5f5f5"/>
                </a:solidFill>
                <a:latin typeface="Aptos Display"/>
                <a:ea typeface="DejaVu Sans"/>
              </a:rPr>
              <a:t>Código legível: torus-for-windows.alg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5" name="TextBox 3"/>
          <p:cNvSpPr/>
          <p:nvPr/>
        </p:nvSpPr>
        <p:spPr>
          <a:xfrm>
            <a:off x="685800" y="857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dcdcdc"/>
                </a:solidFill>
                <a:latin typeface="Aptos"/>
                <a:ea typeface="DejaVu Sans"/>
              </a:rPr>
              <a:t>Linhas 131–156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6" name="TextBox 4"/>
          <p:cNvSpPr/>
          <p:nvPr/>
        </p:nvSpPr>
        <p:spPr>
          <a:xfrm>
            <a:off x="594360" y="1663560"/>
            <a:ext cx="10972080" cy="4799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131              sinRing &lt;- tempTrig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132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133           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134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135           // Avança sen/cos ao redor do tubo sem chamar sen/cos novamente.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136           tempTrig &lt;- sinTube * cosTubeStep + cosTube * sinTubeStep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137           cosTube &lt;- cosTube * cosTubeStep - sinTube * sinTubeStep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138           sinTube &lt;- tempTrig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139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140        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141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142        // Redesenha o console gráfico do VisuAlg, uma linha de texto por vez.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143        limpatela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144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145        para rowIndex de 0 ate 39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146           outputRow &lt;- ""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147           para colIndex de 0 ate 118 faca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148              outputRow &lt;- outputRow + charBuffer[rowIndex, colIndex]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149           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150           escreval(outputRow)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151        fimpara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152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153        // O movimento acontece aqui: avança os dois ângulos antes do próximo quadro.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154        angleAxial &lt;- angleAxial + axialStep * speedMultiplier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155        angleElevation &lt;- angleElevation + elevationStep * speedMultiplier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156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7" name="TextBox 5"/>
          <p:cNvSpPr/>
          <p:nvPr/>
        </p:nvSpPr>
        <p:spPr>
          <a:xfrm>
            <a:off x="11064240" y="6492240"/>
            <a:ext cx="31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900" spc="-1" strike="noStrike">
                <a:solidFill>
                  <a:srgbClr val="b4b4b4"/>
                </a:solidFill>
                <a:latin typeface="Aptos"/>
                <a:ea typeface="DejaVu Sans"/>
              </a:rPr>
              <a:t>32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Rounded Rectangle 676">
            <a:hlinkClick r:id="rId1" action="ppaction://hlinksldjump"/>
          </p:cNvPr>
          <p:cNvSpPr/>
          <p:nvPr/>
        </p:nvSpPr>
        <p:spPr>
          <a:xfrm>
            <a:off x="814716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Anterior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9" name="Rounded Rectangle 677">
            <a:hlinkClick r:id="rId2" action="ppaction://hlinksldjump"/>
          </p:cNvPr>
          <p:cNvSpPr/>
          <p:nvPr/>
        </p:nvSpPr>
        <p:spPr>
          <a:xfrm>
            <a:off x="921708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Próximo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0" name="Rounded Rectangle 678">
            <a:hlinkClick r:id="rId3" action="ppaction://hlinksldjump"/>
          </p:cNvPr>
          <p:cNvSpPr/>
          <p:nvPr/>
        </p:nvSpPr>
        <p:spPr>
          <a:xfrm>
            <a:off x="1028700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Voltar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Rectangle 1"/>
          <p:cNvSpPr/>
          <p:nvPr/>
        </p:nvSpPr>
        <p:spPr>
          <a:xfrm>
            <a:off x="594360" y="1051560"/>
            <a:ext cx="10972080" cy="4799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pt-BR" sz="1800" spc="-1" strike="noStrike">
              <a:solidFill>
                <a:schemeClr val="lt1"/>
              </a:solidFill>
              <a:latin typeface="Arial"/>
              <a:ea typeface="DejaVu Sans"/>
            </a:endParaRPr>
          </a:p>
        </p:txBody>
      </p:sp>
      <p:sp>
        <p:nvSpPr>
          <p:cNvPr id="692" name="TextBox 2"/>
          <p:cNvSpPr/>
          <p:nvPr/>
        </p:nvSpPr>
        <p:spPr>
          <a:xfrm>
            <a:off x="685800" y="320040"/>
            <a:ext cx="658296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1" lang="pt-BR" sz="2600" spc="-1" strike="noStrike">
                <a:solidFill>
                  <a:srgbClr val="f5f5f5"/>
                </a:solidFill>
                <a:latin typeface="Aptos Display"/>
                <a:ea typeface="DejaVu Sans"/>
              </a:rPr>
              <a:t>Código legível: torus-for-windows.alg</a:t>
            </a:r>
            <a:endParaRPr b="0" lang="pt-B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3" name="TextBox 3"/>
          <p:cNvSpPr/>
          <p:nvPr/>
        </p:nvSpPr>
        <p:spPr>
          <a:xfrm>
            <a:off x="685800" y="857160"/>
            <a:ext cx="1828080" cy="25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300" spc="-1" strike="noStrike">
                <a:solidFill>
                  <a:srgbClr val="dcdcdc"/>
                </a:solidFill>
                <a:latin typeface="Aptos"/>
                <a:ea typeface="DejaVu Sans"/>
              </a:rPr>
              <a:t>Linhas 157–159</a:t>
            </a:r>
            <a:endParaRPr b="0" lang="pt-BR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4" name="TextBox 4"/>
          <p:cNvSpPr/>
          <p:nvPr/>
        </p:nvSpPr>
        <p:spPr>
          <a:xfrm>
            <a:off x="594360" y="1663560"/>
            <a:ext cx="10972080" cy="47998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73080" rIns="73080" tIns="45000" bIns="45000" anchor="t">
            <a:noAutofit/>
          </a:bodyPr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157     fimenquanto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158  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pt-BR" sz="1000" spc="-1" strike="noStrike">
                <a:solidFill>
                  <a:srgbClr val="ebebeb"/>
                </a:solidFill>
                <a:latin typeface="Consolas"/>
                <a:ea typeface="DejaVu Sans"/>
              </a:rPr>
              <a:t>159  fimalgoritmo</a:t>
            </a:r>
            <a:endParaRPr b="0" lang="pt-BR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TextBox 5"/>
          <p:cNvSpPr/>
          <p:nvPr/>
        </p:nvSpPr>
        <p:spPr>
          <a:xfrm>
            <a:off x="11064240" y="6492240"/>
            <a:ext cx="31932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r">
              <a:lnSpc>
                <a:spcPct val="100000"/>
              </a:lnSpc>
            </a:pPr>
            <a:r>
              <a:rPr b="0" lang="pt-BR" sz="900" spc="-1" strike="noStrike">
                <a:solidFill>
                  <a:srgbClr val="b4b4b4"/>
                </a:solidFill>
                <a:latin typeface="Aptos"/>
                <a:ea typeface="DejaVu Sans"/>
              </a:rPr>
              <a:t>33</a:t>
            </a:r>
            <a:endParaRPr b="0" lang="pt-BR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6" name="Rounded Rectangle 681">
            <a:hlinkClick r:id="rId1" action="ppaction://hlinksldjump"/>
          </p:cNvPr>
          <p:cNvSpPr/>
          <p:nvPr/>
        </p:nvSpPr>
        <p:spPr>
          <a:xfrm>
            <a:off x="921708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Anterior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7" name="Rounded Rectangle 682">
            <a:hlinkClick r:id="rId2" action="ppaction://hlinksldjump"/>
          </p:cNvPr>
          <p:cNvSpPr/>
          <p:nvPr/>
        </p:nvSpPr>
        <p:spPr>
          <a:xfrm>
            <a:off x="10287000" y="164520"/>
            <a:ext cx="959400" cy="310320"/>
          </a:xfrm>
          <a:prstGeom prst="roundRect">
            <a:avLst>
              <a:gd name="adj" fmla="val 16667"/>
            </a:avLst>
          </a:prstGeom>
          <a:solidFill>
            <a:srgbClr val="2196f3"/>
          </a:solidFill>
          <a:ln w="12700">
            <a:solidFill>
              <a:srgbClr val="64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36720" rIns="36720" tIns="18360" bIns="18360" anchor="ctr">
            <a:noAutofit/>
          </a:bodyPr>
          <a:p>
            <a:pPr algn="ctr">
              <a:lnSpc>
                <a:spcPct val="100000"/>
              </a:lnSpc>
            </a:pPr>
            <a:r>
              <a:rPr b="1" lang="pt-BR" sz="1200" spc="-1" strike="noStrike">
                <a:solidFill>
                  <a:srgbClr val="ffffff"/>
                </a:solidFill>
                <a:latin typeface="Aptos"/>
                <a:ea typeface="DejaVu Sans"/>
              </a:rPr>
              <a:t>Voltar</a:t>
            </a:r>
            <a:endParaRPr b="0" lang="pt-BR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Application>LibreOffice/24.2.7.2$Linux_X86_64 LibreOffice_project/420$Build-2</Application>
  <AppVersion>15.0000</AppVersion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2026-09-26T17:52:44Z</dcterms:created>
  <dc:creator>OpenAI</dc:creator>
  <dc:description/>
  <dc:language>pt-BR</dc:language>
  <cp:lastModifiedBy/>
  <dcterms:modified xsi:type="dcterms:W3CDTF">2026-09-27T01:39:09Z</dcterms:modified>
  <cp:revision>24</cp:revision>
  <dc:subject>Como o toro ASCII funciona em VisuAlg</dc:subject>
  <dc:title>Como o toro funciona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15</vt:r8>
  </property>
  <property fmtid="{D5CDD505-2E9C-101B-9397-08002B2CF9AE}" pid="3" name="PresentationFormat">
    <vt:lpwstr>On-screen Show (16:9)</vt:lpwstr>
  </property>
  <property fmtid="{D5CDD505-2E9C-101B-9397-08002B2CF9AE}" pid="4" name="Slides">
    <vt:r8>15</vt:r8>
  </property>
</Properties>
</file>