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1.gif" ContentType="image/gif"/>
  <Override PartName="/ppt/media/image9.png" ContentType="image/png"/>
  <Override PartName="/ppt/media/image20.png" ContentType="image/png"/>
  <Override PartName="/ppt/media/image12.png" ContentType="image/png"/>
  <Override PartName="/ppt/media/image8.png" ContentType="image/png"/>
  <Override PartName="/ppt/media/image17.png" ContentType="image/png"/>
  <Override PartName="/ppt/media/image10.png" ContentType="image/png"/>
  <Override PartName="/ppt/media/image6.png" ContentType="image/png"/>
  <Override PartName="/ppt/media/image3.gif" ContentType="image/gif"/>
  <Override PartName="/ppt/media/image15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2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media/image18.gif" ContentType="image/gif"/>
  <Override PartName="/ppt/media/image23.png" ContentType="image/png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9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sl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A883346-8B46-4A8A-B3C8-B64E4F762422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85D701-C8AA-4508-BAC0-C47495A480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F36A4D-F287-499E-BE5E-C4E13CF39B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E3CFC9-4E89-4A12-9E2F-D6FC50045B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661B69-1702-4A95-BFC7-49EEF7FC55B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C7DB83-2504-4A11-8331-4F7CBD05F1C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B35373-1D95-40C0-B58D-1973D7E3297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B319D8-38BC-4E92-891C-E7B681E5F75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25F658-ED3C-4C4B-9D00-41FC350E01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7B234C-049A-470F-9C04-7EEEF03E43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9847E7-F362-4DEE-9F25-790E54F2D4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263403-1098-42A5-8BC1-F97437B9A95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D3DD57-7C8C-4761-957E-8258EB6A08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3B51D4-ED18-43CA-9C3E-EA78E1D749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A32365-3155-4C93-9C4A-28D6C94E056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6615F9-C8D2-46F5-A177-C8B67B4A06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gif"/><Relationship Id="rId3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" Target="slide27.xml"/><Relationship Id="rId2" Type="http://schemas.openxmlformats.org/officeDocument/2006/relationships/slide" Target="slide20.xml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" Target="slide16.xml"/><Relationship Id="rId3" Type="http://schemas.openxmlformats.org/officeDocument/2006/relationships/slide" Target="slide16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" Target="slide12.xml"/><Relationship Id="rId2" Type="http://schemas.openxmlformats.org/officeDocument/2006/relationships/slide" Target="slide12.xml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slide" Target="slide14.xm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" Target="slide12.xml"/><Relationship Id="rId3" Type="http://schemas.openxmlformats.org/officeDocument/2006/relationships/slide" Target="slide12.xml"/><Relationship Id="rId4" Type="http://schemas.openxmlformats.org/officeDocument/2006/relationships/slide" Target="slide16.xml"/><Relationship Id="rId5" Type="http://schemas.openxmlformats.org/officeDocument/2006/relationships/slide" Target="slide16.xml"/><Relationship Id="rId6" Type="http://schemas.openxmlformats.org/officeDocument/2006/relationships/slide" Target="slide15.xml"/><Relationship Id="rId7" Type="http://schemas.openxmlformats.org/officeDocument/2006/relationships/slide" Target="slide15.xml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" Target="slide11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" Target="slide11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" Target="slide11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" Target="slide11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" Target="slide11.xml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8.gif"/><Relationship Id="rId2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" Target="slide21.xml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2.xml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" Target="slide21.xml"/><Relationship Id="rId2" Type="http://schemas.openxmlformats.org/officeDocument/2006/relationships/slide" Target="slide23.xml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" Target="slide3.xml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" Target="slide3.xml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" Target="slide27.xml"/><Relationship Id="rId2" Type="http://schemas.openxmlformats.org/officeDocument/2006/relationships/slide" Target="slide29.xml"/><Relationship Id="rId3" Type="http://schemas.openxmlformats.org/officeDocument/2006/relationships/slide" Target="slide3.xml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" Target="slide30.xml"/><Relationship Id="rId3" Type="http://schemas.openxmlformats.org/officeDocument/2006/relationships/slide" Target="slide3.xml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31.xml"/><Relationship Id="rId3" Type="http://schemas.openxmlformats.org/officeDocument/2006/relationships/slide" Target="slide3.xml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" Target="slide30.xml"/><Relationship Id="rId2" Type="http://schemas.openxmlformats.org/officeDocument/2006/relationships/slide" Target="slide32.xml"/><Relationship Id="rId3" Type="http://schemas.openxmlformats.org/officeDocument/2006/relationships/slide" Target="slide3.xml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" Target="slide31.xml"/><Relationship Id="rId2" Type="http://schemas.openxmlformats.org/officeDocument/2006/relationships/slide" Target="slide33.xml"/><Relationship Id="rId3" Type="http://schemas.openxmlformats.org/officeDocument/2006/relationships/slide" Target="slide3.xml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" Target="slide3.xml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" descr="image.gif"/>
          <p:cNvPicPr/>
          <p:nvPr/>
        </p:nvPicPr>
        <p:blipFill>
          <a:blip r:embed="rId1"/>
          <a:stretch/>
        </p:blipFill>
        <p:spPr>
          <a:xfrm>
            <a:off x="0" y="0"/>
            <a:ext cx="12189600" cy="6855840"/>
          </a:xfrm>
          <a:prstGeom prst="rect">
            <a:avLst/>
          </a:prstGeom>
          <a:ln w="0">
            <a:noFill/>
          </a:ln>
        </p:spPr>
      </p:pic>
      <p:sp>
        <p:nvSpPr>
          <p:cNvPr id="18" name="TextBox 2"/>
          <p:cNvSpPr/>
          <p:nvPr/>
        </p:nvSpPr>
        <p:spPr>
          <a:xfrm>
            <a:off x="6720840" y="384120"/>
            <a:ext cx="46627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2500" spc="-1" strike="noStrike">
                <a:solidFill>
                  <a:srgbClr val="f2f7fa"/>
                </a:solidFill>
                <a:latin typeface="Arial"/>
                <a:ea typeface="DejaVu Sans"/>
              </a:rPr>
              <a:t>Ascii Torus in VisuAlg</a:t>
            </a:r>
            <a:endParaRPr b="0" lang="pt-BR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Box 3"/>
          <p:cNvSpPr/>
          <p:nvPr/>
        </p:nvSpPr>
        <p:spPr>
          <a:xfrm>
            <a:off x="1733400" y="5961960"/>
            <a:ext cx="312660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050" spc="-1" strike="noStrike">
                <a:solidFill>
                  <a:srgbClr val="aabacd"/>
                </a:solidFill>
                <a:latin typeface="Aptos"/>
                <a:ea typeface="DejaVu Sans"/>
              </a:rPr>
              <a:t>Roger</a:t>
            </a:r>
            <a:r>
              <a:rPr b="0" lang="pt-BR" sz="1050" spc="-1" strike="noStrike">
                <a:solidFill>
                  <a:srgbClr val="aabacd"/>
                </a:solidFill>
                <a:latin typeface="Aptos"/>
                <a:ea typeface="DejaVu Sans"/>
              </a:rPr>
              <a:t>io O. </a:t>
            </a:r>
            <a:r>
              <a:rPr b="0" lang="pt-BR" sz="1050" spc="-1" strike="noStrike">
                <a:solidFill>
                  <a:srgbClr val="aabacd"/>
                </a:solidFill>
                <a:latin typeface="Aptos"/>
                <a:ea typeface="DejaVu Sans"/>
              </a:rPr>
              <a:t>Ferraz </a:t>
            </a:r>
            <a:r>
              <a:rPr b="0" lang="pt-BR" sz="1050" spc="-1" strike="noStrike">
                <a:solidFill>
                  <a:srgbClr val="aabacd"/>
                </a:solidFill>
                <a:latin typeface="Aptos"/>
                <a:ea typeface="DejaVu Sans"/>
              </a:rPr>
              <a:t>(roger</a:t>
            </a:r>
            <a:r>
              <a:rPr b="0" lang="pt-BR" sz="1050" spc="-1" strike="noStrike">
                <a:solidFill>
                  <a:srgbClr val="aabacd"/>
                </a:solidFill>
                <a:latin typeface="Aptos"/>
                <a:ea typeface="DejaVu Sans"/>
              </a:rPr>
              <a:t>io.o.fe</a:t>
            </a:r>
            <a:r>
              <a:rPr b="0" lang="pt-BR" sz="1050" spc="-1" strike="noStrike">
                <a:solidFill>
                  <a:srgbClr val="aabacd"/>
                </a:solidFill>
                <a:latin typeface="Aptos"/>
                <a:ea typeface="DejaVu Sans"/>
              </a:rPr>
              <a:t>rraz@</a:t>
            </a:r>
            <a:r>
              <a:rPr b="0" lang="pt-BR" sz="1050" spc="-1" strike="noStrike">
                <a:solidFill>
                  <a:srgbClr val="aabacd"/>
                </a:solidFill>
                <a:latin typeface="Aptos"/>
                <a:ea typeface="DejaVu Sans"/>
              </a:rPr>
              <a:t>gmail.</a:t>
            </a:r>
            <a:r>
              <a:rPr b="0" lang="pt-BR" sz="1050" spc="-1" strike="noStrike">
                <a:solidFill>
                  <a:srgbClr val="aabacd"/>
                </a:solidFill>
                <a:latin typeface="Aptos"/>
                <a:ea typeface="DejaVu Sans"/>
              </a:rPr>
              <a:t>com)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ectangle 4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21" name="TextBox 5"/>
          <p:cNvSpPr/>
          <p:nvPr/>
        </p:nvSpPr>
        <p:spPr>
          <a:xfrm>
            <a:off x="11544480" y="6565320"/>
            <a:ext cx="295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01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1"/>
          <p:cNvSpPr/>
          <p:nvPr/>
        </p:nvSpPr>
        <p:spPr>
          <a:xfrm>
            <a:off x="529560" y="311040"/>
            <a:ext cx="10332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2500" spc="-1" strike="noStrike">
                <a:solidFill>
                  <a:srgbClr val="f2f7fa"/>
                </a:solidFill>
                <a:latin typeface="Arial"/>
                <a:ea typeface="DejaVu Sans"/>
              </a:rPr>
              <a:t>1. The classic: Have a donut (2006)</a:t>
            </a:r>
            <a:endParaRPr b="0" lang="pt-BR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Rectangle 2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24" name="TextBox 3"/>
          <p:cNvSpPr/>
          <p:nvPr/>
        </p:nvSpPr>
        <p:spPr>
          <a:xfrm>
            <a:off x="11544480" y="6565320"/>
            <a:ext cx="295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02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Box 4"/>
          <p:cNvSpPr/>
          <p:nvPr/>
        </p:nvSpPr>
        <p:spPr>
          <a:xfrm>
            <a:off x="530280" y="841320"/>
            <a:ext cx="10330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Andy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Sloan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e’s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classi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c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donut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blend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s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obfus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cated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C,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ASCII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anim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ation,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and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visual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math.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Box 11"/>
          <p:cNvSpPr/>
          <p:nvPr/>
        </p:nvSpPr>
        <p:spPr>
          <a:xfrm>
            <a:off x="5761800" y="6016680"/>
            <a:ext cx="47541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020" spc="-1" strike="noStrike">
                <a:solidFill>
                  <a:srgbClr val="aabacd"/>
                </a:solidFill>
                <a:latin typeface="Arial"/>
                <a:ea typeface="DejaVu Sans"/>
              </a:rPr>
              <a:t>Credits: Andy Sloane —</a:t>
            </a:r>
            <a:endParaRPr b="0" lang="pt-BR" sz="102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20" spc="-1" strike="noStrike">
                <a:solidFill>
                  <a:srgbClr val="aabacd"/>
                </a:solidFill>
                <a:latin typeface="Arial"/>
                <a:ea typeface="DejaVu Sans"/>
              </a:rPr>
              <a:t>“</a:t>
            </a:r>
            <a:r>
              <a:rPr b="0" lang="pt-BR" sz="1020" spc="-1" strike="noStrike">
                <a:solidFill>
                  <a:srgbClr val="aabacd"/>
                </a:solidFill>
                <a:latin typeface="Arial"/>
                <a:ea typeface="DejaVu Sans"/>
              </a:rPr>
              <a:t>Have a donut.” (2006) and “Donut math: how donut.c works” (2011)</a:t>
            </a:r>
            <a:endParaRPr b="0" lang="pt-BR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Box 12"/>
          <p:cNvSpPr/>
          <p:nvPr/>
        </p:nvSpPr>
        <p:spPr>
          <a:xfrm>
            <a:off x="1591560" y="1461240"/>
            <a:ext cx="2538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Ob</a:t>
            </a: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fus</a:t>
            </a: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cat</a:t>
            </a: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ed </a:t>
            </a: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C </a:t>
            </a: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Do</a:t>
            </a: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nut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Box 13"/>
          <p:cNvSpPr/>
          <p:nvPr/>
        </p:nvSpPr>
        <p:spPr>
          <a:xfrm>
            <a:off x="1906560" y="6217920"/>
            <a:ext cx="1908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Source: “Have a donut.” (Sloane, 2006)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" name="Picture 14" descr="image.png"/>
          <p:cNvPicPr/>
          <p:nvPr/>
        </p:nvPicPr>
        <p:blipFill>
          <a:blip r:embed="rId1"/>
          <a:stretch/>
        </p:blipFill>
        <p:spPr>
          <a:xfrm>
            <a:off x="713160" y="1874520"/>
            <a:ext cx="4295520" cy="4295520"/>
          </a:xfrm>
          <a:prstGeom prst="rect">
            <a:avLst/>
          </a:prstGeom>
          <a:ln w="0">
            <a:noFill/>
          </a:ln>
        </p:spPr>
      </p:pic>
      <p:sp>
        <p:nvSpPr>
          <p:cNvPr id="30" name="TextBox 15"/>
          <p:cNvSpPr/>
          <p:nvPr/>
        </p:nvSpPr>
        <p:spPr>
          <a:xfrm>
            <a:off x="7454160" y="1461240"/>
            <a:ext cx="13690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f2f7fa"/>
                </a:solidFill>
                <a:latin typeface="Arial"/>
                <a:ea typeface="DejaVu Sans"/>
              </a:rPr>
              <a:t>Animation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" name="Picture 16" descr="image.gif"/>
          <p:cNvPicPr/>
          <p:nvPr/>
        </p:nvPicPr>
        <p:blipFill>
          <a:blip r:embed="rId2"/>
          <a:stretch/>
        </p:blipFill>
        <p:spPr>
          <a:xfrm>
            <a:off x="5739480" y="1810440"/>
            <a:ext cx="4798440" cy="2878200"/>
          </a:xfrm>
          <a:prstGeom prst="rect">
            <a:avLst/>
          </a:prstGeom>
          <a:ln w="0">
            <a:noFill/>
          </a:ln>
        </p:spPr>
      </p:pic>
      <p:sp>
        <p:nvSpPr>
          <p:cNvPr id="32" name="Rounded Rectangle 17"/>
          <p:cNvSpPr/>
          <p:nvPr/>
        </p:nvSpPr>
        <p:spPr>
          <a:xfrm>
            <a:off x="5771520" y="5113800"/>
            <a:ext cx="4734360" cy="7840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f2f7fa"/>
                </a:solidFill>
                <a:latin typeface="Arial"/>
                <a:ea typeface="DejaVu Sans"/>
              </a:rPr>
              <a:t>The original donut and this VisuAlg torus share the same core idea: two rotation angles, text projection, and an ASCII brightness ramp.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Box 18"/>
          <p:cNvSpPr/>
          <p:nvPr/>
        </p:nvSpPr>
        <p:spPr>
          <a:xfrm>
            <a:off x="7093440" y="4799520"/>
            <a:ext cx="209052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Source: 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“How 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donut.c 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works” 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(Sloane, 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2011)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"/>
          <p:cNvSpPr/>
          <p:nvPr/>
        </p:nvSpPr>
        <p:spPr>
          <a:xfrm>
            <a:off x="540000" y="311040"/>
            <a:ext cx="41601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400" spc="-1" strike="noStrike">
                <a:solidFill>
                  <a:srgbClr val="ffffff"/>
                </a:solidFill>
                <a:latin typeface="Arial"/>
                <a:ea typeface="DejaVu Sans"/>
              </a:rPr>
              <a:t>2. ASCII Torus in VisuAlg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Rectangle 2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36" name="TextBox 3"/>
          <p:cNvSpPr/>
          <p:nvPr/>
        </p:nvSpPr>
        <p:spPr>
          <a:xfrm>
            <a:off x="11544480" y="6565320"/>
            <a:ext cx="295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03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Box 7"/>
          <p:cNvSpPr/>
          <p:nvPr/>
        </p:nvSpPr>
        <p:spPr>
          <a:xfrm rot="30000">
            <a:off x="6842880" y="1572480"/>
            <a:ext cx="233604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200" spc="-1" strike="noStrike">
                <a:solidFill>
                  <a:srgbClr val="f2f7fa"/>
                </a:solidFill>
                <a:latin typeface="Aptos"/>
                <a:ea typeface="DejaVu Sans"/>
              </a:rPr>
              <a:t>W</a:t>
            </a:r>
            <a:r>
              <a:rPr b="1" lang="pt-BR" sz="2200" spc="-1" strike="noStrike">
                <a:solidFill>
                  <a:srgbClr val="f2f7fa"/>
                </a:solidFill>
                <a:latin typeface="Aptos"/>
                <a:ea typeface="DejaVu Sans"/>
              </a:rPr>
              <a:t>ha</a:t>
            </a:r>
            <a:r>
              <a:rPr b="1" lang="pt-BR" sz="2200" spc="-1" strike="noStrike">
                <a:solidFill>
                  <a:srgbClr val="f2f7fa"/>
                </a:solidFill>
                <a:latin typeface="Aptos"/>
                <a:ea typeface="DejaVu Sans"/>
              </a:rPr>
              <a:t>t </a:t>
            </a:r>
            <a:r>
              <a:rPr b="1" lang="pt-BR" sz="2200" spc="-1" strike="noStrike">
                <a:solidFill>
                  <a:srgbClr val="f2f7fa"/>
                </a:solidFill>
                <a:latin typeface="Aptos"/>
                <a:ea typeface="DejaVu Sans"/>
              </a:rPr>
              <a:t>ch</a:t>
            </a:r>
            <a:r>
              <a:rPr b="1" lang="pt-BR" sz="2200" spc="-1" strike="noStrike">
                <a:solidFill>
                  <a:srgbClr val="f2f7fa"/>
                </a:solidFill>
                <a:latin typeface="Aptos"/>
                <a:ea typeface="DejaVu Sans"/>
              </a:rPr>
              <a:t>an</a:t>
            </a:r>
            <a:r>
              <a:rPr b="1" lang="pt-BR" sz="2200" spc="-1" strike="noStrike">
                <a:solidFill>
                  <a:srgbClr val="f2f7fa"/>
                </a:solidFill>
                <a:latin typeface="Aptos"/>
                <a:ea typeface="DejaVu Sans"/>
              </a:rPr>
              <a:t>ge</a:t>
            </a:r>
            <a:r>
              <a:rPr b="1" lang="pt-BR" sz="2200" spc="-1" strike="noStrike">
                <a:solidFill>
                  <a:srgbClr val="f2f7fa"/>
                </a:solidFill>
                <a:latin typeface="Aptos"/>
                <a:ea typeface="DejaVu Sans"/>
              </a:rPr>
              <a:t>d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Oval 8"/>
          <p:cNvSpPr/>
          <p:nvPr/>
        </p:nvSpPr>
        <p:spPr>
          <a:xfrm>
            <a:off x="7022520" y="2257920"/>
            <a:ext cx="93960" cy="70920"/>
          </a:xfrm>
          <a:prstGeom prst="ellipse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39" name="TextBox 9"/>
          <p:cNvSpPr/>
          <p:nvPr/>
        </p:nvSpPr>
        <p:spPr>
          <a:xfrm>
            <a:off x="6912000" y="2148840"/>
            <a:ext cx="3239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Symbol" charset="2"/>
              <a:buChar char=""/>
            </a:pP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Vi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su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Al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g 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sy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nt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ax 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re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pl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ac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es 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C 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so 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th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e 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de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m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o 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ca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n 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ru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n 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in 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th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e 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Wi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nd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o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w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s 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G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UI</a:t>
            </a: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Oval 10"/>
          <p:cNvSpPr/>
          <p:nvPr/>
        </p:nvSpPr>
        <p:spPr>
          <a:xfrm>
            <a:off x="7022520" y="2925360"/>
            <a:ext cx="93960" cy="70920"/>
          </a:xfrm>
          <a:prstGeom prst="ellipse">
            <a:avLst/>
          </a:prstGeom>
          <a:solidFill>
            <a:srgbClr val="ffb22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41" name="TextBox 11"/>
          <p:cNvSpPr/>
          <p:nvPr/>
        </p:nvSpPr>
        <p:spPr>
          <a:xfrm>
            <a:off x="7103160" y="2816280"/>
            <a:ext cx="38037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Short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varia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ble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name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s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prese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rve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the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donut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-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shap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ed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layout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,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echoi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ng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the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origin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al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obfus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cated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style.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Oval 12"/>
          <p:cNvSpPr/>
          <p:nvPr/>
        </p:nvSpPr>
        <p:spPr>
          <a:xfrm>
            <a:off x="7022520" y="3602160"/>
            <a:ext cx="93960" cy="70920"/>
          </a:xfrm>
          <a:prstGeom prst="ellipse">
            <a:avLst/>
          </a:prstGeom>
          <a:solidFill>
            <a:srgbClr val="78f5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43" name="TextBox 13"/>
          <p:cNvSpPr/>
          <p:nvPr/>
        </p:nvSpPr>
        <p:spPr>
          <a:xfrm>
            <a:off x="7103160" y="3493080"/>
            <a:ext cx="38037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Next,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we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unpa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ck the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geom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etry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and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motio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n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behin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d the 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imag</a:t>
            </a:r>
            <a:r>
              <a:rPr b="0" lang="pt-BR" sz="1200" spc="-1" strike="noStrike">
                <a:solidFill>
                  <a:srgbClr val="a8b9c7"/>
                </a:solidFill>
                <a:latin typeface="Arial"/>
                <a:ea typeface="DejaVu Sans"/>
              </a:rPr>
              <a:t>e.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Rounded Rectangle 14"/>
          <p:cNvSpPr/>
          <p:nvPr/>
        </p:nvSpPr>
        <p:spPr>
          <a:xfrm>
            <a:off x="6842520" y="4206240"/>
            <a:ext cx="3975480" cy="132516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f2f7fa"/>
                </a:solidFill>
                <a:latin typeface="Arial"/>
                <a:ea typeface="DejaVu Sans"/>
              </a:rPr>
              <a:t>Quick map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f2f7fa"/>
                </a:solidFill>
                <a:latin typeface="Arial"/>
                <a:ea typeface="DejaVu Sans"/>
              </a:rPr>
              <a:t>a, b → global angles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f2f7fa"/>
                </a:solidFill>
                <a:latin typeface="Arial"/>
                <a:ea typeface="DejaVu Sans"/>
              </a:rPr>
              <a:t>g, h → per-frame increments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f2f7fa"/>
                </a:solidFill>
                <a:latin typeface="Arial"/>
                <a:ea typeface="DejaVu Sans"/>
              </a:rPr>
              <a:t>c, d → character + depth buffers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f2f7fa"/>
                </a:solidFill>
                <a:latin typeface="Arial"/>
                <a:ea typeface="DejaVu Sans"/>
              </a:rPr>
              <a:t>w, x → column + row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f2f7fa"/>
                </a:solidFill>
                <a:latin typeface="Arial"/>
                <a:ea typeface="DejaVu Sans"/>
              </a:rPr>
              <a:t>y, z → brightness + ASCII ramp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Rounded Rectangle 40">
            <a:hlinkClick r:id="rId1" action="ppaction://hlinksldjump"/>
          </p:cNvPr>
          <p:cNvSpPr/>
          <p:nvPr/>
        </p:nvSpPr>
        <p:spPr>
          <a:xfrm>
            <a:off x="6914520" y="5833800"/>
            <a:ext cx="3291120" cy="34596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512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Aptos"/>
                <a:ea typeface="DejaVu Sans"/>
              </a:rPr>
              <a:t>Ope</a:t>
            </a:r>
            <a:r>
              <a:rPr b="1" lang="pt-BR" sz="1300" spc="-1" strike="noStrike">
                <a:solidFill>
                  <a:srgbClr val="ffffff"/>
                </a:solidFill>
                <a:latin typeface="Aptos"/>
                <a:ea typeface="DejaVu Sans"/>
              </a:rPr>
              <a:t>n </a:t>
            </a:r>
            <a:r>
              <a:rPr b="1" lang="pt-BR" sz="1300" spc="-1" strike="noStrike">
                <a:solidFill>
                  <a:srgbClr val="ffffff"/>
                </a:solidFill>
                <a:latin typeface="Aptos"/>
                <a:ea typeface="DejaVu Sans"/>
              </a:rPr>
              <a:t>the </a:t>
            </a:r>
            <a:r>
              <a:rPr b="1" lang="pt-BR" sz="1300" spc="-1" strike="noStrike">
                <a:solidFill>
                  <a:srgbClr val="ffffff"/>
                </a:solidFill>
                <a:latin typeface="Aptos"/>
                <a:ea typeface="DejaVu Sans"/>
              </a:rPr>
              <a:t>read</a:t>
            </a:r>
            <a:r>
              <a:rPr b="1" lang="pt-BR" sz="1300" spc="-1" strike="noStrike">
                <a:solidFill>
                  <a:srgbClr val="ffffff"/>
                </a:solidFill>
                <a:latin typeface="Aptos"/>
                <a:ea typeface="DejaVu Sans"/>
              </a:rPr>
              <a:t>able </a:t>
            </a:r>
            <a:r>
              <a:rPr b="1" lang="pt-BR" sz="1300" spc="-1" strike="noStrike">
                <a:solidFill>
                  <a:srgbClr val="ffffff"/>
                </a:solidFill>
                <a:latin typeface="Aptos"/>
                <a:ea typeface="DejaVu Sans"/>
              </a:rPr>
              <a:t>versi</a:t>
            </a:r>
            <a:r>
              <a:rPr b="1" lang="pt-BR" sz="1300" spc="-1" strike="noStrike">
                <a:solidFill>
                  <a:srgbClr val="ffffff"/>
                </a:solidFill>
                <a:latin typeface="Aptos"/>
                <a:ea typeface="DejaVu Sans"/>
              </a:rPr>
              <a:t>on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" name="Picture 41" descr="cleaned_original_editor_final2.png">
            <a:hlinkClick r:id="rId2" action="ppaction://hlinksldjump"/>
          </p:cNvPr>
          <p:cNvPicPr/>
          <p:nvPr/>
        </p:nvPicPr>
        <p:blipFill>
          <a:blip r:embed="rId3"/>
          <a:stretch/>
        </p:blipFill>
        <p:spPr>
          <a:xfrm>
            <a:off x="540000" y="1260000"/>
            <a:ext cx="5438520" cy="5038200"/>
          </a:xfrm>
          <a:prstGeom prst="rect">
            <a:avLst/>
          </a:prstGeom>
          <a:ln w="0">
            <a:noFill/>
          </a:ln>
        </p:spPr>
      </p:pic>
      <p:sp>
        <p:nvSpPr>
          <p:cNvPr id="47" name="TextBox 14"/>
          <p:cNvSpPr/>
          <p:nvPr/>
        </p:nvSpPr>
        <p:spPr>
          <a:xfrm>
            <a:off x="2120040" y="6319080"/>
            <a:ext cx="201960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Source: 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author 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with IA 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assistanc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e 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(ChatGP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T)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0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3. What is a torus?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530280" y="822960"/>
            <a:ext cx="106963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a8b9c7"/>
                </a:solidFill>
                <a:latin typeface="Aptos"/>
                <a:ea typeface="DejaVu Sans"/>
              </a:rPr>
              <a:t>A </a:t>
            </a:r>
            <a:r>
              <a:rPr b="0" lang="pt-BR" sz="1150" spc="-1" strike="noStrike">
                <a:solidFill>
                  <a:srgbClr val="a8b9c7"/>
                </a:solidFill>
                <a:latin typeface="Aptos"/>
                <a:ea typeface="DejaVu Sans"/>
              </a:rPr>
              <a:t>torus </a:t>
            </a:r>
            <a:r>
              <a:rPr b="0" lang="pt-BR" sz="1150" spc="-1" strike="noStrike">
                <a:solidFill>
                  <a:srgbClr val="a8b9c7"/>
                </a:solidFill>
                <a:latin typeface="Aptos"/>
                <a:ea typeface="DejaVu Sans"/>
              </a:rPr>
              <a:t>is a </a:t>
            </a:r>
            <a:r>
              <a:rPr b="0" lang="pt-BR" sz="1150" spc="-1" strike="noStrike">
                <a:solidFill>
                  <a:srgbClr val="a8b9c7"/>
                </a:solidFill>
                <a:latin typeface="Aptos"/>
                <a:ea typeface="DejaVu Sans"/>
              </a:rPr>
              <a:t>circul</a:t>
            </a:r>
            <a:r>
              <a:rPr b="0" lang="pt-BR" sz="1150" spc="-1" strike="noStrike">
                <a:solidFill>
                  <a:srgbClr val="a8b9c7"/>
                </a:solidFill>
                <a:latin typeface="Aptos"/>
                <a:ea typeface="DejaVu Sans"/>
              </a:rPr>
              <a:t>ar </a:t>
            </a:r>
            <a:r>
              <a:rPr b="0" lang="pt-BR" sz="1150" spc="-1" strike="noStrike">
                <a:solidFill>
                  <a:srgbClr val="a8b9c7"/>
                </a:solidFill>
                <a:latin typeface="Aptos"/>
                <a:ea typeface="DejaVu Sans"/>
              </a:rPr>
              <a:t>tube </a:t>
            </a:r>
            <a:r>
              <a:rPr b="0" lang="pt-BR" sz="1150" spc="-1" strike="noStrike">
                <a:solidFill>
                  <a:srgbClr val="a8b9c7"/>
                </a:solidFill>
                <a:latin typeface="Aptos"/>
                <a:ea typeface="DejaVu Sans"/>
              </a:rPr>
              <a:t>wrap</a:t>
            </a:r>
            <a:r>
              <a:rPr b="0" lang="pt-BR" sz="1150" spc="-1" strike="noStrike">
                <a:solidFill>
                  <a:srgbClr val="a8b9c7"/>
                </a:solidFill>
                <a:latin typeface="Aptos"/>
                <a:ea typeface="DejaVu Sans"/>
              </a:rPr>
              <a:t>ped </a:t>
            </a:r>
            <a:r>
              <a:rPr b="0" lang="pt-BR" sz="1150" spc="-1" strike="noStrike">
                <a:solidFill>
                  <a:srgbClr val="a8b9c7"/>
                </a:solidFill>
                <a:latin typeface="Aptos"/>
                <a:ea typeface="DejaVu Sans"/>
              </a:rPr>
              <a:t>into a </a:t>
            </a:r>
            <a:r>
              <a:rPr b="0" lang="pt-BR" sz="1150" spc="-1" strike="noStrike">
                <a:solidFill>
                  <a:srgbClr val="a8b9c7"/>
                </a:solidFill>
                <a:latin typeface="Aptos"/>
                <a:ea typeface="DejaVu Sans"/>
              </a:rPr>
              <a:t>ring.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6812280" y="1261800"/>
            <a:ext cx="438696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Core idea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5"/>
          <p:cNvSpPr/>
          <p:nvPr/>
        </p:nvSpPr>
        <p:spPr>
          <a:xfrm>
            <a:off x="6903720" y="1993320"/>
            <a:ext cx="70920" cy="70920"/>
          </a:xfrm>
          <a:prstGeom prst="ellipse">
            <a:avLst/>
          </a:prstGeom>
          <a:solidFill>
            <a:srgbClr val="37d9f5"/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4" name="Text 6"/>
          <p:cNvSpPr/>
          <p:nvPr/>
        </p:nvSpPr>
        <p:spPr>
          <a:xfrm>
            <a:off x="7086600" y="1920240"/>
            <a:ext cx="42955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f2f7fa"/>
                </a:solidFill>
                <a:latin typeface="Aptos"/>
                <a:ea typeface="DejaVu Sans"/>
              </a:rPr>
              <a:t>Two local loops define the surface.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6903720" y="2432160"/>
            <a:ext cx="70920" cy="70920"/>
          </a:xfrm>
          <a:prstGeom prst="ellipse">
            <a:avLst/>
          </a:prstGeom>
          <a:solidFill>
            <a:srgbClr val="78f5ff"/>
          </a:solidFill>
          <a:ln w="12600">
            <a:solidFill>
              <a:srgbClr val="78f5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6" name="Text 8"/>
          <p:cNvSpPr/>
          <p:nvPr/>
        </p:nvSpPr>
        <p:spPr>
          <a:xfrm>
            <a:off x="7086600" y="2359080"/>
            <a:ext cx="42955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f2f7fa"/>
                </a:solidFill>
                <a:latin typeface="Aptos"/>
                <a:ea typeface="DejaVu Sans"/>
              </a:rPr>
              <a:t>One loop moves around the tube cross-section.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9"/>
          <p:cNvSpPr/>
          <p:nvPr/>
        </p:nvSpPr>
        <p:spPr>
          <a:xfrm>
            <a:off x="6903720" y="2871360"/>
            <a:ext cx="70920" cy="70920"/>
          </a:xfrm>
          <a:prstGeom prst="ellipse">
            <a:avLst/>
          </a:prstGeom>
          <a:solidFill>
            <a:srgbClr val="ffb22e"/>
          </a:solidFill>
          <a:ln w="12600">
            <a:solidFill>
              <a:srgbClr val="ffb2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7086600" y="2797920"/>
            <a:ext cx="42955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f2f7fa"/>
                </a:solidFill>
                <a:latin typeface="Aptos"/>
                <a:ea typeface="DejaVu Sans"/>
              </a:rPr>
              <a:t>The other loop moves around the main ring.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6903720" y="3310200"/>
            <a:ext cx="70920" cy="70920"/>
          </a:xfrm>
          <a:prstGeom prst="ellipse">
            <a:avLst/>
          </a:prstGeom>
          <a:solidFill>
            <a:srgbClr val="89f5c5"/>
          </a:solidFill>
          <a:ln w="12600">
            <a:solidFill>
              <a:srgbClr val="89f5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7086600" y="3237120"/>
            <a:ext cx="42955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f2f7fa"/>
                </a:solidFill>
                <a:latin typeface="Aptos"/>
                <a:ea typeface="DejaVu Sans"/>
              </a:rPr>
              <a:t>Together, they generate the full torus surface.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6812280" y="4096440"/>
            <a:ext cx="47527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pt-BR" sz="1450" spc="-1" strike="noStrike">
                <a:solidFill>
                  <a:srgbClr val="ffe08a"/>
                </a:solidFill>
                <a:latin typeface="Arial"/>
                <a:ea typeface="DejaVu Sans"/>
              </a:rPr>
              <a:t>ring</a:t>
            </a:r>
            <a:r>
              <a:rPr b="0" lang="pt-BR" sz="1450" spc="-1" strike="noStrike">
                <a:solidFill>
                  <a:srgbClr val="ffe08a"/>
                </a:solidFill>
                <a:latin typeface="Arial"/>
                <a:ea typeface="DejaVu Sans"/>
              </a:rPr>
              <a:t>Dist</a:t>
            </a:r>
            <a:r>
              <a:rPr b="0" lang="pt-BR" sz="1450" spc="-1" strike="noStrike">
                <a:solidFill>
                  <a:srgbClr val="ffe08a"/>
                </a:solidFill>
                <a:latin typeface="Arial"/>
                <a:ea typeface="DejaVu Sans"/>
              </a:rPr>
              <a:t>ance </a:t>
            </a:r>
            <a:r>
              <a:rPr b="0" lang="pt-BR" sz="1450" spc="-1" strike="noStrike">
                <a:solidFill>
                  <a:srgbClr val="ffe08a"/>
                </a:solidFill>
                <a:latin typeface="Arial"/>
                <a:ea typeface="DejaVu Sans"/>
              </a:rPr>
              <a:t>= R </a:t>
            </a:r>
            <a:r>
              <a:rPr b="0" lang="pt-BR" sz="1450" spc="-1" strike="noStrike">
                <a:solidFill>
                  <a:srgbClr val="ffe08a"/>
                </a:solidFill>
                <a:latin typeface="Arial"/>
                <a:ea typeface="DejaVu Sans"/>
              </a:rPr>
              <a:t>+ r × </a:t>
            </a:r>
            <a:r>
              <a:rPr b="0" lang="pt-BR" sz="1450" spc="-1" strike="noStrike">
                <a:solidFill>
                  <a:srgbClr val="ffe08a"/>
                </a:solidFill>
                <a:latin typeface="Arial"/>
                <a:ea typeface="DejaVu Sans"/>
              </a:rPr>
              <a:t>cos(t</a:t>
            </a:r>
            <a:r>
              <a:rPr b="0" lang="pt-BR" sz="1450" spc="-1" strike="noStrike">
                <a:solidFill>
                  <a:srgbClr val="ffe08a"/>
                </a:solidFill>
                <a:latin typeface="Arial"/>
                <a:ea typeface="DejaVu Sans"/>
              </a:rPr>
              <a:t>ube</a:t>
            </a:r>
            <a:r>
              <a:rPr b="0" lang="pt-BR" sz="1450" spc="-1" strike="noStrike">
                <a:solidFill>
                  <a:srgbClr val="ffe08a"/>
                </a:solidFill>
                <a:latin typeface="Arial"/>
                <a:ea typeface="DejaVu Sans"/>
              </a:rPr>
              <a:t>Angl</a:t>
            </a:r>
            <a:r>
              <a:rPr b="0" lang="pt-BR" sz="1450" spc="-1" strike="noStrike">
                <a:solidFill>
                  <a:srgbClr val="ffe08a"/>
                </a:solidFill>
                <a:latin typeface="Arial"/>
                <a:ea typeface="DejaVu Sans"/>
              </a:rPr>
              <a:t>e)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6812280" y="4590360"/>
            <a:ext cx="447840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pt-BR" sz="1450" spc="-1" strike="noStrike">
                <a:solidFill>
                  <a:srgbClr val="78f5ff"/>
                </a:solidFill>
                <a:latin typeface="Arial"/>
                <a:ea typeface="DejaVu Sans"/>
              </a:rPr>
              <a:t>tubeYOffset = r × sin(tubeAngle)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11292840" y="6455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04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4" name="Picture 18" descr="image.png"/>
          <p:cNvPicPr/>
          <p:nvPr/>
        </p:nvPicPr>
        <p:blipFill>
          <a:blip r:embed="rId1"/>
          <a:stretch/>
        </p:blipFill>
        <p:spPr>
          <a:xfrm>
            <a:off x="621720" y="1417320"/>
            <a:ext cx="5987160" cy="4158360"/>
          </a:xfrm>
          <a:prstGeom prst="rect">
            <a:avLst/>
          </a:prstGeom>
          <a:ln w="0">
            <a:noFill/>
          </a:ln>
        </p:spPr>
      </p:pic>
      <p:sp>
        <p:nvSpPr>
          <p:cNvPr id="65" name="TextBox 19"/>
          <p:cNvSpPr/>
          <p:nvPr/>
        </p:nvSpPr>
        <p:spPr>
          <a:xfrm>
            <a:off x="2576880" y="5632560"/>
            <a:ext cx="207684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Source: 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author 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with IA 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assistanc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e 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(ChatGP</a:t>
            </a: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T)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68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4. How does the torus move?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530280" y="822960"/>
            <a:ext cx="106963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a8b9c7"/>
                </a:solidFill>
                <a:latin typeface="Arial"/>
                <a:ea typeface="DejaVu Sans"/>
              </a:rPr>
              <a:t>The loops draw the shape; the visible motion comes from rotating the whole torus around two axes.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Image 0" descr="/mnt/data/a_clean_high_quality_3d_rendered_infographic_diag.png"/>
          <p:cNvPicPr/>
          <p:nvPr/>
        </p:nvPicPr>
        <p:blipFill>
          <a:blip r:embed="rId1"/>
          <a:srcRect l="9180" t="0" r="9180" b="0"/>
          <a:stretch/>
        </p:blipFill>
        <p:spPr>
          <a:xfrm>
            <a:off x="502920" y="1417320"/>
            <a:ext cx="6032880" cy="4158360"/>
          </a:xfrm>
          <a:prstGeom prst="rect">
            <a:avLst/>
          </a:prstGeom>
          <a:ln w="0">
            <a:noFill/>
          </a:ln>
        </p:spPr>
      </p:pic>
      <p:sp>
        <p:nvSpPr>
          <p:cNvPr id="71" name="Text 4"/>
          <p:cNvSpPr/>
          <p:nvPr/>
        </p:nvSpPr>
        <p:spPr>
          <a:xfrm>
            <a:off x="6812280" y="1225440"/>
            <a:ext cx="438696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Two global angles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6903720" y="1947600"/>
            <a:ext cx="70920" cy="70920"/>
          </a:xfrm>
          <a:prstGeom prst="ellipse">
            <a:avLst/>
          </a:prstGeom>
          <a:solidFill>
            <a:srgbClr val="ffb22e"/>
          </a:solidFill>
          <a:ln w="12600">
            <a:solidFill>
              <a:srgbClr val="ffb2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73" name="Text 6"/>
          <p:cNvSpPr/>
          <p:nvPr/>
        </p:nvSpPr>
        <p:spPr>
          <a:xfrm>
            <a:off x="7086600" y="1874520"/>
            <a:ext cx="43869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f2f7fa"/>
                </a:solidFill>
                <a:latin typeface="Aptos"/>
                <a:ea typeface="DejaVu Sans"/>
              </a:rPr>
              <a:t>angleAxial: spin around the main axis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6903720" y="2423160"/>
            <a:ext cx="70920" cy="70920"/>
          </a:xfrm>
          <a:prstGeom prst="ellipse">
            <a:avLst/>
          </a:prstGeom>
          <a:solidFill>
            <a:srgbClr val="37d9f5"/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75" name="Text 8"/>
          <p:cNvSpPr/>
          <p:nvPr/>
        </p:nvSpPr>
        <p:spPr>
          <a:xfrm>
            <a:off x="7086600" y="2350080"/>
            <a:ext cx="43869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f2f7fa"/>
                </a:solidFill>
                <a:latin typeface="Aptos"/>
                <a:ea typeface="DejaVu Sans"/>
              </a:rPr>
              <a:t>angleElevation: tilt that changes the screen view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6903720" y="2898720"/>
            <a:ext cx="70920" cy="70920"/>
          </a:xfrm>
          <a:prstGeom prst="ellipse">
            <a:avLst/>
          </a:prstGeom>
          <a:solidFill>
            <a:srgbClr val="89f5c5"/>
          </a:solidFill>
          <a:ln w="12600">
            <a:solidFill>
              <a:srgbClr val="89f5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7086600" y="2825640"/>
            <a:ext cx="43869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f2f7fa"/>
                </a:solidFill>
                <a:latin typeface="Aptos"/>
                <a:ea typeface="DejaVu Sans"/>
              </a:rPr>
              <a:t>Both values update once per frame.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11"/>
          <p:cNvSpPr/>
          <p:nvPr/>
        </p:nvSpPr>
        <p:spPr>
          <a:xfrm>
            <a:off x="6903720" y="3374280"/>
            <a:ext cx="70920" cy="70920"/>
          </a:xfrm>
          <a:prstGeom prst="ellipse">
            <a:avLst/>
          </a:prstGeom>
          <a:solidFill>
            <a:srgbClr val="e685ff"/>
          </a:solidFill>
          <a:ln w="12600">
            <a:solidFill>
              <a:srgbClr val="e685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7086600" y="3300840"/>
            <a:ext cx="43869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f2f7fa"/>
                </a:solidFill>
                <a:latin typeface="Aptos"/>
                <a:ea typeface="DejaVu Sans"/>
              </a:rPr>
              <a:t>Without those updates, the donut stays still.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13">
            <a:hlinkClick r:id="rId2" action="ppaction://hlinksldjump"/>
          </p:cNvPr>
          <p:cNvSpPr/>
          <p:nvPr/>
        </p:nvSpPr>
        <p:spPr>
          <a:xfrm>
            <a:off x="6812280" y="4434840"/>
            <a:ext cx="4615560" cy="747720"/>
          </a:xfrm>
          <a:prstGeom prst="roundRect">
            <a:avLst>
              <a:gd name="adj" fmla="val 7317"/>
            </a:avLst>
          </a:prstGeom>
          <a:solidFill>
            <a:srgbClr val="0d1825"/>
          </a:solidFill>
          <a:ln w="12600">
            <a:solidFill>
              <a:srgbClr val="ffb22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81" name="Text 14">
            <a:hlinkClick r:id="rId3" action="ppaction://hlinksldjump"/>
          </p:cNvPr>
          <p:cNvSpPr/>
          <p:nvPr/>
        </p:nvSpPr>
        <p:spPr>
          <a:xfrm>
            <a:off x="6949440" y="4544640"/>
            <a:ext cx="434124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angleAxial &lt;- angleAxial + axialStep * speedMultiplier</a:t>
            </a:r>
            <a:endParaRPr b="0" lang="pt-BR" sz="116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angleElevation &lt;- angleElevation + elevationStep * speedMultiplier</a:t>
            </a:r>
            <a:endParaRPr b="0" lang="pt-BR" sz="1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11292840" y="6455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05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18"/>
          <p:cNvSpPr/>
          <p:nvPr/>
        </p:nvSpPr>
        <p:spPr>
          <a:xfrm>
            <a:off x="2471760" y="5914440"/>
            <a:ext cx="209484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Source: author with IA assistance (ChatGPT)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85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86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5. Motion parameters and core formulas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530280" y="786960"/>
            <a:ext cx="106963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a8b9c7"/>
                </a:solidFill>
                <a:latin typeface="Arial"/>
                <a:ea typeface="DejaVu Sans"/>
              </a:rPr>
              <a:t>Focus on what each parameter controls—not on memorizing the formulas.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731520" y="1486440"/>
            <a:ext cx="51184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300" spc="-1" strike="noStrike">
                <a:solidFill>
                  <a:srgbClr val="f2f7fa"/>
                </a:solidFill>
                <a:latin typeface="Aptos"/>
                <a:ea typeface="DejaVu Sans"/>
              </a:rPr>
              <a:t>What controls the motion</a:t>
            </a:r>
            <a:endParaRPr b="0" lang="pt-BR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914400" y="2151720"/>
            <a:ext cx="232956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b22e"/>
                </a:solidFill>
                <a:latin typeface="Cascadia Mono"/>
                <a:ea typeface="Cascadia Mono"/>
              </a:rPr>
              <a:t>angleAxial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3200400" y="2151720"/>
            <a:ext cx="35640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f2f7fa"/>
                </a:solidFill>
                <a:latin typeface="Aptos"/>
                <a:ea typeface="DejaVu Sans"/>
              </a:rPr>
              <a:t>current axial spin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914400" y="2627280"/>
            <a:ext cx="232956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b22e"/>
                </a:solidFill>
                <a:latin typeface="Cascadia Mono"/>
                <a:ea typeface="Cascadia Mono"/>
              </a:rPr>
              <a:t>angleElevation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3200400" y="2627280"/>
            <a:ext cx="35640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f2f7fa"/>
                </a:solidFill>
                <a:latin typeface="Aptos"/>
                <a:ea typeface="DejaVu Sans"/>
              </a:rPr>
              <a:t>current elevation tilt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914400" y="3102480"/>
            <a:ext cx="232956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8f5ff"/>
                </a:solidFill>
                <a:latin typeface="Cascadia Mono"/>
                <a:ea typeface="Cascadia Mono"/>
              </a:rPr>
              <a:t>axialStep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3200400" y="3102480"/>
            <a:ext cx="35640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f2f7fa"/>
                </a:solidFill>
                <a:latin typeface="Aptos"/>
                <a:ea typeface="DejaVu Sans"/>
              </a:rPr>
              <a:t>axial spin per frame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1"/>
          <p:cNvSpPr/>
          <p:nvPr/>
        </p:nvSpPr>
        <p:spPr>
          <a:xfrm>
            <a:off x="914400" y="3578040"/>
            <a:ext cx="232956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8f5ff"/>
                </a:solidFill>
                <a:latin typeface="Cascadia Mono"/>
                <a:ea typeface="Cascadia Mono"/>
              </a:rPr>
              <a:t>elevationStep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3200400" y="3578040"/>
            <a:ext cx="35640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f2f7fa"/>
                </a:solidFill>
                <a:latin typeface="Aptos"/>
                <a:ea typeface="DejaVu Sans"/>
              </a:rPr>
              <a:t>elevation tilt per frame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914400" y="4053600"/>
            <a:ext cx="232956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8f5ff"/>
                </a:solidFill>
                <a:latin typeface="Cascadia Mono"/>
                <a:ea typeface="Cascadia Mono"/>
              </a:rPr>
              <a:t>speedMultiplier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3200400" y="4053600"/>
            <a:ext cx="35640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f2f7fa"/>
                </a:solidFill>
                <a:latin typeface="Aptos"/>
                <a:ea typeface="DejaVu Sans"/>
              </a:rPr>
              <a:t>speeds up VisuAlg redraws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15">
            <a:hlinkClick r:id="rId1" action="ppaction://hlinksldjump"/>
          </p:cNvPr>
          <p:cNvSpPr/>
          <p:nvPr/>
        </p:nvSpPr>
        <p:spPr>
          <a:xfrm>
            <a:off x="749880" y="4778280"/>
            <a:ext cx="5255640" cy="1049400"/>
          </a:xfrm>
          <a:prstGeom prst="roundRect">
            <a:avLst>
              <a:gd name="adj" fmla="val 5217"/>
            </a:avLst>
          </a:prstGeom>
          <a:solidFill>
            <a:srgbClr val="0d1825"/>
          </a:solidFill>
          <a:ln w="12600">
            <a:solidFill>
              <a:srgbClr val="37d9f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00" name="Text 16">
            <a:hlinkClick r:id="rId2" action="ppaction://hlinksldjump"/>
          </p:cNvPr>
          <p:cNvSpPr/>
          <p:nvPr/>
        </p:nvSpPr>
        <p:spPr>
          <a:xfrm>
            <a:off x="887040" y="4888080"/>
            <a:ext cx="4981320" cy="8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axialStep &lt;- (2 * piValue * 11) / 6280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elevationStep &lt;- (2 * piValue * 5) / 6280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speedMultiplier &lt;- 4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11292840" y="6455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06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Picture 20" descr="image.png"/>
          <p:cNvPicPr/>
          <p:nvPr/>
        </p:nvPicPr>
        <p:blipFill>
          <a:blip r:embed="rId3"/>
          <a:stretch/>
        </p:blipFill>
        <p:spPr>
          <a:xfrm>
            <a:off x="6537960" y="1669320"/>
            <a:ext cx="4661280" cy="3884040"/>
          </a:xfrm>
          <a:prstGeom prst="rect">
            <a:avLst/>
          </a:prstGeom>
          <a:ln w="0">
            <a:noFill/>
          </a:ln>
        </p:spPr>
      </p:pic>
      <p:sp>
        <p:nvSpPr>
          <p:cNvPr id="103" name="TextBox 21"/>
          <p:cNvSpPr/>
          <p:nvPr/>
        </p:nvSpPr>
        <p:spPr>
          <a:xfrm>
            <a:off x="7788600" y="5610240"/>
            <a:ext cx="215964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Source: author with IA assistance (ChatGPT)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05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6. How each frame is drawn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530280" y="822960"/>
            <a:ext cx="106963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a8b9c7"/>
                </a:solidFill>
                <a:latin typeface="Arial"/>
                <a:ea typeface="DejaVu Sans"/>
              </a:rPr>
              <a:t>Every frame follows the same pipeline: clear, sample, rotate, project, shade, and draw.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Image 0" descr="/mnt/data/a_dark_neon_glow_infographic_from_left_to_right_a.png"/>
          <p:cNvPicPr/>
          <p:nvPr/>
        </p:nvPicPr>
        <p:blipFill>
          <a:blip r:embed="rId1"/>
          <a:srcRect l="7342" t="0" r="7342" b="0"/>
          <a:stretch/>
        </p:blipFill>
        <p:spPr>
          <a:xfrm>
            <a:off x="548640" y="1280160"/>
            <a:ext cx="6581520" cy="4341240"/>
          </a:xfrm>
          <a:prstGeom prst="rect">
            <a:avLst/>
          </a:prstGeom>
          <a:ln w="0">
            <a:noFill/>
          </a:ln>
        </p:spPr>
      </p:pic>
      <p:sp>
        <p:nvSpPr>
          <p:cNvPr id="109" name="Text 4"/>
          <p:cNvSpPr/>
          <p:nvPr/>
        </p:nvSpPr>
        <p:spPr>
          <a:xfrm>
            <a:off x="7543800" y="1261800"/>
            <a:ext cx="3975480" cy="30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</a:pPr>
            <a:r>
              <a:rPr b="0" lang="pt-BR" sz="1220" spc="-1" strike="noStrike">
                <a:solidFill>
                  <a:srgbClr val="f2f7fa"/>
                </a:solidFill>
                <a:latin typeface="Arial"/>
                <a:ea typeface="DejaVu Sans"/>
              </a:rPr>
              <a:t>1. Clear the character and z-buffers</a:t>
            </a:r>
            <a:endParaRPr b="0" lang="pt-BR" sz="122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20" spc="-1" strike="noStrike">
                <a:solidFill>
                  <a:srgbClr val="f2f7fa"/>
                </a:solidFill>
                <a:latin typeface="Arial"/>
                <a:ea typeface="DejaVu Sans"/>
              </a:rPr>
              <a:t>2. Sample points on the torus surface</a:t>
            </a:r>
            <a:endParaRPr b="0" lang="pt-BR" sz="122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20" spc="-1" strike="noStrike">
                <a:solidFill>
                  <a:srgbClr val="f2f7fa"/>
                </a:solidFill>
                <a:latin typeface="Arial"/>
                <a:ea typeface="DejaVu Sans"/>
              </a:rPr>
              <a:t>3. Apply the two global rotations</a:t>
            </a:r>
            <a:endParaRPr b="0" lang="pt-BR" sz="122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20" spc="-1" strike="noStrike">
                <a:solidFill>
                  <a:srgbClr val="f2f7fa"/>
                </a:solidFill>
                <a:latin typeface="Arial"/>
                <a:ea typeface="DejaVu Sans"/>
              </a:rPr>
              <a:t>4. Project each point to a screen cell</a:t>
            </a:r>
            <a:endParaRPr b="0" lang="pt-BR" sz="122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20" spc="-1" strike="noStrike">
                <a:solidFill>
                  <a:srgbClr val="f2f7fa"/>
                </a:solidFill>
                <a:latin typeface="Arial"/>
                <a:ea typeface="DejaVu Sans"/>
              </a:rPr>
              <a:t>5. Use depth and lighting to choose the character</a:t>
            </a:r>
            <a:endParaRPr b="0" lang="pt-BR" sz="122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20" spc="-1" strike="noStrike">
                <a:solidFill>
                  <a:srgbClr val="f2f7fa"/>
                </a:solidFill>
                <a:latin typeface="Arial"/>
                <a:ea typeface="DejaVu Sans"/>
              </a:rPr>
              <a:t>6. Advance the motion angles</a:t>
            </a:r>
            <a:endParaRPr b="0" lang="pt-BR" sz="1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5">
            <a:hlinkClick r:id="rId2" action="ppaction://hlinksldjump"/>
          </p:cNvPr>
          <p:cNvSpPr/>
          <p:nvPr/>
        </p:nvSpPr>
        <p:spPr>
          <a:xfrm>
            <a:off x="7543800" y="4487400"/>
            <a:ext cx="3975480" cy="1232280"/>
          </a:xfrm>
          <a:prstGeom prst="roundRect">
            <a:avLst>
              <a:gd name="adj" fmla="val 4444"/>
            </a:avLst>
          </a:prstGeom>
          <a:solidFill>
            <a:srgbClr val="0d1825"/>
          </a:solidFill>
          <a:ln w="12600">
            <a:solidFill>
              <a:srgbClr val="25445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11" name="Text 6">
            <a:hlinkClick r:id="rId3" action="ppaction://hlinksldjump"/>
          </p:cNvPr>
          <p:cNvSpPr/>
          <p:nvPr/>
        </p:nvSpPr>
        <p:spPr>
          <a:xfrm>
            <a:off x="7680960" y="4617720"/>
            <a:ext cx="3701160" cy="11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f2f7fa"/>
                </a:solidFill>
                <a:latin typeface="Arial"/>
                <a:ea typeface="DejaVu Sans"/>
              </a:rPr>
              <a:t>while true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f2f7fa"/>
                </a:solidFill>
                <a:latin typeface="Arial"/>
                <a:ea typeface="DejaVu Sans"/>
              </a:rPr>
              <a:t>   </a:t>
            </a:r>
            <a:r>
              <a:rPr b="0" lang="pt-BR" sz="1150" spc="-1" strike="noStrike">
                <a:solidFill>
                  <a:srgbClr val="f2f7fa"/>
                </a:solidFill>
                <a:latin typeface="Arial"/>
                <a:ea typeface="DejaVu Sans"/>
              </a:rPr>
              <a:t>clear buffers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f2f7fa"/>
                </a:solidFill>
                <a:latin typeface="Arial"/>
                <a:ea typeface="DejaVu Sans"/>
              </a:rPr>
              <a:t>   </a:t>
            </a:r>
            <a:r>
              <a:rPr b="0" lang="pt-BR" sz="1150" spc="-1" strike="noStrike">
                <a:solidFill>
                  <a:srgbClr val="f2f7fa"/>
                </a:solidFill>
                <a:latin typeface="Arial"/>
                <a:ea typeface="DejaVu Sans"/>
              </a:rPr>
              <a:t>sample and project points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f2f7fa"/>
                </a:solidFill>
                <a:latin typeface="Arial"/>
                <a:ea typeface="DejaVu Sans"/>
              </a:rPr>
              <a:t>   </a:t>
            </a:r>
            <a:r>
              <a:rPr b="0" lang="pt-BR" sz="1150" spc="-1" strike="noStrike">
                <a:solidFill>
                  <a:srgbClr val="f2f7fa"/>
                </a:solidFill>
                <a:latin typeface="Arial"/>
                <a:ea typeface="DejaVu Sans"/>
              </a:rPr>
              <a:t>draw text rows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f2f7fa"/>
                </a:solidFill>
                <a:latin typeface="Arial"/>
                <a:ea typeface="DejaVu Sans"/>
              </a:rPr>
              <a:t>   </a:t>
            </a:r>
            <a:r>
              <a:rPr b="0" lang="pt-BR" sz="1150" spc="-1" strike="noStrike">
                <a:solidFill>
                  <a:srgbClr val="f2f7fa"/>
                </a:solidFill>
                <a:latin typeface="Arial"/>
                <a:ea typeface="DejaVu Sans"/>
              </a:rPr>
              <a:t>advance angles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f2f7fa"/>
                </a:solidFill>
                <a:latin typeface="Arial"/>
                <a:ea typeface="DejaVu Sans"/>
              </a:rPr>
              <a:t>end while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11292840" y="6455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07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2759400" y="5650920"/>
            <a:ext cx="215964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Source: author with IA assistance (ChatGPT)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7. How the torus surface is generated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530280" y="822960"/>
            <a:ext cx="106963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a8b9c7"/>
                </a:solidFill>
                <a:latin typeface="Arial"/>
                <a:ea typeface="DejaVu Sans"/>
              </a:rPr>
              <a:t>Two local angles generate every 3D point before animation is applied.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6309360" y="1539000"/>
            <a:ext cx="438696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f2f7fa"/>
                </a:solidFill>
                <a:latin typeface="Aptos"/>
                <a:ea typeface="DejaVu Sans"/>
              </a:rPr>
              <a:t>Local angles</a:t>
            </a:r>
            <a:endParaRPr b="0" lang="pt-BR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6419160" y="2206440"/>
            <a:ext cx="70920" cy="70920"/>
          </a:xfrm>
          <a:prstGeom prst="ellipse">
            <a:avLst/>
          </a:prstGeom>
          <a:solidFill>
            <a:srgbClr val="37d9f5"/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6602040" y="2133360"/>
            <a:ext cx="4752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20" spc="-1" strike="noStrike">
                <a:solidFill>
                  <a:srgbClr val="f2f7fa"/>
                </a:solidFill>
                <a:latin typeface="Aptos"/>
                <a:ea typeface="DejaVu Sans"/>
              </a:rPr>
              <a:t>θ = tube angle: moves around the small cross-section</a:t>
            </a:r>
            <a:endParaRPr b="0" lang="pt-BR" sz="14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6419160" y="2608920"/>
            <a:ext cx="70920" cy="70920"/>
          </a:xfrm>
          <a:prstGeom prst="ellipse">
            <a:avLst/>
          </a:prstGeom>
          <a:solidFill>
            <a:srgbClr val="ffb22e"/>
          </a:solidFill>
          <a:ln w="12600">
            <a:solidFill>
              <a:srgbClr val="ffb2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6602040" y="2535840"/>
            <a:ext cx="4752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20" spc="-1" strike="noStrike">
                <a:solidFill>
                  <a:srgbClr val="f2f7fa"/>
                </a:solidFill>
                <a:latin typeface="Aptos"/>
                <a:ea typeface="DejaVu Sans"/>
              </a:rPr>
              <a:t>φ = ring angle: moves around the main loop</a:t>
            </a:r>
            <a:endParaRPr b="0" lang="pt-BR" sz="14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9"/>
          <p:cNvSpPr/>
          <p:nvPr/>
        </p:nvSpPr>
        <p:spPr>
          <a:xfrm>
            <a:off x="6419160" y="3011040"/>
            <a:ext cx="70920" cy="70920"/>
          </a:xfrm>
          <a:prstGeom prst="ellipse">
            <a:avLst/>
          </a:prstGeom>
          <a:solidFill>
            <a:srgbClr val="89f5c5"/>
          </a:solidFill>
          <a:ln w="12600">
            <a:solidFill>
              <a:srgbClr val="89f5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6602040" y="2937960"/>
            <a:ext cx="47527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pc="-1" strike="noStrike">
                <a:solidFill>
                  <a:srgbClr val="f2f7fa"/>
                </a:solidFill>
                <a:latin typeface="Aptos"/>
                <a:ea typeface="DejaVu Sans"/>
              </a:rPr>
              <a:t>R = major radius; r = tube radius</a:t>
            </a:r>
            <a:endParaRPr b="0" lang="pt-BR" sz="14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6309360" y="3642120"/>
            <a:ext cx="45698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900" spc="-1" strike="noStrike">
                <a:solidFill>
                  <a:srgbClr val="f2f7fa"/>
                </a:solidFill>
                <a:latin typeface="Aptos"/>
                <a:ea typeface="DejaVu Sans"/>
              </a:rPr>
              <a:t>Local point before animation</a:t>
            </a:r>
            <a:endParaRPr b="0" lang="pt-BR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6400800" y="4163400"/>
            <a:ext cx="447840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e08a"/>
                </a:solidFill>
                <a:latin typeface="Cascadia Mono"/>
                <a:ea typeface="Cascadia Mono"/>
              </a:rPr>
              <a:t>x₀ = (R + r·cos(θ)) · cos(φ)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6400800" y="4712040"/>
            <a:ext cx="447840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e08a"/>
                </a:solidFill>
                <a:latin typeface="Cascadia Mono"/>
                <a:ea typeface="Cascadia Mono"/>
              </a:rPr>
              <a:t>y₀ = (R + r·cos(θ)) · sin(φ)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4"/>
          <p:cNvSpPr/>
          <p:nvPr/>
        </p:nvSpPr>
        <p:spPr>
          <a:xfrm>
            <a:off x="6400800" y="5260680"/>
            <a:ext cx="447840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e08a"/>
                </a:solidFill>
                <a:latin typeface="Cascadia Mono"/>
                <a:ea typeface="Cascadia Mono"/>
              </a:rPr>
              <a:t>z₀ = r · sin(θ)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15"/>
          <p:cNvSpPr/>
          <p:nvPr/>
        </p:nvSpPr>
        <p:spPr>
          <a:xfrm>
            <a:off x="754560" y="5601240"/>
            <a:ext cx="4844160" cy="820800"/>
          </a:xfrm>
          <a:prstGeom prst="roundRect">
            <a:avLst>
              <a:gd name="adj" fmla="val 6667"/>
            </a:avLst>
          </a:prstGeom>
          <a:solidFill>
            <a:srgbClr val="0d1825"/>
          </a:solidFill>
          <a:ln w="12600">
            <a:solidFill>
              <a:srgbClr val="37d9f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30" name="Text 16"/>
          <p:cNvSpPr/>
          <p:nvPr/>
        </p:nvSpPr>
        <p:spPr>
          <a:xfrm>
            <a:off x="891720" y="5711040"/>
            <a:ext cx="45698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ringDistance &lt;- 22 + 4.2 * cosTube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tubeYOffset &lt;- 4.2 * sinTube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R = 22, r = 4.2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7"/>
          <p:cNvSpPr/>
          <p:nvPr/>
        </p:nvSpPr>
        <p:spPr>
          <a:xfrm>
            <a:off x="11292840" y="6455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08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 20"/>
          <p:cNvSpPr/>
          <p:nvPr/>
        </p:nvSpPr>
        <p:spPr>
          <a:xfrm>
            <a:off x="2857680" y="1325880"/>
            <a:ext cx="637920" cy="957960"/>
          </a:xfrm>
          <a:prstGeom prst="rect">
            <a:avLst/>
          </a:prstGeom>
          <a:solidFill>
            <a:srgbClr val="07111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pic>
        <p:nvPicPr>
          <p:cNvPr id="133" name="Picture 21" descr="image.png"/>
          <p:cNvPicPr/>
          <p:nvPr/>
        </p:nvPicPr>
        <p:blipFill>
          <a:blip r:embed="rId1"/>
          <a:stretch/>
        </p:blipFill>
        <p:spPr>
          <a:xfrm>
            <a:off x="548640" y="1353240"/>
            <a:ext cx="5255640" cy="3884040"/>
          </a:xfrm>
          <a:prstGeom prst="rect">
            <a:avLst/>
          </a:prstGeom>
          <a:ln w="0">
            <a:noFill/>
          </a:ln>
        </p:spPr>
      </p:pic>
      <p:sp>
        <p:nvSpPr>
          <p:cNvPr id="134" name="TextBox 22"/>
          <p:cNvSpPr/>
          <p:nvPr/>
        </p:nvSpPr>
        <p:spPr>
          <a:xfrm>
            <a:off x="2096640" y="5347440"/>
            <a:ext cx="215964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Source: author with IA assistance (ChatGPT)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36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8. Rotation, projection, and lighting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530280" y="822960"/>
            <a:ext cx="106963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a8b9c7"/>
                </a:solidFill>
                <a:latin typeface="Aptos"/>
                <a:ea typeface="DejaVu Sans"/>
              </a:rPr>
              <a:t>The global angles drive the sin() and cos() terms.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9" name="Image 0" descr="/mnt/data/a_clean_high_quality_3d_rendered_infographic_diag.png"/>
          <p:cNvPicPr/>
          <p:nvPr/>
        </p:nvPicPr>
        <p:blipFill>
          <a:blip r:embed="rId1"/>
          <a:srcRect l="4544" t="0" r="4544" b="0"/>
          <a:stretch/>
        </p:blipFill>
        <p:spPr>
          <a:xfrm>
            <a:off x="6583680" y="1234440"/>
            <a:ext cx="4798440" cy="2969640"/>
          </a:xfrm>
          <a:prstGeom prst="rect">
            <a:avLst/>
          </a:prstGeom>
          <a:ln w="0">
            <a:noFill/>
          </a:ln>
        </p:spPr>
      </p:pic>
      <p:sp>
        <p:nvSpPr>
          <p:cNvPr id="140" name="Text 4"/>
          <p:cNvSpPr/>
          <p:nvPr/>
        </p:nvSpPr>
        <p:spPr>
          <a:xfrm>
            <a:off x="685800" y="1385280"/>
            <a:ext cx="4112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f7fa"/>
                </a:solidFill>
                <a:latin typeface="Aptos"/>
                <a:ea typeface="DejaVu Sans"/>
              </a:rPr>
              <a:t>Global rotations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749880" y="1798560"/>
            <a:ext cx="5301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78f5ff"/>
                </a:solidFill>
                <a:latin typeface="Cascadia Mono"/>
                <a:ea typeface="Cascadia Mono"/>
              </a:rPr>
              <a:t>A = angleAxial      B = angleElevation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749880" y="2328840"/>
            <a:ext cx="5301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e08a"/>
                </a:solidFill>
                <a:latin typeface="Cascadia Mono"/>
                <a:ea typeface="Cascadia Mono"/>
              </a:rPr>
              <a:t>y₁ = y₀·cos(A) − z₀·sin(A)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749880" y="2813400"/>
            <a:ext cx="5301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e08a"/>
                </a:solidFill>
                <a:latin typeface="Cascadia Mono"/>
                <a:ea typeface="Cascadia Mono"/>
              </a:rPr>
              <a:t>z₁ = y₀·sin(A) + z₀·cos(A)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749880" y="3362040"/>
            <a:ext cx="5301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x₂ = x₀·cos(B) − y₁·sin(B)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749880" y="3846600"/>
            <a:ext cx="5301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y₂ = x₀·sin(B) + y₁·cos(B)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0"/>
          <p:cNvSpPr/>
          <p:nvPr/>
        </p:nvSpPr>
        <p:spPr>
          <a:xfrm>
            <a:off x="685800" y="4649760"/>
            <a:ext cx="4112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f2f7fa"/>
                </a:solidFill>
                <a:latin typeface="Aptos"/>
                <a:ea typeface="DejaVu Sans"/>
              </a:rPr>
              <a:t>Screen projection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749880" y="5007960"/>
            <a:ext cx="5301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89f5c5"/>
                </a:solidFill>
                <a:latin typeface="Cascadia Mono"/>
                <a:ea typeface="Cascadia Mono"/>
              </a:rPr>
              <a:t>D = 1 / (z₁ + cameraDistance)</a:t>
            </a:r>
            <a:endParaRPr b="0" lang="pt-BR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749880" y="5465160"/>
            <a:ext cx="5301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89f5c5"/>
                </a:solidFill>
                <a:latin typeface="Cascadia Mono"/>
                <a:ea typeface="Cascadia Mono"/>
              </a:rPr>
              <a:t>col = centerX + scaleX·D·x₂</a:t>
            </a:r>
            <a:endParaRPr b="0" lang="pt-BR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749880" y="5922360"/>
            <a:ext cx="5301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89f5c5"/>
                </a:solidFill>
                <a:latin typeface="Cascadia Mono"/>
                <a:ea typeface="Cascadia Mono"/>
              </a:rPr>
              <a:t>row = centerY + scaleY·D·y₂</a:t>
            </a:r>
            <a:endParaRPr b="0" lang="pt-BR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6698160" y="4732560"/>
            <a:ext cx="4569840" cy="866520"/>
          </a:xfrm>
          <a:prstGeom prst="roundRect">
            <a:avLst>
              <a:gd name="adj" fmla="val 6316"/>
            </a:avLst>
          </a:prstGeom>
          <a:solidFill>
            <a:srgbClr val="0d1825"/>
          </a:solidFill>
          <a:ln w="12600">
            <a:solidFill>
              <a:srgbClr val="ffe08a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6835320" y="4842360"/>
            <a:ext cx="42955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pt-BR" sz="1320" spc="-1" strike="noStrike">
                <a:solidFill>
                  <a:srgbClr val="f2f7fa"/>
                </a:solidFill>
                <a:latin typeface="Arial"/>
                <a:ea typeface="DejaVu Sans"/>
              </a:rPr>
              <a:t>light = lightDirection · surfaceNormal</a:t>
            </a:r>
            <a:endParaRPr b="0" lang="pt-BR" sz="132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20" spc="-1" strike="noStrike">
                <a:solidFill>
                  <a:srgbClr val="f2f7fa"/>
                </a:solidFill>
                <a:latin typeface="Arial"/>
                <a:ea typeface="DejaVu Sans"/>
              </a:rPr>
              <a:t>shadeIndex &lt;- int(6 + 4.5 * light)</a:t>
            </a:r>
            <a:endParaRPr b="0" lang="pt-BR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6"/>
          <p:cNvSpPr/>
          <p:nvPr/>
        </p:nvSpPr>
        <p:spPr>
          <a:xfrm>
            <a:off x="6629400" y="5829840"/>
            <a:ext cx="542880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</a:pPr>
            <a:r>
              <a:rPr b="0" lang="pt-BR" sz="1320" spc="-1" strike="noStrike">
                <a:solidFill>
                  <a:srgbClr val="a8b9c7"/>
                </a:solidFill>
                <a:latin typeface="Arial"/>
                <a:ea typeface="DejaVu Sans"/>
              </a:rPr>
              <a:t>Lighting maps surface direction to a dim, medium, or bright ASCII character.</a:t>
            </a:r>
            <a:endParaRPr b="0" lang="pt-BR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17"/>
          <p:cNvSpPr/>
          <p:nvPr/>
        </p:nvSpPr>
        <p:spPr>
          <a:xfrm>
            <a:off x="11292840" y="6707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09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Box 8"/>
          <p:cNvSpPr/>
          <p:nvPr/>
        </p:nvSpPr>
        <p:spPr>
          <a:xfrm>
            <a:off x="7993080" y="4320000"/>
            <a:ext cx="197964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Source: author with IA assistance (ChatGPT)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9. From 3D geometry to the text screen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685800" y="1404720"/>
            <a:ext cx="38383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f7fa"/>
                </a:solidFill>
                <a:latin typeface="Aptos"/>
                <a:ea typeface="DejaVu Sans"/>
              </a:rPr>
              <a:t>Important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5"/>
          <p:cNvSpPr/>
          <p:nvPr/>
        </p:nvSpPr>
        <p:spPr>
          <a:xfrm>
            <a:off x="768240" y="2117880"/>
            <a:ext cx="70920" cy="70920"/>
          </a:xfrm>
          <a:prstGeom prst="ellipse">
            <a:avLst/>
          </a:prstGeom>
          <a:solidFill>
            <a:srgbClr val="ffe08a"/>
          </a:solidFill>
          <a:ln w="12600">
            <a:solidFill>
              <a:srgbClr val="ffe0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951120" y="2044800"/>
            <a:ext cx="53013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f2f7fa"/>
                </a:solidFill>
                <a:latin typeface="Aptos"/>
                <a:ea typeface="DejaVu Sans"/>
              </a:rPr>
              <a:t>Closer points are projected larger.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768240" y="2575080"/>
            <a:ext cx="70920" cy="70920"/>
          </a:xfrm>
          <a:prstGeom prst="ellipse">
            <a:avLst/>
          </a:prstGeom>
          <a:solidFill>
            <a:srgbClr val="37d9f5"/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951120" y="2502000"/>
            <a:ext cx="53013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f2f7fa"/>
                </a:solidFill>
                <a:latin typeface="Aptos"/>
                <a:ea typeface="DejaVu Sans"/>
              </a:rPr>
              <a:t>Each point becomes one screen column and row.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9"/>
          <p:cNvSpPr/>
          <p:nvPr/>
        </p:nvSpPr>
        <p:spPr>
          <a:xfrm>
            <a:off x="768240" y="3032280"/>
            <a:ext cx="70920" cy="70920"/>
          </a:xfrm>
          <a:prstGeom prst="ellipse">
            <a:avLst/>
          </a:prstGeom>
          <a:solidFill>
            <a:srgbClr val="89f5c5"/>
          </a:solidFill>
          <a:ln w="12600">
            <a:solidFill>
              <a:srgbClr val="89f5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951120" y="2959200"/>
            <a:ext cx="53013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f2f7fa"/>
                </a:solidFill>
                <a:latin typeface="Aptos"/>
                <a:ea typeface="DejaVu Sans"/>
              </a:rPr>
              <a:t>If two points land in the same cell, the closer point wins.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1"/>
          <p:cNvSpPr/>
          <p:nvPr/>
        </p:nvSpPr>
        <p:spPr>
          <a:xfrm>
            <a:off x="777240" y="3782160"/>
            <a:ext cx="511848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fe08a"/>
                </a:solidFill>
                <a:latin typeface="Cascadia Mono"/>
                <a:ea typeface="Cascadia Mono"/>
              </a:rPr>
              <a:t>inverseDepth = 1 / (rotatedZ + distanceFromCamera)</a:t>
            </a:r>
            <a:endParaRPr b="0" lang="pt-BR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12"/>
          <p:cNvSpPr/>
          <p:nvPr/>
        </p:nvSpPr>
        <p:spPr>
          <a:xfrm>
            <a:off x="777240" y="4312440"/>
            <a:ext cx="5301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78f5ff"/>
                </a:solidFill>
                <a:latin typeface="Cascadia Mono"/>
                <a:ea typeface="Cascadia Mono"/>
              </a:rPr>
              <a:t>screenCol = centerX + scaleX × inverseDepth × rotatedX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777240" y="4806360"/>
            <a:ext cx="5301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78f5ff"/>
                </a:solidFill>
                <a:latin typeface="Cascadia Mono"/>
                <a:ea typeface="Cascadia Mono"/>
              </a:rPr>
              <a:t>screenRow = centerY + scaleY × inverseDepth × rotatedY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14">
            <a:hlinkClick r:id="rId1" action="ppaction://hlinksldjump"/>
          </p:cNvPr>
          <p:cNvSpPr/>
          <p:nvPr/>
        </p:nvSpPr>
        <p:spPr>
          <a:xfrm>
            <a:off x="6410160" y="1508760"/>
            <a:ext cx="5118480" cy="930600"/>
          </a:xfrm>
          <a:prstGeom prst="roundRect">
            <a:avLst>
              <a:gd name="adj" fmla="val 5882"/>
            </a:avLst>
          </a:prstGeom>
          <a:solidFill>
            <a:srgbClr val="0d1825"/>
          </a:solidFill>
          <a:ln w="12600">
            <a:solidFill>
              <a:srgbClr val="25445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69" name="Text 15">
            <a:hlinkClick r:id="rId2" action="ppaction://hlinksldjump"/>
          </p:cNvPr>
          <p:cNvSpPr/>
          <p:nvPr/>
        </p:nvSpPr>
        <p:spPr>
          <a:xfrm>
            <a:off x="6547320" y="1444680"/>
            <a:ext cx="484416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d9f1ff"/>
                </a:solidFill>
                <a:latin typeface="Cascadia Mono"/>
                <a:ea typeface="DejaVu Sans"/>
              </a:rPr>
              <a:t>if inverseDepth &gt; depthBuffer[row, col] then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d9f1ff"/>
                </a:solidFill>
                <a:latin typeface="Cascadia Mono"/>
                <a:ea typeface="DejaVu Sans"/>
              </a:rPr>
              <a:t>   </a:t>
            </a:r>
            <a:r>
              <a:rPr b="0" lang="pt-BR" sz="1050" spc="-1" strike="noStrike">
                <a:solidFill>
                  <a:srgbClr val="d9f1ff"/>
                </a:solidFill>
                <a:latin typeface="Cascadia Mono"/>
                <a:ea typeface="DejaVu Sans"/>
              </a:rPr>
              <a:t>depthBuffer[row, col] = inverseDepth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d9f1ff"/>
                </a:solidFill>
                <a:latin typeface="Cascadia Mono"/>
                <a:ea typeface="DejaVu Sans"/>
              </a:rPr>
              <a:t>   </a:t>
            </a:r>
            <a:r>
              <a:rPr b="0" lang="pt-BR" sz="1050" spc="-1" strike="noStrike">
                <a:solidFill>
                  <a:srgbClr val="d9f1ff"/>
                </a:solidFill>
                <a:latin typeface="Cascadia Mono"/>
                <a:ea typeface="DejaVu Sans"/>
              </a:rPr>
              <a:t>charBuffer[row, col] = shadeRamp[shadeIndex]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d9f1ff"/>
                </a:solidFill>
                <a:latin typeface="Cascadia Mono"/>
                <a:ea typeface="DejaVu Sans"/>
              </a:rPr>
              <a:t>end if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0" name="Image 0" descr="/mnt/data/wide_dark_black_minimal_infographic_like_scene_a.png"/>
          <p:cNvPicPr/>
          <p:nvPr/>
        </p:nvPicPr>
        <p:blipFill>
          <a:blip r:embed="rId3"/>
          <a:srcRect l="0" t="5579" r="0" b="5579"/>
          <a:stretch/>
        </p:blipFill>
        <p:spPr>
          <a:xfrm>
            <a:off x="6410160" y="2697480"/>
            <a:ext cx="5118480" cy="2558160"/>
          </a:xfrm>
          <a:prstGeom prst="rect">
            <a:avLst/>
          </a:prstGeom>
          <a:ln w="0">
            <a:noFill/>
          </a:ln>
        </p:spPr>
      </p:pic>
      <p:sp>
        <p:nvSpPr>
          <p:cNvPr id="171" name="Text 16"/>
          <p:cNvSpPr/>
          <p:nvPr/>
        </p:nvSpPr>
        <p:spPr>
          <a:xfrm>
            <a:off x="11292840" y="6455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10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19"/>
          <p:cNvSpPr/>
          <p:nvPr/>
        </p:nvSpPr>
        <p:spPr>
          <a:xfrm>
            <a:off x="7899840" y="5321880"/>
            <a:ext cx="213876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Source: author with IA assistance (ChatGPT)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74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10. Where it appears in the code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530280" y="822960"/>
            <a:ext cx="106963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pt-BR" sz="1150" spc="-1" strike="noStrike">
                <a:solidFill>
                  <a:srgbClr val="a8b9c7"/>
                </a:solidFill>
                <a:latin typeface="Arial"/>
                <a:ea typeface="DejaVu Sans"/>
              </a:rPr>
              <a:t>These excerpts connect motion, projection, and drawing in the VisuAlg console.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7" name="Image 0" descr="/mnt/data/a_clean_high_quality_3d_rendered_infographic_diag.png"/>
          <p:cNvPicPr/>
          <p:nvPr/>
        </p:nvPicPr>
        <p:blipFill>
          <a:blip r:embed="rId1"/>
          <a:srcRect l="10672" t="0" r="10672" b="0"/>
          <a:stretch/>
        </p:blipFill>
        <p:spPr>
          <a:xfrm>
            <a:off x="567000" y="1417320"/>
            <a:ext cx="5301360" cy="3792600"/>
          </a:xfrm>
          <a:prstGeom prst="rect">
            <a:avLst/>
          </a:prstGeom>
          <a:ln w="0">
            <a:noFill/>
          </a:ln>
        </p:spPr>
      </p:pic>
      <p:sp>
        <p:nvSpPr>
          <p:cNvPr id="178" name="Shape 4">
            <a:hlinkClick r:id="rId2" action="ppaction://hlinksldjump"/>
          </p:cNvPr>
          <p:cNvSpPr/>
          <p:nvPr/>
        </p:nvSpPr>
        <p:spPr>
          <a:xfrm>
            <a:off x="6309360" y="1325880"/>
            <a:ext cx="5118480" cy="1415160"/>
          </a:xfrm>
          <a:prstGeom prst="roundRect">
            <a:avLst>
              <a:gd name="adj" fmla="val 3871"/>
            </a:avLst>
          </a:prstGeom>
          <a:solidFill>
            <a:srgbClr val="0d1825"/>
          </a:solidFill>
          <a:ln w="12600">
            <a:solidFill>
              <a:srgbClr val="25445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79" name="Text 5">
            <a:hlinkClick r:id="rId3" action="ppaction://hlinksldjump"/>
          </p:cNvPr>
          <p:cNvSpPr/>
          <p:nvPr/>
        </p:nvSpPr>
        <p:spPr>
          <a:xfrm>
            <a:off x="6446520" y="1435680"/>
            <a:ext cx="4844160" cy="11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0" name="Shape 6">
            <a:hlinkClick r:id="rId4" action="ppaction://hlinksldjump"/>
          </p:cNvPr>
          <p:cNvSpPr/>
          <p:nvPr/>
        </p:nvSpPr>
        <p:spPr>
          <a:xfrm>
            <a:off x="6309360" y="3063240"/>
            <a:ext cx="5118480" cy="912240"/>
          </a:xfrm>
          <a:prstGeom prst="roundRect">
            <a:avLst>
              <a:gd name="adj" fmla="val 6000"/>
            </a:avLst>
          </a:prstGeom>
          <a:solidFill>
            <a:srgbClr val="0d1825"/>
          </a:solidFill>
          <a:ln w="12600">
            <a:solidFill>
              <a:srgbClr val="ffb22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81" name="Text 7">
            <a:hlinkClick r:id="rId5" action="ppaction://hlinksldjump"/>
          </p:cNvPr>
          <p:cNvSpPr/>
          <p:nvPr/>
        </p:nvSpPr>
        <p:spPr>
          <a:xfrm>
            <a:off x="6446520" y="3173040"/>
            <a:ext cx="484416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2" name="Shape 8">
            <a:hlinkClick r:id="rId6" action="ppaction://hlinksldjump"/>
          </p:cNvPr>
          <p:cNvSpPr/>
          <p:nvPr/>
        </p:nvSpPr>
        <p:spPr>
          <a:xfrm>
            <a:off x="6309360" y="4434840"/>
            <a:ext cx="5118480" cy="1095120"/>
          </a:xfrm>
          <a:prstGeom prst="roundRect">
            <a:avLst>
              <a:gd name="adj" fmla="val 5000"/>
            </a:avLst>
          </a:prstGeom>
          <a:solidFill>
            <a:srgbClr val="0d1825"/>
          </a:solidFill>
          <a:ln w="12600">
            <a:solidFill>
              <a:srgbClr val="37d9f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83" name="Text 9">
            <a:hlinkClick r:id="rId7" action="ppaction://hlinksldjump"/>
          </p:cNvPr>
          <p:cNvSpPr/>
          <p:nvPr/>
        </p:nvSpPr>
        <p:spPr>
          <a:xfrm>
            <a:off x="6446520" y="4544640"/>
            <a:ext cx="4844160" cy="8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11292840" y="6455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11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Box 13"/>
          <p:cNvSpPr/>
          <p:nvPr/>
        </p:nvSpPr>
        <p:spPr>
          <a:xfrm>
            <a:off x="2227680" y="5285160"/>
            <a:ext cx="197964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Source: author with IA assistance (ChatGPT)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6" name="Picture 185" descr="s11_1.png"/>
          <p:cNvPicPr/>
          <p:nvPr/>
        </p:nvPicPr>
        <p:blipFill>
          <a:blip r:embed="rId8"/>
          <a:stretch/>
        </p:blipFill>
        <p:spPr>
          <a:xfrm>
            <a:off x="6463080" y="1439280"/>
            <a:ext cx="4811400" cy="1188720"/>
          </a:xfrm>
          <a:prstGeom prst="rect">
            <a:avLst/>
          </a:prstGeom>
          <a:ln w="0">
            <a:noFill/>
          </a:ln>
        </p:spPr>
      </p:pic>
      <p:pic>
        <p:nvPicPr>
          <p:cNvPr id="187" name="Picture 186" descr="s11_2.png"/>
          <p:cNvPicPr/>
          <p:nvPr/>
        </p:nvPicPr>
        <p:blipFill>
          <a:blip r:embed="rId9"/>
          <a:stretch/>
        </p:blipFill>
        <p:spPr>
          <a:xfrm>
            <a:off x="6463080" y="3136320"/>
            <a:ext cx="4811400" cy="766080"/>
          </a:xfrm>
          <a:prstGeom prst="rect">
            <a:avLst/>
          </a:prstGeom>
          <a:ln w="0">
            <a:noFill/>
          </a:ln>
        </p:spPr>
      </p:pic>
      <p:pic>
        <p:nvPicPr>
          <p:cNvPr id="188" name="Picture 187" descr="s11_3.png"/>
          <p:cNvPicPr/>
          <p:nvPr/>
        </p:nvPicPr>
        <p:blipFill>
          <a:blip r:embed="rId10"/>
          <a:stretch/>
        </p:blipFill>
        <p:spPr>
          <a:xfrm>
            <a:off x="6463080" y="4522680"/>
            <a:ext cx="4811400" cy="91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90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400" spc="-1" strike="noStrike">
                <a:solidFill>
                  <a:srgbClr val="f0f6fa"/>
                </a:solidFill>
                <a:latin typeface="Aptos"/>
                <a:ea typeface="DejaVu Sans"/>
              </a:rPr>
              <a:t>Animation parameters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502920" y="1097280"/>
            <a:ext cx="11107800" cy="5438520"/>
          </a:xfrm>
          <a:prstGeom prst="roundRect">
            <a:avLst>
              <a:gd name="adj" fmla="val 1345"/>
            </a:avLst>
          </a:prstGeom>
          <a:solidFill>
            <a:srgbClr val="0d1825"/>
          </a:solidFill>
          <a:ln w="14040">
            <a:solidFill>
              <a:srgbClr val="25445e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93" name="Shape 5"/>
          <p:cNvSpPr/>
          <p:nvPr/>
        </p:nvSpPr>
        <p:spPr>
          <a:xfrm>
            <a:off x="1051560" y="1134000"/>
            <a:ext cx="11520" cy="5365440"/>
          </a:xfrm>
          <a:prstGeom prst="rect">
            <a:avLst/>
          </a:prstGeom>
          <a:solidFill>
            <a:srgbClr val="25445e"/>
          </a:solidFill>
          <a:ln w="12600">
            <a:solidFill>
              <a:srgbClr val="2544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94" name="Shape 6"/>
          <p:cNvSpPr/>
          <p:nvPr/>
        </p:nvSpPr>
        <p:spPr>
          <a:xfrm>
            <a:off x="1106280" y="2185560"/>
            <a:ext cx="2238120" cy="446040"/>
          </a:xfrm>
          <a:prstGeom prst="roundRect">
            <a:avLst>
              <a:gd name="adj" fmla="val 6316"/>
            </a:avLst>
          </a:prstGeom>
          <a:solidFill>
            <a:srgbClr val="ffb22e">
              <a:alpha val="12000"/>
            </a:srgbClr>
          </a:solidFill>
          <a:ln w="17640">
            <a:solidFill>
              <a:srgbClr val="ffb2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95" name="Shape 10"/>
          <p:cNvSpPr/>
          <p:nvPr/>
        </p:nvSpPr>
        <p:spPr>
          <a:xfrm>
            <a:off x="1106280" y="3191400"/>
            <a:ext cx="3746880" cy="446040"/>
          </a:xfrm>
          <a:prstGeom prst="roundRect">
            <a:avLst>
              <a:gd name="adj" fmla="val 6316"/>
            </a:avLst>
          </a:prstGeom>
          <a:solidFill>
            <a:srgbClr val="37d9f5">
              <a:alpha val="12000"/>
            </a:srgbClr>
          </a:solidFill>
          <a:ln w="17640">
            <a:solidFill>
              <a:srgbClr val="37d9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96" name="Shape 14"/>
          <p:cNvSpPr/>
          <p:nvPr/>
        </p:nvSpPr>
        <p:spPr>
          <a:xfrm>
            <a:off x="1106280" y="4206240"/>
            <a:ext cx="2146680" cy="235440"/>
          </a:xfrm>
          <a:prstGeom prst="roundRect">
            <a:avLst>
              <a:gd name="adj" fmla="val 11765"/>
            </a:avLst>
          </a:prstGeom>
          <a:solidFill>
            <a:srgbClr val="e685ff">
              <a:alpha val="12000"/>
            </a:srgbClr>
          </a:solidFill>
          <a:ln w="17640">
            <a:solidFill>
              <a:srgbClr val="e68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97" name="Text 18"/>
          <p:cNvSpPr/>
          <p:nvPr/>
        </p:nvSpPr>
        <p:spPr>
          <a:xfrm>
            <a:off x="612720" y="120708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110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19"/>
          <p:cNvSpPr/>
          <p:nvPr/>
        </p:nvSpPr>
        <p:spPr>
          <a:xfrm>
            <a:off x="1124640" y="120708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f &lt;- 3.141592653589793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20"/>
          <p:cNvSpPr/>
          <p:nvPr/>
        </p:nvSpPr>
        <p:spPr>
          <a:xfrm>
            <a:off x="612720" y="140832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112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21"/>
          <p:cNvSpPr/>
          <p:nvPr/>
        </p:nvSpPr>
        <p:spPr>
          <a:xfrm>
            <a:off x="1124640" y="140832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Initial rotation.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22"/>
          <p:cNvSpPr/>
          <p:nvPr/>
        </p:nvSpPr>
        <p:spPr>
          <a:xfrm>
            <a:off x="612720" y="160920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114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23"/>
          <p:cNvSpPr/>
          <p:nvPr/>
        </p:nvSpPr>
        <p:spPr>
          <a:xfrm>
            <a:off x="1124640" y="160920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a &lt;- 1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24"/>
          <p:cNvSpPr/>
          <p:nvPr/>
        </p:nvSpPr>
        <p:spPr>
          <a:xfrm>
            <a:off x="612720" y="181044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115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25"/>
          <p:cNvSpPr/>
          <p:nvPr/>
        </p:nvSpPr>
        <p:spPr>
          <a:xfrm>
            <a:off x="1124640" y="181044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b &lt;- 1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6"/>
          <p:cNvSpPr/>
          <p:nvPr/>
        </p:nvSpPr>
        <p:spPr>
          <a:xfrm>
            <a:off x="612720" y="201168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117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27"/>
          <p:cNvSpPr/>
          <p:nvPr/>
        </p:nvSpPr>
        <p:spPr>
          <a:xfrm>
            <a:off x="1124640" y="201168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Original animation rotation increments.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28"/>
          <p:cNvSpPr/>
          <p:nvPr/>
        </p:nvSpPr>
        <p:spPr>
          <a:xfrm>
            <a:off x="612720" y="221292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119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29"/>
          <p:cNvSpPr/>
          <p:nvPr/>
        </p:nvSpPr>
        <p:spPr>
          <a:xfrm>
            <a:off x="1124640" y="221292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11 axial turns per 6280 frames.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30"/>
          <p:cNvSpPr/>
          <p:nvPr/>
        </p:nvSpPr>
        <p:spPr>
          <a:xfrm>
            <a:off x="612720" y="241416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120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31"/>
          <p:cNvSpPr/>
          <p:nvPr/>
        </p:nvSpPr>
        <p:spPr>
          <a:xfrm>
            <a:off x="1124640" y="241416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5 elevation turns per 6280 frames.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32"/>
          <p:cNvSpPr/>
          <p:nvPr/>
        </p:nvSpPr>
        <p:spPr>
          <a:xfrm>
            <a:off x="612720" y="261504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122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33"/>
          <p:cNvSpPr/>
          <p:nvPr/>
        </p:nvSpPr>
        <p:spPr>
          <a:xfrm>
            <a:off x="1124640" y="261504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g &lt;- (2 * f * 11) / 6280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34"/>
          <p:cNvSpPr/>
          <p:nvPr/>
        </p:nvSpPr>
        <p:spPr>
          <a:xfrm>
            <a:off x="612720" y="281628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123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35"/>
          <p:cNvSpPr/>
          <p:nvPr/>
        </p:nvSpPr>
        <p:spPr>
          <a:xfrm>
            <a:off x="1124640" y="281628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h &lt;- (2 * f * 5) / 6280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36"/>
          <p:cNvSpPr/>
          <p:nvPr/>
        </p:nvSpPr>
        <p:spPr>
          <a:xfrm>
            <a:off x="612720" y="301752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125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37"/>
          <p:cNvSpPr/>
          <p:nvPr/>
        </p:nvSpPr>
        <p:spPr>
          <a:xfrm>
            <a:off x="1124640" y="301752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Rotation speed compensation.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38"/>
          <p:cNvSpPr/>
          <p:nvPr/>
        </p:nvSpPr>
        <p:spPr>
          <a:xfrm>
            <a:off x="612720" y="321876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127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39"/>
          <p:cNvSpPr/>
          <p:nvPr/>
        </p:nvSpPr>
        <p:spPr>
          <a:xfrm>
            <a:off x="1124640" y="321876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The JavaScript version targets roughly 20 FPS.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40"/>
          <p:cNvSpPr/>
          <p:nvPr/>
        </p:nvSpPr>
        <p:spPr>
          <a:xfrm>
            <a:off x="612720" y="342000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128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41"/>
          <p:cNvSpPr/>
          <p:nvPr/>
        </p:nvSpPr>
        <p:spPr>
          <a:xfrm>
            <a:off x="1124640" y="342000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The Windows VisuAlg GUI redraws the console more slowly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42"/>
          <p:cNvSpPr/>
          <p:nvPr/>
        </p:nvSpPr>
        <p:spPr>
          <a:xfrm>
            <a:off x="612720" y="362088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129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43"/>
          <p:cNvSpPr/>
          <p:nvPr/>
        </p:nvSpPr>
        <p:spPr>
          <a:xfrm>
            <a:off x="1124640" y="362088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than the browser version, so each rendered frame advances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44"/>
          <p:cNvSpPr/>
          <p:nvPr/>
        </p:nvSpPr>
        <p:spPr>
          <a:xfrm>
            <a:off x="612720" y="382212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130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45"/>
          <p:cNvSpPr/>
          <p:nvPr/>
        </p:nvSpPr>
        <p:spPr>
          <a:xfrm>
            <a:off x="1124640" y="382212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the rotation farther.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46"/>
          <p:cNvSpPr/>
          <p:nvPr/>
        </p:nvSpPr>
        <p:spPr>
          <a:xfrm>
            <a:off x="612720" y="402336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132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47"/>
          <p:cNvSpPr/>
          <p:nvPr/>
        </p:nvSpPr>
        <p:spPr>
          <a:xfrm>
            <a:off x="1124640" y="402336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Try values between 2 and 6 if desired.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48"/>
          <p:cNvSpPr/>
          <p:nvPr/>
        </p:nvSpPr>
        <p:spPr>
          <a:xfrm>
            <a:off x="612720" y="422460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134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49"/>
          <p:cNvSpPr/>
          <p:nvPr/>
        </p:nvSpPr>
        <p:spPr>
          <a:xfrm>
            <a:off x="1124640" y="422460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ak &lt;- 4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50"/>
          <p:cNvSpPr/>
          <p:nvPr/>
        </p:nvSpPr>
        <p:spPr>
          <a:xfrm>
            <a:off x="612720" y="442584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136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51"/>
          <p:cNvSpPr/>
          <p:nvPr/>
        </p:nvSpPr>
        <p:spPr>
          <a:xfrm>
            <a:off x="1124640" y="442584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ASCII brightness ramp.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52"/>
          <p:cNvSpPr/>
          <p:nvPr/>
        </p:nvSpPr>
        <p:spPr>
          <a:xfrm>
            <a:off x="612720" y="462672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138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53"/>
          <p:cNvSpPr/>
          <p:nvPr/>
        </p:nvSpPr>
        <p:spPr>
          <a:xfrm>
            <a:off x="1124640" y="462672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More levels give smoother transitions between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54"/>
          <p:cNvSpPr/>
          <p:nvPr/>
        </p:nvSpPr>
        <p:spPr>
          <a:xfrm>
            <a:off x="612720" y="482796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139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55"/>
          <p:cNvSpPr/>
          <p:nvPr/>
        </p:nvSpPr>
        <p:spPr>
          <a:xfrm>
            <a:off x="1124640" y="482796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shadow, midtone, and highlight.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56"/>
          <p:cNvSpPr/>
          <p:nvPr/>
        </p:nvSpPr>
        <p:spPr>
          <a:xfrm>
            <a:off x="612720" y="502920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141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57"/>
          <p:cNvSpPr/>
          <p:nvPr/>
        </p:nvSpPr>
        <p:spPr>
          <a:xfrm>
            <a:off x="1124640" y="502920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z &lt;- ".,-~:;=+!*#$%@"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58"/>
          <p:cNvSpPr/>
          <p:nvPr/>
        </p:nvSpPr>
        <p:spPr>
          <a:xfrm>
            <a:off x="612720" y="523044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143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59"/>
          <p:cNvSpPr/>
          <p:nvPr/>
        </p:nvSpPr>
        <p:spPr>
          <a:xfrm>
            <a:off x="1124640" y="523044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// Sampling-step trigonometry.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60"/>
          <p:cNvSpPr/>
          <p:nvPr/>
        </p:nvSpPr>
        <p:spPr>
          <a:xfrm>
            <a:off x="612720" y="543168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145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61"/>
          <p:cNvSpPr/>
          <p:nvPr/>
        </p:nvSpPr>
        <p:spPr>
          <a:xfrm>
            <a:off x="1124640" y="543168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ad &lt;- sen(0.12)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62"/>
          <p:cNvSpPr/>
          <p:nvPr/>
        </p:nvSpPr>
        <p:spPr>
          <a:xfrm>
            <a:off x="612720" y="563256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146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63"/>
          <p:cNvSpPr/>
          <p:nvPr/>
        </p:nvSpPr>
        <p:spPr>
          <a:xfrm>
            <a:off x="1124640" y="563256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ae &lt;- cos(0.12)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64"/>
          <p:cNvSpPr/>
          <p:nvPr/>
        </p:nvSpPr>
        <p:spPr>
          <a:xfrm>
            <a:off x="612720" y="583380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148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65"/>
          <p:cNvSpPr/>
          <p:nvPr/>
        </p:nvSpPr>
        <p:spPr>
          <a:xfrm>
            <a:off x="1124640" y="583380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af &lt;- sen(0.04)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66"/>
          <p:cNvSpPr/>
          <p:nvPr/>
        </p:nvSpPr>
        <p:spPr>
          <a:xfrm>
            <a:off x="612720" y="6035040"/>
            <a:ext cx="400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0b4cd"/>
                </a:solidFill>
                <a:latin typeface="Consolas"/>
                <a:ea typeface="DejaVu Sans"/>
              </a:rPr>
              <a:t>149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67"/>
          <p:cNvSpPr/>
          <p:nvPr/>
        </p:nvSpPr>
        <p:spPr>
          <a:xfrm>
            <a:off x="1124640" y="6035040"/>
            <a:ext cx="10321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200" spc="-1" strike="noStrike">
                <a:solidFill>
                  <a:srgbClr val="ebf3fc"/>
                </a:solidFill>
                <a:latin typeface="Consolas"/>
                <a:ea typeface="DejaVu Sans"/>
              </a:rPr>
              <a:t>ag &lt;- cos(0.04)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68"/>
          <p:cNvSpPr/>
          <p:nvPr/>
        </p:nvSpPr>
        <p:spPr>
          <a:xfrm>
            <a:off x="11292840" y="6455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12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8" name="Picture 251" descr="s12.png"/>
          <p:cNvPicPr/>
          <p:nvPr/>
        </p:nvPicPr>
        <p:blipFill>
          <a:blip r:embed="rId1"/>
          <a:stretch/>
        </p:blipFill>
        <p:spPr>
          <a:xfrm>
            <a:off x="502920" y="1097280"/>
            <a:ext cx="11107800" cy="5438520"/>
          </a:xfrm>
          <a:prstGeom prst="rect">
            <a:avLst/>
          </a:prstGeom>
          <a:ln w="0">
            <a:noFill/>
          </a:ln>
        </p:spPr>
      </p:pic>
      <p:sp>
        <p:nvSpPr>
          <p:cNvPr id="249" name="Rounded Rectangle 70">
            <a:hlinkClick r:id="rId2" action="ppaction://hlinksldjump"/>
          </p:cNvPr>
          <p:cNvSpPr/>
          <p:nvPr/>
        </p:nvSpPr>
        <p:spPr>
          <a:xfrm>
            <a:off x="9464040" y="311040"/>
            <a:ext cx="1780920" cy="3088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37d9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f2f7fa"/>
                </a:solidFill>
                <a:latin typeface="Aptos"/>
                <a:ea typeface="DejaVu Sans"/>
              </a:rPr>
              <a:t>← </a:t>
            </a:r>
            <a:r>
              <a:rPr b="0" lang="pt-BR" sz="1800" spc="-1" strike="noStrike">
                <a:solidFill>
                  <a:srgbClr val="f2f7fa"/>
                </a:solidFill>
                <a:latin typeface="Aptos"/>
                <a:ea typeface="DejaVu Sans"/>
              </a:rPr>
              <a:t>Back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Isosceles Triangle 71"/>
          <p:cNvSpPr/>
          <p:nvPr/>
        </p:nvSpPr>
        <p:spPr>
          <a:xfrm rot="16200000">
            <a:off x="8028360" y="2288160"/>
            <a:ext cx="162360" cy="19908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251" name="Rounded Rectangle 72"/>
          <p:cNvSpPr/>
          <p:nvPr/>
        </p:nvSpPr>
        <p:spPr>
          <a:xfrm>
            <a:off x="8183880" y="2148840"/>
            <a:ext cx="2741040" cy="69264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Initial values of the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two global angles.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Isosceles Triangle 73"/>
          <p:cNvSpPr/>
          <p:nvPr/>
        </p:nvSpPr>
        <p:spPr>
          <a:xfrm rot="16200000">
            <a:off x="8028360" y="3248280"/>
            <a:ext cx="162360" cy="19908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253" name="Rounded Rectangle 74"/>
          <p:cNvSpPr/>
          <p:nvPr/>
        </p:nvSpPr>
        <p:spPr>
          <a:xfrm>
            <a:off x="8183880" y="3108960"/>
            <a:ext cx="2741040" cy="69264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11:5 ratio between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the two motions.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Isosceles Triangle 75"/>
          <p:cNvSpPr/>
          <p:nvPr/>
        </p:nvSpPr>
        <p:spPr>
          <a:xfrm rot="16200000">
            <a:off x="8028360" y="4272480"/>
            <a:ext cx="162360" cy="19908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255" name="Rounded Rectangle 76"/>
          <p:cNvSpPr/>
          <p:nvPr/>
        </p:nvSpPr>
        <p:spPr>
          <a:xfrm>
            <a:off x="8183880" y="4133160"/>
            <a:ext cx="2741040" cy="69264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Compensates for the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VisuAlg GUI, which redraws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more slowly.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57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400" spc="-1" strike="noStrike">
                <a:solidFill>
                  <a:srgbClr val="f0f6fa"/>
                </a:solidFill>
                <a:latin typeface="Aptos"/>
                <a:ea typeface="DejaVu Sans"/>
              </a:rPr>
              <a:t>Global rotation calculation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4"/>
          <p:cNvSpPr/>
          <p:nvPr/>
        </p:nvSpPr>
        <p:spPr>
          <a:xfrm>
            <a:off x="502920" y="1097280"/>
            <a:ext cx="11107800" cy="5438520"/>
          </a:xfrm>
          <a:prstGeom prst="roundRect">
            <a:avLst>
              <a:gd name="adj" fmla="val 1345"/>
            </a:avLst>
          </a:prstGeom>
          <a:solidFill>
            <a:srgbClr val="0d1825"/>
          </a:solidFill>
          <a:ln w="14040">
            <a:solidFill>
              <a:srgbClr val="25445e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60" name="Shape 5"/>
          <p:cNvSpPr/>
          <p:nvPr/>
        </p:nvSpPr>
        <p:spPr>
          <a:xfrm>
            <a:off x="1051560" y="1134000"/>
            <a:ext cx="11520" cy="5365440"/>
          </a:xfrm>
          <a:prstGeom prst="rect">
            <a:avLst/>
          </a:prstGeom>
          <a:solidFill>
            <a:srgbClr val="25445e"/>
          </a:solidFill>
          <a:ln w="12600">
            <a:solidFill>
              <a:srgbClr val="2544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61" name="Shape 6"/>
          <p:cNvSpPr/>
          <p:nvPr/>
        </p:nvSpPr>
        <p:spPr>
          <a:xfrm>
            <a:off x="1106280" y="1581840"/>
            <a:ext cx="3243960" cy="957960"/>
          </a:xfrm>
          <a:prstGeom prst="roundRect">
            <a:avLst>
              <a:gd name="adj" fmla="val 2791"/>
            </a:avLst>
          </a:prstGeom>
          <a:solidFill>
            <a:srgbClr val="ffb22e">
              <a:alpha val="12000"/>
            </a:srgbClr>
          </a:solidFill>
          <a:ln w="17640">
            <a:solidFill>
              <a:srgbClr val="ffb2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62" name="Shape 10"/>
          <p:cNvSpPr/>
          <p:nvPr/>
        </p:nvSpPr>
        <p:spPr>
          <a:xfrm>
            <a:off x="1106280" y="2715840"/>
            <a:ext cx="3564000" cy="966960"/>
          </a:xfrm>
          <a:prstGeom prst="roundRect">
            <a:avLst>
              <a:gd name="adj" fmla="val 2012"/>
            </a:avLst>
          </a:prstGeom>
          <a:solidFill>
            <a:srgbClr val="37d9f5">
              <a:alpha val="12000"/>
            </a:srgbClr>
          </a:solidFill>
          <a:ln w="17640">
            <a:solidFill>
              <a:srgbClr val="37d9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63" name="Shape 14"/>
          <p:cNvSpPr/>
          <p:nvPr/>
        </p:nvSpPr>
        <p:spPr>
          <a:xfrm>
            <a:off x="1106280" y="4242960"/>
            <a:ext cx="3243960" cy="976320"/>
          </a:xfrm>
          <a:prstGeom prst="roundRect">
            <a:avLst>
              <a:gd name="adj" fmla="val 2012"/>
            </a:avLst>
          </a:prstGeom>
          <a:solidFill>
            <a:srgbClr val="89f5c5">
              <a:alpha val="12000"/>
            </a:srgbClr>
          </a:solidFill>
          <a:ln w="17640">
            <a:solidFill>
              <a:srgbClr val="89f5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64" name="Text 18"/>
          <p:cNvSpPr/>
          <p:nvPr/>
        </p:nvSpPr>
        <p:spPr>
          <a:xfrm>
            <a:off x="612720" y="120708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151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9"/>
          <p:cNvSpPr/>
          <p:nvPr/>
        </p:nvSpPr>
        <p:spPr>
          <a:xfrm>
            <a:off x="1124640" y="120708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enquanto (1 = 1) faca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20"/>
          <p:cNvSpPr/>
          <p:nvPr/>
        </p:nvSpPr>
        <p:spPr>
          <a:xfrm>
            <a:off x="612720" y="139716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153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21"/>
          <p:cNvSpPr/>
          <p:nvPr/>
        </p:nvSpPr>
        <p:spPr>
          <a:xfrm>
            <a:off x="1124640" y="139716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// Global torus rotation trigonometry.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22"/>
          <p:cNvSpPr/>
          <p:nvPr/>
        </p:nvSpPr>
        <p:spPr>
          <a:xfrm>
            <a:off x="612720" y="158724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155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23"/>
          <p:cNvSpPr/>
          <p:nvPr/>
        </p:nvSpPr>
        <p:spPr>
          <a:xfrm>
            <a:off x="1124640" y="158724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o &lt;- cos(a)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24"/>
          <p:cNvSpPr/>
          <p:nvPr/>
        </p:nvSpPr>
        <p:spPr>
          <a:xfrm>
            <a:off x="612720" y="177768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156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25"/>
          <p:cNvSpPr/>
          <p:nvPr/>
        </p:nvSpPr>
        <p:spPr>
          <a:xfrm>
            <a:off x="1124640" y="177768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p &lt;- sen(a)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26"/>
          <p:cNvSpPr/>
          <p:nvPr/>
        </p:nvSpPr>
        <p:spPr>
          <a:xfrm>
            <a:off x="612720" y="196776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158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27"/>
          <p:cNvSpPr/>
          <p:nvPr/>
        </p:nvSpPr>
        <p:spPr>
          <a:xfrm>
            <a:off x="1124640" y="196776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q &lt;- cos(b)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28"/>
          <p:cNvSpPr/>
          <p:nvPr/>
        </p:nvSpPr>
        <p:spPr>
          <a:xfrm>
            <a:off x="612720" y="215784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159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29"/>
          <p:cNvSpPr/>
          <p:nvPr/>
        </p:nvSpPr>
        <p:spPr>
          <a:xfrm>
            <a:off x="1124640" y="215784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r &lt;- sen(b)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30"/>
          <p:cNvSpPr/>
          <p:nvPr/>
        </p:nvSpPr>
        <p:spPr>
          <a:xfrm>
            <a:off x="612720" y="234828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161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31"/>
          <p:cNvSpPr/>
          <p:nvPr/>
        </p:nvSpPr>
        <p:spPr>
          <a:xfrm>
            <a:off x="1124640" y="234828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// Clear buffers.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32"/>
          <p:cNvSpPr/>
          <p:nvPr/>
        </p:nvSpPr>
        <p:spPr>
          <a:xfrm>
            <a:off x="612720" y="253836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163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33"/>
          <p:cNvSpPr/>
          <p:nvPr/>
        </p:nvSpPr>
        <p:spPr>
          <a:xfrm>
            <a:off x="1124640" y="253836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para aa de 0 ate 39 faca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34"/>
          <p:cNvSpPr/>
          <p:nvPr/>
        </p:nvSpPr>
        <p:spPr>
          <a:xfrm>
            <a:off x="612720" y="272844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165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35"/>
          <p:cNvSpPr/>
          <p:nvPr/>
        </p:nvSpPr>
        <p:spPr>
          <a:xfrm>
            <a:off x="1124640" y="272844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para ab de 0 ate 118 faca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36"/>
          <p:cNvSpPr/>
          <p:nvPr/>
        </p:nvSpPr>
        <p:spPr>
          <a:xfrm>
            <a:off x="612720" y="291888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166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37"/>
          <p:cNvSpPr/>
          <p:nvPr/>
        </p:nvSpPr>
        <p:spPr>
          <a:xfrm>
            <a:off x="1124640" y="291888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c[aa, ab] &lt;- " "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38"/>
          <p:cNvSpPr/>
          <p:nvPr/>
        </p:nvSpPr>
        <p:spPr>
          <a:xfrm>
            <a:off x="612720" y="310896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167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39"/>
          <p:cNvSpPr/>
          <p:nvPr/>
        </p:nvSpPr>
        <p:spPr>
          <a:xfrm>
            <a:off x="1124640" y="310896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d[aa, ab] &lt;- 0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40"/>
          <p:cNvSpPr/>
          <p:nvPr/>
        </p:nvSpPr>
        <p:spPr>
          <a:xfrm>
            <a:off x="612720" y="329904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168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41"/>
          <p:cNvSpPr/>
          <p:nvPr/>
        </p:nvSpPr>
        <p:spPr>
          <a:xfrm>
            <a:off x="1124640" y="329904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fimpara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42"/>
          <p:cNvSpPr/>
          <p:nvPr/>
        </p:nvSpPr>
        <p:spPr>
          <a:xfrm>
            <a:off x="612720" y="348948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170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43"/>
          <p:cNvSpPr/>
          <p:nvPr/>
        </p:nvSpPr>
        <p:spPr>
          <a:xfrm>
            <a:off x="1124640" y="348948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fimpara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44"/>
          <p:cNvSpPr/>
          <p:nvPr/>
        </p:nvSpPr>
        <p:spPr>
          <a:xfrm>
            <a:off x="612720" y="367956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172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45"/>
          <p:cNvSpPr/>
          <p:nvPr/>
        </p:nvSpPr>
        <p:spPr>
          <a:xfrm>
            <a:off x="1124640" y="367956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// Initial poloidal values.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46"/>
          <p:cNvSpPr/>
          <p:nvPr/>
        </p:nvSpPr>
        <p:spPr>
          <a:xfrm>
            <a:off x="612720" y="386964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174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47"/>
          <p:cNvSpPr/>
          <p:nvPr/>
        </p:nvSpPr>
        <p:spPr>
          <a:xfrm>
            <a:off x="1124640" y="386964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k &lt;- 1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48"/>
          <p:cNvSpPr/>
          <p:nvPr/>
        </p:nvSpPr>
        <p:spPr>
          <a:xfrm>
            <a:off x="612720" y="406008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175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49"/>
          <p:cNvSpPr/>
          <p:nvPr/>
        </p:nvSpPr>
        <p:spPr>
          <a:xfrm>
            <a:off x="1124640" y="406008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l &lt;- 0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50"/>
          <p:cNvSpPr/>
          <p:nvPr/>
        </p:nvSpPr>
        <p:spPr>
          <a:xfrm>
            <a:off x="612720" y="425016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177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51"/>
          <p:cNvSpPr/>
          <p:nvPr/>
        </p:nvSpPr>
        <p:spPr>
          <a:xfrm>
            <a:off x="1124640" y="425016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para i de 0 ate 52 faca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52"/>
          <p:cNvSpPr/>
          <p:nvPr/>
        </p:nvSpPr>
        <p:spPr>
          <a:xfrm>
            <a:off x="612720" y="444024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179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53"/>
          <p:cNvSpPr/>
          <p:nvPr/>
        </p:nvSpPr>
        <p:spPr>
          <a:xfrm>
            <a:off x="1124640" y="444024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// Initial toroidal values.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54"/>
          <p:cNvSpPr/>
          <p:nvPr/>
        </p:nvSpPr>
        <p:spPr>
          <a:xfrm>
            <a:off x="612720" y="463068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181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55"/>
          <p:cNvSpPr/>
          <p:nvPr/>
        </p:nvSpPr>
        <p:spPr>
          <a:xfrm>
            <a:off x="1124640" y="463068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m &lt;- 0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56"/>
          <p:cNvSpPr/>
          <p:nvPr/>
        </p:nvSpPr>
        <p:spPr>
          <a:xfrm>
            <a:off x="612720" y="482076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182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57"/>
          <p:cNvSpPr/>
          <p:nvPr/>
        </p:nvSpPr>
        <p:spPr>
          <a:xfrm>
            <a:off x="1124640" y="482076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n &lt;- 1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58"/>
          <p:cNvSpPr/>
          <p:nvPr/>
        </p:nvSpPr>
        <p:spPr>
          <a:xfrm>
            <a:off x="612720" y="501084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184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59"/>
          <p:cNvSpPr/>
          <p:nvPr/>
        </p:nvSpPr>
        <p:spPr>
          <a:xfrm>
            <a:off x="1124640" y="501084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para j de 0 ate 157 faca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60"/>
          <p:cNvSpPr/>
          <p:nvPr/>
        </p:nvSpPr>
        <p:spPr>
          <a:xfrm>
            <a:off x="612720" y="520128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a0b4cd"/>
                </a:solidFill>
                <a:latin typeface="Consolas"/>
                <a:ea typeface="DejaVu Sans"/>
              </a:rPr>
              <a:t>186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61"/>
          <p:cNvSpPr/>
          <p:nvPr/>
        </p:nvSpPr>
        <p:spPr>
          <a:xfrm>
            <a:off x="1124640" y="520128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100" spc="-1" strike="noStrike">
                <a:solidFill>
                  <a:srgbClr val="ebf3fc"/>
                </a:solidFill>
                <a:latin typeface="Consolas"/>
                <a:ea typeface="DejaVu Sans"/>
              </a:rPr>
              <a:t>// Torus geometry.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62"/>
          <p:cNvSpPr/>
          <p:nvPr/>
        </p:nvSpPr>
        <p:spPr>
          <a:xfrm>
            <a:off x="612720" y="539136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9" name="Text 63"/>
          <p:cNvSpPr/>
          <p:nvPr/>
        </p:nvSpPr>
        <p:spPr>
          <a:xfrm>
            <a:off x="1124640" y="539136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0" name="Text 64"/>
          <p:cNvSpPr/>
          <p:nvPr/>
        </p:nvSpPr>
        <p:spPr>
          <a:xfrm>
            <a:off x="612720" y="558144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1" name="Text 65"/>
          <p:cNvSpPr/>
          <p:nvPr/>
        </p:nvSpPr>
        <p:spPr>
          <a:xfrm>
            <a:off x="1124640" y="558144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2" name="Text 66"/>
          <p:cNvSpPr/>
          <p:nvPr/>
        </p:nvSpPr>
        <p:spPr>
          <a:xfrm>
            <a:off x="612720" y="577152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3" name="Text 67"/>
          <p:cNvSpPr/>
          <p:nvPr/>
        </p:nvSpPr>
        <p:spPr>
          <a:xfrm>
            <a:off x="1124640" y="577152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4" name="Text 68"/>
          <p:cNvSpPr/>
          <p:nvPr/>
        </p:nvSpPr>
        <p:spPr>
          <a:xfrm>
            <a:off x="612720" y="596196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5" name="Text 69"/>
          <p:cNvSpPr/>
          <p:nvPr/>
        </p:nvSpPr>
        <p:spPr>
          <a:xfrm>
            <a:off x="1124640" y="596196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6" name="Text 70"/>
          <p:cNvSpPr/>
          <p:nvPr/>
        </p:nvSpPr>
        <p:spPr>
          <a:xfrm>
            <a:off x="612720" y="6152040"/>
            <a:ext cx="400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7" name="Text 71"/>
          <p:cNvSpPr/>
          <p:nvPr/>
        </p:nvSpPr>
        <p:spPr>
          <a:xfrm>
            <a:off x="1124640" y="6152040"/>
            <a:ext cx="10321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8" name="Text 72"/>
          <p:cNvSpPr/>
          <p:nvPr/>
        </p:nvSpPr>
        <p:spPr>
          <a:xfrm>
            <a:off x="11292840" y="6455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13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9" name="Picture 321" descr="s13.png"/>
          <p:cNvPicPr/>
          <p:nvPr/>
        </p:nvPicPr>
        <p:blipFill>
          <a:blip r:embed="rId1"/>
          <a:stretch/>
        </p:blipFill>
        <p:spPr>
          <a:xfrm>
            <a:off x="502920" y="1097280"/>
            <a:ext cx="11107800" cy="5438520"/>
          </a:xfrm>
          <a:prstGeom prst="rect">
            <a:avLst/>
          </a:prstGeom>
          <a:ln w="0">
            <a:noFill/>
          </a:ln>
        </p:spPr>
      </p:pic>
      <p:sp>
        <p:nvSpPr>
          <p:cNvPr id="320" name="Rounded Rectangle 74">
            <a:hlinkClick r:id="rId2" action="ppaction://hlinksldjump"/>
          </p:cNvPr>
          <p:cNvSpPr/>
          <p:nvPr/>
        </p:nvSpPr>
        <p:spPr>
          <a:xfrm>
            <a:off x="9464040" y="311040"/>
            <a:ext cx="1780920" cy="3088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37d9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f2f7fa"/>
                </a:solidFill>
                <a:latin typeface="Aptos"/>
                <a:ea typeface="DejaVu Sans"/>
              </a:rPr>
              <a:t>← </a:t>
            </a:r>
            <a:r>
              <a:rPr b="0" lang="pt-BR" sz="1800" spc="-1" strike="noStrike">
                <a:solidFill>
                  <a:srgbClr val="f2f7fa"/>
                </a:solidFill>
                <a:latin typeface="Aptos"/>
                <a:ea typeface="DejaVu Sans"/>
              </a:rPr>
              <a:t>Back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Isosceles Triangle 75"/>
          <p:cNvSpPr/>
          <p:nvPr/>
        </p:nvSpPr>
        <p:spPr>
          <a:xfrm rot="16200000">
            <a:off x="8028360" y="1675440"/>
            <a:ext cx="162360" cy="19908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322" name="Rounded Rectangle 76"/>
          <p:cNvSpPr/>
          <p:nvPr/>
        </p:nvSpPr>
        <p:spPr>
          <a:xfrm>
            <a:off x="8183880" y="1508760"/>
            <a:ext cx="2741040" cy="7660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Recomputes sin() and cos()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for the two global angles.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Isosceles Triangle 77"/>
          <p:cNvSpPr/>
          <p:nvPr/>
        </p:nvSpPr>
        <p:spPr>
          <a:xfrm rot="16200000">
            <a:off x="8028360" y="2909880"/>
            <a:ext cx="162360" cy="19908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324" name="Rounded Rectangle 78"/>
          <p:cNvSpPr/>
          <p:nvPr/>
        </p:nvSpPr>
        <p:spPr>
          <a:xfrm>
            <a:off x="8183880" y="2743200"/>
            <a:ext cx="2741040" cy="7660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Clears the logical screen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and the depth buffer.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Isosceles Triangle 79"/>
          <p:cNvSpPr/>
          <p:nvPr/>
        </p:nvSpPr>
        <p:spPr>
          <a:xfrm rot="16200000">
            <a:off x="8028360" y="4482720"/>
            <a:ext cx="162360" cy="19908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326" name="Rounded Rectangle 80"/>
          <p:cNvSpPr/>
          <p:nvPr/>
        </p:nvSpPr>
        <p:spPr>
          <a:xfrm>
            <a:off x="8183880" y="4316040"/>
            <a:ext cx="2741040" cy="7660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Starts the two loops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that scan the torus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surface.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28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29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400" spc="-1" strike="noStrike">
                <a:solidFill>
                  <a:srgbClr val="f0f6fa"/>
                </a:solidFill>
                <a:latin typeface="Aptos"/>
                <a:ea typeface="DejaVu Sans"/>
              </a:rPr>
              <a:t>Geometry, projection, and light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3"/>
          <p:cNvSpPr/>
          <p:nvPr/>
        </p:nvSpPr>
        <p:spPr>
          <a:xfrm>
            <a:off x="530280" y="822960"/>
            <a:ext cx="106963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f2f7fa"/>
                </a:solidFill>
                <a:latin typeface="Arial"/>
                <a:ea typeface="DejaVu Sans"/>
              </a:rPr>
              <a:t>This is the core of the algorithm: form the 3D point, project it, and decide the character brightness.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4"/>
          <p:cNvSpPr/>
          <p:nvPr/>
        </p:nvSpPr>
        <p:spPr>
          <a:xfrm>
            <a:off x="411480" y="1042560"/>
            <a:ext cx="11290680" cy="5484240"/>
          </a:xfrm>
          <a:prstGeom prst="roundRect">
            <a:avLst>
              <a:gd name="adj" fmla="val 1333"/>
            </a:avLst>
          </a:prstGeom>
          <a:solidFill>
            <a:srgbClr val="0d1825"/>
          </a:solidFill>
          <a:ln w="14040">
            <a:solidFill>
              <a:srgbClr val="25445e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32" name="Shape 5"/>
          <p:cNvSpPr/>
          <p:nvPr/>
        </p:nvSpPr>
        <p:spPr>
          <a:xfrm>
            <a:off x="960120" y="1078920"/>
            <a:ext cx="11520" cy="5411160"/>
          </a:xfrm>
          <a:prstGeom prst="rect">
            <a:avLst/>
          </a:prstGeom>
          <a:solidFill>
            <a:srgbClr val="25445e"/>
          </a:solidFill>
          <a:ln w="12600">
            <a:solidFill>
              <a:srgbClr val="2544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33" name="Shape 6"/>
          <p:cNvSpPr/>
          <p:nvPr/>
        </p:nvSpPr>
        <p:spPr>
          <a:xfrm>
            <a:off x="1014840" y="1252800"/>
            <a:ext cx="3061080" cy="326880"/>
          </a:xfrm>
          <a:prstGeom prst="roundRect">
            <a:avLst>
              <a:gd name="adj" fmla="val 4225"/>
            </a:avLst>
          </a:prstGeom>
          <a:solidFill>
            <a:srgbClr val="ffb22e">
              <a:alpha val="12000"/>
            </a:srgbClr>
          </a:solidFill>
          <a:ln w="17640">
            <a:solidFill>
              <a:srgbClr val="ffb2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34" name="Shape 10"/>
          <p:cNvSpPr/>
          <p:nvPr/>
        </p:nvSpPr>
        <p:spPr>
          <a:xfrm>
            <a:off x="1014840" y="2350080"/>
            <a:ext cx="5072760" cy="637920"/>
          </a:xfrm>
          <a:prstGeom prst="roundRect">
            <a:avLst>
              <a:gd name="adj" fmla="val 6818"/>
            </a:avLst>
          </a:prstGeom>
          <a:solidFill>
            <a:srgbClr val="37d9f5">
              <a:alpha val="12000"/>
            </a:srgbClr>
          </a:solidFill>
          <a:ln w="17640">
            <a:solidFill>
              <a:srgbClr val="37d9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35" name="Shape 14"/>
          <p:cNvSpPr/>
          <p:nvPr/>
        </p:nvSpPr>
        <p:spPr>
          <a:xfrm>
            <a:off x="1014840" y="3072240"/>
            <a:ext cx="4798440" cy="1698480"/>
          </a:xfrm>
          <a:prstGeom prst="roundRect">
            <a:avLst>
              <a:gd name="adj" fmla="val 2166"/>
            </a:avLst>
          </a:prstGeom>
          <a:solidFill>
            <a:srgbClr val="ffe08a">
              <a:alpha val="12000"/>
            </a:srgbClr>
          </a:solidFill>
          <a:ln w="17640">
            <a:solidFill>
              <a:srgbClr val="ffe0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36" name="Shape 18"/>
          <p:cNvSpPr/>
          <p:nvPr/>
        </p:nvSpPr>
        <p:spPr>
          <a:xfrm>
            <a:off x="1014840" y="5212080"/>
            <a:ext cx="4524120" cy="637920"/>
          </a:xfrm>
          <a:prstGeom prst="roundRect">
            <a:avLst>
              <a:gd name="adj" fmla="val 1974"/>
            </a:avLst>
          </a:prstGeom>
          <a:solidFill>
            <a:srgbClr val="89f5c5">
              <a:alpha val="12000"/>
            </a:srgbClr>
          </a:solidFill>
          <a:ln w="17640">
            <a:solidFill>
              <a:srgbClr val="89f5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37" name="Text 22"/>
          <p:cNvSpPr/>
          <p:nvPr/>
        </p:nvSpPr>
        <p:spPr>
          <a:xfrm>
            <a:off x="521280" y="115200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186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23"/>
          <p:cNvSpPr/>
          <p:nvPr/>
        </p:nvSpPr>
        <p:spPr>
          <a:xfrm>
            <a:off x="1033200" y="115200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Torus geometry.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24"/>
          <p:cNvSpPr/>
          <p:nvPr/>
        </p:nvSpPr>
        <p:spPr>
          <a:xfrm>
            <a:off x="521280" y="127548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188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25"/>
          <p:cNvSpPr/>
          <p:nvPr/>
        </p:nvSpPr>
        <p:spPr>
          <a:xfrm>
            <a:off x="1033200" y="127548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s &lt;- 22 + 4.2 * k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26"/>
          <p:cNvSpPr/>
          <p:nvPr/>
        </p:nvSpPr>
        <p:spPr>
          <a:xfrm>
            <a:off x="521280" y="139896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189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27"/>
          <p:cNvSpPr/>
          <p:nvPr/>
        </p:nvSpPr>
        <p:spPr>
          <a:xfrm>
            <a:off x="1033200" y="139896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t &lt;- 4.2 * 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28"/>
          <p:cNvSpPr/>
          <p:nvPr/>
        </p:nvSpPr>
        <p:spPr>
          <a:xfrm>
            <a:off x="521280" y="152244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191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29"/>
          <p:cNvSpPr/>
          <p:nvPr/>
        </p:nvSpPr>
        <p:spPr>
          <a:xfrm>
            <a:off x="1033200" y="152244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Perspective depth.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30"/>
          <p:cNvSpPr/>
          <p:nvPr/>
        </p:nvSpPr>
        <p:spPr>
          <a:xfrm>
            <a:off x="521280" y="164592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193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31"/>
          <p:cNvSpPr/>
          <p:nvPr/>
        </p:nvSpPr>
        <p:spPr>
          <a:xfrm>
            <a:off x="1033200" y="164592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u &lt;- 1 / (m * s * p + t * o + 28)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32"/>
          <p:cNvSpPr/>
          <p:nvPr/>
        </p:nvSpPr>
        <p:spPr>
          <a:xfrm>
            <a:off x="521280" y="176940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195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33"/>
          <p:cNvSpPr/>
          <p:nvPr/>
        </p:nvSpPr>
        <p:spPr>
          <a:xfrm>
            <a:off x="1033200" y="176940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Intermediate rotated coordinate.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34"/>
          <p:cNvSpPr/>
          <p:nvPr/>
        </p:nvSpPr>
        <p:spPr>
          <a:xfrm>
            <a:off x="521280" y="189288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197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35"/>
          <p:cNvSpPr/>
          <p:nvPr/>
        </p:nvSpPr>
        <p:spPr>
          <a:xfrm>
            <a:off x="1033200" y="189288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v &lt;- m * s * o - t * p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36"/>
          <p:cNvSpPr/>
          <p:nvPr/>
        </p:nvSpPr>
        <p:spPr>
          <a:xfrm>
            <a:off x="521280" y="201636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199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37"/>
          <p:cNvSpPr/>
          <p:nvPr/>
        </p:nvSpPr>
        <p:spPr>
          <a:xfrm>
            <a:off x="1033200" y="201636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Projection.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38"/>
          <p:cNvSpPr/>
          <p:nvPr/>
        </p:nvSpPr>
        <p:spPr>
          <a:xfrm>
            <a:off x="521280" y="213984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201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39"/>
          <p:cNvSpPr/>
          <p:nvPr/>
        </p:nvSpPr>
        <p:spPr>
          <a:xfrm>
            <a:off x="1033200" y="213984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w &lt;- int(60 + 18 * u * (n * s * q - v * r))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40"/>
          <p:cNvSpPr/>
          <p:nvPr/>
        </p:nvSpPr>
        <p:spPr>
          <a:xfrm>
            <a:off x="521280" y="226332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202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41"/>
          <p:cNvSpPr/>
          <p:nvPr/>
        </p:nvSpPr>
        <p:spPr>
          <a:xfrm>
            <a:off x="1033200" y="226332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x &lt;- int(20 + 8 * u * (n * s * r + v * q))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42"/>
          <p:cNvSpPr/>
          <p:nvPr/>
        </p:nvSpPr>
        <p:spPr>
          <a:xfrm>
            <a:off x="521280" y="238644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204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43"/>
          <p:cNvSpPr/>
          <p:nvPr/>
        </p:nvSpPr>
        <p:spPr>
          <a:xfrm>
            <a:off x="1033200" y="238644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Lighting.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44"/>
          <p:cNvSpPr/>
          <p:nvPr/>
        </p:nvSpPr>
        <p:spPr>
          <a:xfrm>
            <a:off x="521280" y="250992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206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45"/>
          <p:cNvSpPr/>
          <p:nvPr/>
        </p:nvSpPr>
        <p:spPr>
          <a:xfrm>
            <a:off x="1033200" y="250992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Shift the signed light value into the middle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46"/>
          <p:cNvSpPr/>
          <p:nvPr/>
        </p:nvSpPr>
        <p:spPr>
          <a:xfrm>
            <a:off x="521280" y="263340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207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47"/>
          <p:cNvSpPr/>
          <p:nvPr/>
        </p:nvSpPr>
        <p:spPr>
          <a:xfrm>
            <a:off x="1033200" y="263340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of the ramp instead of collapsing every dark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48"/>
          <p:cNvSpPr/>
          <p:nvPr/>
        </p:nvSpPr>
        <p:spPr>
          <a:xfrm>
            <a:off x="521280" y="275688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208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49"/>
          <p:cNvSpPr/>
          <p:nvPr/>
        </p:nvSpPr>
        <p:spPr>
          <a:xfrm>
            <a:off x="1033200" y="275688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surface to the first character. This preserves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50"/>
          <p:cNvSpPr/>
          <p:nvPr/>
        </p:nvSpPr>
        <p:spPr>
          <a:xfrm>
            <a:off x="521280" y="288036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209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51"/>
          <p:cNvSpPr/>
          <p:nvPr/>
        </p:nvSpPr>
        <p:spPr>
          <a:xfrm>
            <a:off x="1033200" y="288036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detail in shadows and gives the tube more depth.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52"/>
          <p:cNvSpPr/>
          <p:nvPr/>
        </p:nvSpPr>
        <p:spPr>
          <a:xfrm>
            <a:off x="521280" y="300384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211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53"/>
          <p:cNvSpPr/>
          <p:nvPr/>
        </p:nvSpPr>
        <p:spPr>
          <a:xfrm>
            <a:off x="1033200" y="300384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y &lt;- int(6 + 4.5 * ((l * p - m * k * o) * q - m * k * p - l * o - n * k * r))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54"/>
          <p:cNvSpPr/>
          <p:nvPr/>
        </p:nvSpPr>
        <p:spPr>
          <a:xfrm>
            <a:off x="521280" y="312732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213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55"/>
          <p:cNvSpPr/>
          <p:nvPr/>
        </p:nvSpPr>
        <p:spPr>
          <a:xfrm>
            <a:off x="1033200" y="312732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se (y &lt; 0) entao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56"/>
          <p:cNvSpPr/>
          <p:nvPr/>
        </p:nvSpPr>
        <p:spPr>
          <a:xfrm>
            <a:off x="521280" y="325080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214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57"/>
          <p:cNvSpPr/>
          <p:nvPr/>
        </p:nvSpPr>
        <p:spPr>
          <a:xfrm>
            <a:off x="1033200" y="325080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y &lt;- 0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58"/>
          <p:cNvSpPr/>
          <p:nvPr/>
        </p:nvSpPr>
        <p:spPr>
          <a:xfrm>
            <a:off x="521280" y="337428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215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59"/>
          <p:cNvSpPr/>
          <p:nvPr/>
        </p:nvSpPr>
        <p:spPr>
          <a:xfrm>
            <a:off x="1033200" y="337428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fimse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60"/>
          <p:cNvSpPr/>
          <p:nvPr/>
        </p:nvSpPr>
        <p:spPr>
          <a:xfrm>
            <a:off x="521280" y="349776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217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61"/>
          <p:cNvSpPr/>
          <p:nvPr/>
        </p:nvSpPr>
        <p:spPr>
          <a:xfrm>
            <a:off x="1033200" y="349776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se (y &gt; 13) entao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62"/>
          <p:cNvSpPr/>
          <p:nvPr/>
        </p:nvSpPr>
        <p:spPr>
          <a:xfrm>
            <a:off x="521280" y="362088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218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63"/>
          <p:cNvSpPr/>
          <p:nvPr/>
        </p:nvSpPr>
        <p:spPr>
          <a:xfrm>
            <a:off x="1033200" y="362088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y &lt;- 13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64"/>
          <p:cNvSpPr/>
          <p:nvPr/>
        </p:nvSpPr>
        <p:spPr>
          <a:xfrm>
            <a:off x="521280" y="374436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219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65"/>
          <p:cNvSpPr/>
          <p:nvPr/>
        </p:nvSpPr>
        <p:spPr>
          <a:xfrm>
            <a:off x="1033200" y="374436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fimse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66"/>
          <p:cNvSpPr/>
          <p:nvPr/>
        </p:nvSpPr>
        <p:spPr>
          <a:xfrm>
            <a:off x="521280" y="386784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221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67"/>
          <p:cNvSpPr/>
          <p:nvPr/>
        </p:nvSpPr>
        <p:spPr>
          <a:xfrm>
            <a:off x="1033200" y="386784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Bounds and z-buffer.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68"/>
          <p:cNvSpPr/>
          <p:nvPr/>
        </p:nvSpPr>
        <p:spPr>
          <a:xfrm>
            <a:off x="521280" y="399132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223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69"/>
          <p:cNvSpPr/>
          <p:nvPr/>
        </p:nvSpPr>
        <p:spPr>
          <a:xfrm>
            <a:off x="1033200" y="399132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se (x &gt;= 0) e (x &lt; 40) e (w &gt;= 0) e (w &lt; 119) entao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70"/>
          <p:cNvSpPr/>
          <p:nvPr/>
        </p:nvSpPr>
        <p:spPr>
          <a:xfrm>
            <a:off x="521280" y="411480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225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71"/>
          <p:cNvSpPr/>
          <p:nvPr/>
        </p:nvSpPr>
        <p:spPr>
          <a:xfrm>
            <a:off x="1033200" y="411480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se (u &gt; d[x, w]) entao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72"/>
          <p:cNvSpPr/>
          <p:nvPr/>
        </p:nvSpPr>
        <p:spPr>
          <a:xfrm>
            <a:off x="521280" y="423828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226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73"/>
          <p:cNvSpPr/>
          <p:nvPr/>
        </p:nvSpPr>
        <p:spPr>
          <a:xfrm>
            <a:off x="1033200" y="423828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d[x, w] &lt;- u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74"/>
          <p:cNvSpPr/>
          <p:nvPr/>
        </p:nvSpPr>
        <p:spPr>
          <a:xfrm>
            <a:off x="521280" y="436176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227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75"/>
          <p:cNvSpPr/>
          <p:nvPr/>
        </p:nvSpPr>
        <p:spPr>
          <a:xfrm>
            <a:off x="1033200" y="436176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c[x, w] &lt;- copia(z, y + 1, 1)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76"/>
          <p:cNvSpPr/>
          <p:nvPr/>
        </p:nvSpPr>
        <p:spPr>
          <a:xfrm>
            <a:off x="521280" y="448524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228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77"/>
          <p:cNvSpPr/>
          <p:nvPr/>
        </p:nvSpPr>
        <p:spPr>
          <a:xfrm>
            <a:off x="1033200" y="448524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fimse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78"/>
          <p:cNvSpPr/>
          <p:nvPr/>
        </p:nvSpPr>
        <p:spPr>
          <a:xfrm>
            <a:off x="521280" y="460872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230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79"/>
          <p:cNvSpPr/>
          <p:nvPr/>
        </p:nvSpPr>
        <p:spPr>
          <a:xfrm>
            <a:off x="1033200" y="460872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fimse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80"/>
          <p:cNvSpPr/>
          <p:nvPr/>
        </p:nvSpPr>
        <p:spPr>
          <a:xfrm>
            <a:off x="521280" y="473220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232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81"/>
          <p:cNvSpPr/>
          <p:nvPr/>
        </p:nvSpPr>
        <p:spPr>
          <a:xfrm>
            <a:off x="1033200" y="473220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Advance toroidal sin/cos.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82"/>
          <p:cNvSpPr/>
          <p:nvPr/>
        </p:nvSpPr>
        <p:spPr>
          <a:xfrm>
            <a:off x="521280" y="485532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234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83"/>
          <p:cNvSpPr/>
          <p:nvPr/>
        </p:nvSpPr>
        <p:spPr>
          <a:xfrm>
            <a:off x="1033200" y="485532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ah &lt;- m * ag + n * af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84"/>
          <p:cNvSpPr/>
          <p:nvPr/>
        </p:nvSpPr>
        <p:spPr>
          <a:xfrm>
            <a:off x="521280" y="497880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235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85"/>
          <p:cNvSpPr/>
          <p:nvPr/>
        </p:nvSpPr>
        <p:spPr>
          <a:xfrm>
            <a:off x="1033200" y="497880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n &lt;- n * ag - m * af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86"/>
          <p:cNvSpPr/>
          <p:nvPr/>
        </p:nvSpPr>
        <p:spPr>
          <a:xfrm>
            <a:off x="521280" y="510228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236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87"/>
          <p:cNvSpPr/>
          <p:nvPr/>
        </p:nvSpPr>
        <p:spPr>
          <a:xfrm>
            <a:off x="1033200" y="510228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m &lt;- ah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88"/>
          <p:cNvSpPr/>
          <p:nvPr/>
        </p:nvSpPr>
        <p:spPr>
          <a:xfrm>
            <a:off x="521280" y="522576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238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89"/>
          <p:cNvSpPr/>
          <p:nvPr/>
        </p:nvSpPr>
        <p:spPr>
          <a:xfrm>
            <a:off x="1033200" y="522576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fimpara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90"/>
          <p:cNvSpPr/>
          <p:nvPr/>
        </p:nvSpPr>
        <p:spPr>
          <a:xfrm>
            <a:off x="521280" y="534924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240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91"/>
          <p:cNvSpPr/>
          <p:nvPr/>
        </p:nvSpPr>
        <p:spPr>
          <a:xfrm>
            <a:off x="1033200" y="534924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Advance poloidal sin/cos.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92"/>
          <p:cNvSpPr/>
          <p:nvPr/>
        </p:nvSpPr>
        <p:spPr>
          <a:xfrm>
            <a:off x="521280" y="547272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242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93"/>
          <p:cNvSpPr/>
          <p:nvPr/>
        </p:nvSpPr>
        <p:spPr>
          <a:xfrm>
            <a:off x="1033200" y="547272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ah &lt;- l * ae + k * ad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94"/>
          <p:cNvSpPr/>
          <p:nvPr/>
        </p:nvSpPr>
        <p:spPr>
          <a:xfrm>
            <a:off x="521280" y="559620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243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95"/>
          <p:cNvSpPr/>
          <p:nvPr/>
        </p:nvSpPr>
        <p:spPr>
          <a:xfrm>
            <a:off x="1033200" y="559620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k &lt;- k * ae - l * ad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96"/>
          <p:cNvSpPr/>
          <p:nvPr/>
        </p:nvSpPr>
        <p:spPr>
          <a:xfrm>
            <a:off x="521280" y="571968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244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97"/>
          <p:cNvSpPr/>
          <p:nvPr/>
        </p:nvSpPr>
        <p:spPr>
          <a:xfrm>
            <a:off x="1033200" y="571968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l &lt;- ah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98"/>
          <p:cNvSpPr/>
          <p:nvPr/>
        </p:nvSpPr>
        <p:spPr>
          <a:xfrm>
            <a:off x="521280" y="584316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4" name="Text 99"/>
          <p:cNvSpPr/>
          <p:nvPr/>
        </p:nvSpPr>
        <p:spPr>
          <a:xfrm>
            <a:off x="1033200" y="584316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5" name="Text 100"/>
          <p:cNvSpPr/>
          <p:nvPr/>
        </p:nvSpPr>
        <p:spPr>
          <a:xfrm>
            <a:off x="521280" y="596664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6" name="Text 101"/>
          <p:cNvSpPr/>
          <p:nvPr/>
        </p:nvSpPr>
        <p:spPr>
          <a:xfrm>
            <a:off x="1033200" y="596664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7" name="Text 102"/>
          <p:cNvSpPr/>
          <p:nvPr/>
        </p:nvSpPr>
        <p:spPr>
          <a:xfrm>
            <a:off x="521280" y="608976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8" name="Text 103"/>
          <p:cNvSpPr/>
          <p:nvPr/>
        </p:nvSpPr>
        <p:spPr>
          <a:xfrm>
            <a:off x="1033200" y="608976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9" name="Text 104"/>
          <p:cNvSpPr/>
          <p:nvPr/>
        </p:nvSpPr>
        <p:spPr>
          <a:xfrm>
            <a:off x="521280" y="621324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420" name="Picture 429" descr="s14.png"/>
          <p:cNvPicPr/>
          <p:nvPr/>
        </p:nvPicPr>
        <p:blipFill>
          <a:blip r:embed="rId1"/>
          <a:stretch/>
        </p:blipFill>
        <p:spPr>
          <a:xfrm>
            <a:off x="530280" y="822960"/>
            <a:ext cx="10696320" cy="436680"/>
          </a:xfrm>
          <a:prstGeom prst="rect">
            <a:avLst/>
          </a:prstGeom>
          <a:ln w="0">
            <a:noFill/>
          </a:ln>
        </p:spPr>
      </p:pic>
      <p:sp>
        <p:nvSpPr>
          <p:cNvPr id="421" name="Text 105"/>
          <p:cNvSpPr/>
          <p:nvPr/>
        </p:nvSpPr>
        <p:spPr>
          <a:xfrm>
            <a:off x="1033200" y="621324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2" name="Text 106"/>
          <p:cNvSpPr/>
          <p:nvPr/>
        </p:nvSpPr>
        <p:spPr>
          <a:xfrm>
            <a:off x="521280" y="633672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3" name="Text 107"/>
          <p:cNvSpPr/>
          <p:nvPr/>
        </p:nvSpPr>
        <p:spPr>
          <a:xfrm>
            <a:off x="1033200" y="633672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4" name="Text 108"/>
          <p:cNvSpPr/>
          <p:nvPr/>
        </p:nvSpPr>
        <p:spPr>
          <a:xfrm>
            <a:off x="521280" y="6460200"/>
            <a:ext cx="400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5" name="Text 109"/>
          <p:cNvSpPr/>
          <p:nvPr/>
        </p:nvSpPr>
        <p:spPr>
          <a:xfrm>
            <a:off x="1033200" y="6460200"/>
            <a:ext cx="105044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6" name="Text 110"/>
          <p:cNvSpPr/>
          <p:nvPr/>
        </p:nvSpPr>
        <p:spPr>
          <a:xfrm>
            <a:off x="11292840" y="6455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14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Rounded Rectangle 112">
            <a:hlinkClick r:id="rId2" action="ppaction://hlinksldjump"/>
          </p:cNvPr>
          <p:cNvSpPr/>
          <p:nvPr/>
        </p:nvSpPr>
        <p:spPr>
          <a:xfrm>
            <a:off x="9464040" y="311040"/>
            <a:ext cx="1780920" cy="3088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37d9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f2f7fa"/>
                </a:solidFill>
                <a:latin typeface="Aptos"/>
                <a:ea typeface="DejaVu Sans"/>
              </a:rPr>
              <a:t>← </a:t>
            </a:r>
            <a:r>
              <a:rPr b="0" lang="pt-BR" sz="1800" spc="-1" strike="noStrike">
                <a:solidFill>
                  <a:srgbClr val="f2f7fa"/>
                </a:solidFill>
                <a:latin typeface="Aptos"/>
                <a:ea typeface="DejaVu Sans"/>
              </a:rPr>
              <a:t>Back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Isosceles Triangle 113"/>
          <p:cNvSpPr/>
          <p:nvPr/>
        </p:nvSpPr>
        <p:spPr>
          <a:xfrm rot="16200000">
            <a:off x="7845480" y="1328040"/>
            <a:ext cx="162360" cy="19908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429" name="Rounded Rectangle 114"/>
          <p:cNvSpPr/>
          <p:nvPr/>
        </p:nvSpPr>
        <p:spPr>
          <a:xfrm>
            <a:off x="8001000" y="1170360"/>
            <a:ext cx="2832480" cy="7840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Torus geometry and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depth.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Isosceles Triangle 115"/>
          <p:cNvSpPr/>
          <p:nvPr/>
        </p:nvSpPr>
        <p:spPr>
          <a:xfrm rot="16200000">
            <a:off x="7845480" y="2370600"/>
            <a:ext cx="162360" cy="19908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431" name="Rounded Rectangle 116"/>
          <p:cNvSpPr/>
          <p:nvPr/>
        </p:nvSpPr>
        <p:spPr>
          <a:xfrm>
            <a:off x="8001000" y="2212920"/>
            <a:ext cx="2832480" cy="7840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Converts the 3D point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into a screen column and row.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Isosceles Triangle 117"/>
          <p:cNvSpPr/>
          <p:nvPr/>
        </p:nvSpPr>
        <p:spPr>
          <a:xfrm rot="16200000">
            <a:off x="7845480" y="3742200"/>
            <a:ext cx="162360" cy="19908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433" name="Rounded Rectangle 118"/>
          <p:cNvSpPr/>
          <p:nvPr/>
        </p:nvSpPr>
        <p:spPr>
          <a:xfrm>
            <a:off x="8001000" y="3584520"/>
            <a:ext cx="2832480" cy="9306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Lighting: chooses which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ASCII ramp character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will be used.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Isosceles Triangle 119"/>
          <p:cNvSpPr/>
          <p:nvPr/>
        </p:nvSpPr>
        <p:spPr>
          <a:xfrm rot="16200000">
            <a:off x="7845480" y="5214240"/>
            <a:ext cx="162360" cy="19908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435" name="Rounded Rectangle 120"/>
          <p:cNvSpPr/>
          <p:nvPr/>
        </p:nvSpPr>
        <p:spPr>
          <a:xfrm>
            <a:off x="8001000" y="5056560"/>
            <a:ext cx="2832480" cy="7840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Trigonometric stepping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without calling sin/cos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at every point.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37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38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400" spc="-1" strike="noStrike">
                <a:solidFill>
                  <a:srgbClr val="f0f6fa"/>
                </a:solidFill>
                <a:latin typeface="Aptos"/>
                <a:ea typeface="DejaVu Sans"/>
              </a:rPr>
              <a:t>Drawing in the console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3"/>
          <p:cNvSpPr/>
          <p:nvPr/>
        </p:nvSpPr>
        <p:spPr>
          <a:xfrm>
            <a:off x="530280" y="678960"/>
            <a:ext cx="106963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aabacd"/>
                </a:solidFill>
                <a:latin typeface="Aptos"/>
                <a:ea typeface="DejaVu Sans"/>
              </a:rPr>
              <a:t>The Windows version clears the screen and reprints every line of the frame.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Shape 4"/>
          <p:cNvSpPr/>
          <p:nvPr/>
        </p:nvSpPr>
        <p:spPr>
          <a:xfrm>
            <a:off x="502920" y="1097280"/>
            <a:ext cx="11107800" cy="5438520"/>
          </a:xfrm>
          <a:prstGeom prst="roundRect">
            <a:avLst>
              <a:gd name="adj" fmla="val 1345"/>
            </a:avLst>
          </a:prstGeom>
          <a:solidFill>
            <a:srgbClr val="0d1825"/>
          </a:solidFill>
          <a:ln w="14040">
            <a:solidFill>
              <a:srgbClr val="25445e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41" name="Shape 5"/>
          <p:cNvSpPr/>
          <p:nvPr/>
        </p:nvSpPr>
        <p:spPr>
          <a:xfrm>
            <a:off x="1051560" y="1134000"/>
            <a:ext cx="11520" cy="5365440"/>
          </a:xfrm>
          <a:prstGeom prst="rect">
            <a:avLst/>
          </a:prstGeom>
          <a:solidFill>
            <a:srgbClr val="25445e"/>
          </a:solidFill>
          <a:ln w="12600">
            <a:solidFill>
              <a:srgbClr val="2544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42" name="Shape 6"/>
          <p:cNvSpPr/>
          <p:nvPr/>
        </p:nvSpPr>
        <p:spPr>
          <a:xfrm>
            <a:off x="1106280" y="1344240"/>
            <a:ext cx="5438520" cy="985320"/>
          </a:xfrm>
          <a:prstGeom prst="roundRect">
            <a:avLst>
              <a:gd name="adj" fmla="val 2765"/>
            </a:avLst>
          </a:prstGeom>
          <a:solidFill>
            <a:srgbClr val="37d9f5">
              <a:alpha val="12000"/>
            </a:srgbClr>
          </a:solidFill>
          <a:ln w="17640">
            <a:solidFill>
              <a:srgbClr val="37d9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43" name="Shape 10"/>
          <p:cNvSpPr/>
          <p:nvPr/>
        </p:nvSpPr>
        <p:spPr>
          <a:xfrm>
            <a:off x="1106280" y="4718160"/>
            <a:ext cx="4478400" cy="1469880"/>
          </a:xfrm>
          <a:prstGeom prst="roundRect">
            <a:avLst>
              <a:gd name="adj" fmla="val 1863"/>
            </a:avLst>
          </a:prstGeom>
          <a:solidFill>
            <a:srgbClr val="ffb22e">
              <a:alpha val="12000"/>
            </a:srgbClr>
          </a:solidFill>
          <a:ln w="17640">
            <a:solidFill>
              <a:srgbClr val="ffb2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44" name="Text 14"/>
          <p:cNvSpPr/>
          <p:nvPr/>
        </p:nvSpPr>
        <p:spPr>
          <a:xfrm>
            <a:off x="612720" y="120708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221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15"/>
          <p:cNvSpPr/>
          <p:nvPr/>
        </p:nvSpPr>
        <p:spPr>
          <a:xfrm>
            <a:off x="1124640" y="120708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Bounds and z-buffer.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16"/>
          <p:cNvSpPr/>
          <p:nvPr/>
        </p:nvSpPr>
        <p:spPr>
          <a:xfrm>
            <a:off x="612720" y="136692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223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17"/>
          <p:cNvSpPr/>
          <p:nvPr/>
        </p:nvSpPr>
        <p:spPr>
          <a:xfrm>
            <a:off x="1124640" y="136692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se (x &gt;= 0) e (x &lt; 40) e (w &gt;= 0) e (w &lt; 119) entao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18"/>
          <p:cNvSpPr/>
          <p:nvPr/>
        </p:nvSpPr>
        <p:spPr>
          <a:xfrm>
            <a:off x="612720" y="152712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225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19"/>
          <p:cNvSpPr/>
          <p:nvPr/>
        </p:nvSpPr>
        <p:spPr>
          <a:xfrm>
            <a:off x="1124640" y="152712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se (u &gt; d[x, w]) entao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20"/>
          <p:cNvSpPr/>
          <p:nvPr/>
        </p:nvSpPr>
        <p:spPr>
          <a:xfrm>
            <a:off x="612720" y="168696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226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21"/>
          <p:cNvSpPr/>
          <p:nvPr/>
        </p:nvSpPr>
        <p:spPr>
          <a:xfrm>
            <a:off x="1124640" y="168696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d[x, w] &lt;- u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22"/>
          <p:cNvSpPr/>
          <p:nvPr/>
        </p:nvSpPr>
        <p:spPr>
          <a:xfrm>
            <a:off x="612720" y="184716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227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23"/>
          <p:cNvSpPr/>
          <p:nvPr/>
        </p:nvSpPr>
        <p:spPr>
          <a:xfrm>
            <a:off x="1124640" y="184716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c[x, w] &lt;- copia(z, y + 1, 1)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24"/>
          <p:cNvSpPr/>
          <p:nvPr/>
        </p:nvSpPr>
        <p:spPr>
          <a:xfrm>
            <a:off x="612720" y="200700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228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25"/>
          <p:cNvSpPr/>
          <p:nvPr/>
        </p:nvSpPr>
        <p:spPr>
          <a:xfrm>
            <a:off x="1124640" y="200700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fimse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26"/>
          <p:cNvSpPr/>
          <p:nvPr/>
        </p:nvSpPr>
        <p:spPr>
          <a:xfrm>
            <a:off x="612720" y="216720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230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27"/>
          <p:cNvSpPr/>
          <p:nvPr/>
        </p:nvSpPr>
        <p:spPr>
          <a:xfrm>
            <a:off x="1124640" y="216720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fimse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28"/>
          <p:cNvSpPr/>
          <p:nvPr/>
        </p:nvSpPr>
        <p:spPr>
          <a:xfrm>
            <a:off x="612720" y="232704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232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29"/>
          <p:cNvSpPr/>
          <p:nvPr/>
        </p:nvSpPr>
        <p:spPr>
          <a:xfrm>
            <a:off x="1124640" y="232704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Advance toroidal sin/cos.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30"/>
          <p:cNvSpPr/>
          <p:nvPr/>
        </p:nvSpPr>
        <p:spPr>
          <a:xfrm>
            <a:off x="612720" y="248724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234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31"/>
          <p:cNvSpPr/>
          <p:nvPr/>
        </p:nvSpPr>
        <p:spPr>
          <a:xfrm>
            <a:off x="1124640" y="248724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ah &lt;- m * ag + n * af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Text 32"/>
          <p:cNvSpPr/>
          <p:nvPr/>
        </p:nvSpPr>
        <p:spPr>
          <a:xfrm>
            <a:off x="612720" y="264708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235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33"/>
          <p:cNvSpPr/>
          <p:nvPr/>
        </p:nvSpPr>
        <p:spPr>
          <a:xfrm>
            <a:off x="1124640" y="264708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n &lt;- n * ag - m * af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34"/>
          <p:cNvSpPr/>
          <p:nvPr/>
        </p:nvSpPr>
        <p:spPr>
          <a:xfrm>
            <a:off x="612720" y="280728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236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35"/>
          <p:cNvSpPr/>
          <p:nvPr/>
        </p:nvSpPr>
        <p:spPr>
          <a:xfrm>
            <a:off x="1124640" y="280728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m &lt;- ah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36"/>
          <p:cNvSpPr/>
          <p:nvPr/>
        </p:nvSpPr>
        <p:spPr>
          <a:xfrm>
            <a:off x="612720" y="296712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238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37"/>
          <p:cNvSpPr/>
          <p:nvPr/>
        </p:nvSpPr>
        <p:spPr>
          <a:xfrm>
            <a:off x="1124640" y="296712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fimpara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38"/>
          <p:cNvSpPr/>
          <p:nvPr/>
        </p:nvSpPr>
        <p:spPr>
          <a:xfrm>
            <a:off x="612720" y="312732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240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39"/>
          <p:cNvSpPr/>
          <p:nvPr/>
        </p:nvSpPr>
        <p:spPr>
          <a:xfrm>
            <a:off x="1124640" y="312732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Advance poloidal sin/cos.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40"/>
          <p:cNvSpPr/>
          <p:nvPr/>
        </p:nvSpPr>
        <p:spPr>
          <a:xfrm>
            <a:off x="612720" y="328716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242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41"/>
          <p:cNvSpPr/>
          <p:nvPr/>
        </p:nvSpPr>
        <p:spPr>
          <a:xfrm>
            <a:off x="1124640" y="328716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ah &lt;- l * ae + k * ad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42"/>
          <p:cNvSpPr/>
          <p:nvPr/>
        </p:nvSpPr>
        <p:spPr>
          <a:xfrm>
            <a:off x="612720" y="344736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243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43"/>
          <p:cNvSpPr/>
          <p:nvPr/>
        </p:nvSpPr>
        <p:spPr>
          <a:xfrm>
            <a:off x="1124640" y="344736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k &lt;- k * ae - l * ad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44"/>
          <p:cNvSpPr/>
          <p:nvPr/>
        </p:nvSpPr>
        <p:spPr>
          <a:xfrm>
            <a:off x="612720" y="360720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244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45"/>
          <p:cNvSpPr/>
          <p:nvPr/>
        </p:nvSpPr>
        <p:spPr>
          <a:xfrm>
            <a:off x="1124640" y="360720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l &lt;- ah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46"/>
          <p:cNvSpPr/>
          <p:nvPr/>
        </p:nvSpPr>
        <p:spPr>
          <a:xfrm>
            <a:off x="612720" y="376740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246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47"/>
          <p:cNvSpPr/>
          <p:nvPr/>
        </p:nvSpPr>
        <p:spPr>
          <a:xfrm>
            <a:off x="1124640" y="376740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fimpara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48"/>
          <p:cNvSpPr/>
          <p:nvPr/>
        </p:nvSpPr>
        <p:spPr>
          <a:xfrm>
            <a:off x="612720" y="392724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248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49"/>
          <p:cNvSpPr/>
          <p:nvPr/>
        </p:nvSpPr>
        <p:spPr>
          <a:xfrm>
            <a:off x="1124640" y="392724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Redraw the VisuAlg GUI console.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50"/>
          <p:cNvSpPr/>
          <p:nvPr/>
        </p:nvSpPr>
        <p:spPr>
          <a:xfrm>
            <a:off x="612720" y="408744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250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51"/>
          <p:cNvSpPr/>
          <p:nvPr/>
        </p:nvSpPr>
        <p:spPr>
          <a:xfrm>
            <a:off x="1124640" y="408744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The Windows application console does not interpret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52"/>
          <p:cNvSpPr/>
          <p:nvPr/>
        </p:nvSpPr>
        <p:spPr>
          <a:xfrm>
            <a:off x="612720" y="424728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251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53"/>
          <p:cNvSpPr/>
          <p:nvPr/>
        </p:nvSpPr>
        <p:spPr>
          <a:xfrm>
            <a:off x="1124640" y="424728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ANSI cursor-control sequences, so clear it normally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54"/>
          <p:cNvSpPr/>
          <p:nvPr/>
        </p:nvSpPr>
        <p:spPr>
          <a:xfrm>
            <a:off x="612720" y="440748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252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55"/>
          <p:cNvSpPr/>
          <p:nvPr/>
        </p:nvSpPr>
        <p:spPr>
          <a:xfrm>
            <a:off x="1124640" y="440748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// and print one complete row at a time.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56"/>
          <p:cNvSpPr/>
          <p:nvPr/>
        </p:nvSpPr>
        <p:spPr>
          <a:xfrm>
            <a:off x="612720" y="456732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254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57"/>
          <p:cNvSpPr/>
          <p:nvPr/>
        </p:nvSpPr>
        <p:spPr>
          <a:xfrm>
            <a:off x="1124640" y="456732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limpatela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58"/>
          <p:cNvSpPr/>
          <p:nvPr/>
        </p:nvSpPr>
        <p:spPr>
          <a:xfrm>
            <a:off x="612720" y="472752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256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59"/>
          <p:cNvSpPr/>
          <p:nvPr/>
        </p:nvSpPr>
        <p:spPr>
          <a:xfrm>
            <a:off x="1124640" y="472752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para aa de 0 ate 39 faca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60"/>
          <p:cNvSpPr/>
          <p:nvPr/>
        </p:nvSpPr>
        <p:spPr>
          <a:xfrm>
            <a:off x="612720" y="488736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258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61"/>
          <p:cNvSpPr/>
          <p:nvPr/>
        </p:nvSpPr>
        <p:spPr>
          <a:xfrm>
            <a:off x="1124640" y="488736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ac &lt;- ""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62"/>
          <p:cNvSpPr/>
          <p:nvPr/>
        </p:nvSpPr>
        <p:spPr>
          <a:xfrm>
            <a:off x="612720" y="504756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260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63"/>
          <p:cNvSpPr/>
          <p:nvPr/>
        </p:nvSpPr>
        <p:spPr>
          <a:xfrm>
            <a:off x="1124640" y="504756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para ab de 0 ate 118 faca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64"/>
          <p:cNvSpPr/>
          <p:nvPr/>
        </p:nvSpPr>
        <p:spPr>
          <a:xfrm>
            <a:off x="612720" y="520740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261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65"/>
          <p:cNvSpPr/>
          <p:nvPr/>
        </p:nvSpPr>
        <p:spPr>
          <a:xfrm>
            <a:off x="1124640" y="520740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ac &lt;- ac + c[aa, ab]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 66"/>
          <p:cNvSpPr/>
          <p:nvPr/>
        </p:nvSpPr>
        <p:spPr>
          <a:xfrm>
            <a:off x="612720" y="536760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262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67"/>
          <p:cNvSpPr/>
          <p:nvPr/>
        </p:nvSpPr>
        <p:spPr>
          <a:xfrm>
            <a:off x="1124640" y="536760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fimpara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68"/>
          <p:cNvSpPr/>
          <p:nvPr/>
        </p:nvSpPr>
        <p:spPr>
          <a:xfrm>
            <a:off x="612720" y="552744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264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69"/>
          <p:cNvSpPr/>
          <p:nvPr/>
        </p:nvSpPr>
        <p:spPr>
          <a:xfrm>
            <a:off x="1124640" y="552744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escreval(ac)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70"/>
          <p:cNvSpPr/>
          <p:nvPr/>
        </p:nvSpPr>
        <p:spPr>
          <a:xfrm>
            <a:off x="612720" y="568764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0b4cd"/>
                </a:solidFill>
                <a:latin typeface="Consolas"/>
                <a:ea typeface="DejaVu Sans"/>
              </a:rPr>
              <a:t>266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71"/>
          <p:cNvSpPr/>
          <p:nvPr/>
        </p:nvSpPr>
        <p:spPr>
          <a:xfrm>
            <a:off x="1124640" y="568764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      </a:t>
            </a:r>
            <a:r>
              <a:rPr b="0" lang="pt-BR" sz="1000" spc="-1" strike="noStrike">
                <a:solidFill>
                  <a:srgbClr val="ebf3fc"/>
                </a:solidFill>
                <a:latin typeface="Consolas"/>
                <a:ea typeface="DejaVu Sans"/>
              </a:rPr>
              <a:t>fimpara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72"/>
          <p:cNvSpPr/>
          <p:nvPr/>
        </p:nvSpPr>
        <p:spPr>
          <a:xfrm>
            <a:off x="612720" y="584748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3" name="Text 73"/>
          <p:cNvSpPr/>
          <p:nvPr/>
        </p:nvSpPr>
        <p:spPr>
          <a:xfrm>
            <a:off x="1124640" y="584748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4" name="Text 74"/>
          <p:cNvSpPr/>
          <p:nvPr/>
        </p:nvSpPr>
        <p:spPr>
          <a:xfrm>
            <a:off x="612720" y="600768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5" name="Text 75"/>
          <p:cNvSpPr/>
          <p:nvPr/>
        </p:nvSpPr>
        <p:spPr>
          <a:xfrm>
            <a:off x="1124640" y="600768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6" name="Text 76"/>
          <p:cNvSpPr/>
          <p:nvPr/>
        </p:nvSpPr>
        <p:spPr>
          <a:xfrm>
            <a:off x="612720" y="6167520"/>
            <a:ext cx="40032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7" name="Text 77"/>
          <p:cNvSpPr/>
          <p:nvPr/>
        </p:nvSpPr>
        <p:spPr>
          <a:xfrm>
            <a:off x="1124640" y="6167520"/>
            <a:ext cx="103215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8" name="Text 78"/>
          <p:cNvSpPr/>
          <p:nvPr/>
        </p:nvSpPr>
        <p:spPr>
          <a:xfrm>
            <a:off x="11292840" y="6455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15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9" name="Picture 507" descr="s15.png"/>
          <p:cNvPicPr/>
          <p:nvPr/>
        </p:nvPicPr>
        <p:blipFill>
          <a:blip r:embed="rId1"/>
          <a:stretch/>
        </p:blipFill>
        <p:spPr>
          <a:xfrm>
            <a:off x="530280" y="678960"/>
            <a:ext cx="10696320" cy="436680"/>
          </a:xfrm>
          <a:prstGeom prst="rect">
            <a:avLst/>
          </a:prstGeom>
          <a:ln w="0">
            <a:noFill/>
          </a:ln>
        </p:spPr>
      </p:pic>
      <p:sp>
        <p:nvSpPr>
          <p:cNvPr id="510" name="Rounded Rectangle 80">
            <a:hlinkClick r:id="rId2" action="ppaction://hlinksldjump"/>
          </p:cNvPr>
          <p:cNvSpPr/>
          <p:nvPr/>
        </p:nvSpPr>
        <p:spPr>
          <a:xfrm>
            <a:off x="9464040" y="311040"/>
            <a:ext cx="1780920" cy="3088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37d9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f2f7fa"/>
                </a:solidFill>
                <a:latin typeface="Aptos"/>
                <a:ea typeface="DejaVu Sans"/>
              </a:rPr>
              <a:t>← </a:t>
            </a:r>
            <a:r>
              <a:rPr b="0" lang="pt-BR" sz="1800" spc="-1" strike="noStrike">
                <a:solidFill>
                  <a:srgbClr val="f2f7fa"/>
                </a:solidFill>
                <a:latin typeface="Aptos"/>
                <a:ea typeface="DejaVu Sans"/>
              </a:rPr>
              <a:t>Back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Isosceles Triangle 81"/>
          <p:cNvSpPr/>
          <p:nvPr/>
        </p:nvSpPr>
        <p:spPr>
          <a:xfrm rot="16200000">
            <a:off x="7772400" y="1465200"/>
            <a:ext cx="162360" cy="19908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512" name="Rounded Rectangle 82"/>
          <p:cNvSpPr/>
          <p:nvPr/>
        </p:nvSpPr>
        <p:spPr>
          <a:xfrm>
            <a:off x="7936920" y="1298520"/>
            <a:ext cx="2969640" cy="85752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Z-buffer: only the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closest point occupies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the cell.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Isosceles Triangle 83"/>
          <p:cNvSpPr/>
          <p:nvPr/>
        </p:nvSpPr>
        <p:spPr>
          <a:xfrm rot="16200000">
            <a:off x="7772400" y="4757040"/>
            <a:ext cx="162360" cy="19908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514" name="Rounded Rectangle 84"/>
          <p:cNvSpPr/>
          <p:nvPr/>
        </p:nvSpPr>
        <p:spPr>
          <a:xfrm>
            <a:off x="7936920" y="4590360"/>
            <a:ext cx="2969640" cy="85752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VisuAlg GUI strategy: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build the line and use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rial"/>
                <a:ea typeface="DejaVu Sans"/>
              </a:rPr>
              <a:t>escreval to redraw.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16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17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400" spc="-1" strike="noStrike">
                <a:solidFill>
                  <a:srgbClr val="f0f6fa"/>
                </a:solidFill>
                <a:latin typeface="Aptos"/>
                <a:ea typeface="DejaVu Sans"/>
              </a:rPr>
              <a:t>Where the motion happens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3"/>
          <p:cNvSpPr/>
          <p:nvPr/>
        </p:nvSpPr>
        <p:spPr>
          <a:xfrm>
            <a:off x="530280" y="822960"/>
            <a:ext cx="106963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aabacd"/>
                </a:solidFill>
                <a:latin typeface="Aptos"/>
                <a:ea typeface="DejaVu Sans"/>
              </a:rPr>
              <a:t>The two most important lines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Shape 4"/>
          <p:cNvSpPr/>
          <p:nvPr/>
        </p:nvSpPr>
        <p:spPr>
          <a:xfrm>
            <a:off x="914400" y="1800000"/>
            <a:ext cx="10239120" cy="4249800"/>
          </a:xfrm>
          <a:prstGeom prst="roundRect">
            <a:avLst>
              <a:gd name="adj" fmla="val 1720"/>
            </a:avLst>
          </a:prstGeom>
          <a:solidFill>
            <a:srgbClr val="0d1825"/>
          </a:solidFill>
          <a:ln w="14040">
            <a:solidFill>
              <a:srgbClr val="25445e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20" name="Shape 5"/>
          <p:cNvSpPr/>
          <p:nvPr/>
        </p:nvSpPr>
        <p:spPr>
          <a:xfrm>
            <a:off x="1463040" y="1591200"/>
            <a:ext cx="11520" cy="4176720"/>
          </a:xfrm>
          <a:prstGeom prst="rect">
            <a:avLst/>
          </a:prstGeom>
          <a:solidFill>
            <a:srgbClr val="25445e"/>
          </a:solidFill>
          <a:ln w="12600">
            <a:solidFill>
              <a:srgbClr val="2544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21" name="Text 10"/>
          <p:cNvSpPr/>
          <p:nvPr/>
        </p:nvSpPr>
        <p:spPr>
          <a:xfrm>
            <a:off x="1024200" y="1664280"/>
            <a:ext cx="4003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2" name="Text 11"/>
          <p:cNvSpPr/>
          <p:nvPr/>
        </p:nvSpPr>
        <p:spPr>
          <a:xfrm>
            <a:off x="1536120" y="1664280"/>
            <a:ext cx="945288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3" name="Text 12"/>
          <p:cNvSpPr/>
          <p:nvPr/>
        </p:nvSpPr>
        <p:spPr>
          <a:xfrm>
            <a:off x="1024200" y="1947600"/>
            <a:ext cx="4003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4" name="Text 13"/>
          <p:cNvSpPr/>
          <p:nvPr/>
        </p:nvSpPr>
        <p:spPr>
          <a:xfrm>
            <a:off x="1536120" y="1947600"/>
            <a:ext cx="945288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5" name="Text 14"/>
          <p:cNvSpPr/>
          <p:nvPr/>
        </p:nvSpPr>
        <p:spPr>
          <a:xfrm>
            <a:off x="1024200" y="2231280"/>
            <a:ext cx="4003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6" name="Text 15"/>
          <p:cNvSpPr/>
          <p:nvPr/>
        </p:nvSpPr>
        <p:spPr>
          <a:xfrm>
            <a:off x="1536120" y="2231280"/>
            <a:ext cx="945288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7" name="Text 16"/>
          <p:cNvSpPr/>
          <p:nvPr/>
        </p:nvSpPr>
        <p:spPr>
          <a:xfrm>
            <a:off x="1024200" y="2514600"/>
            <a:ext cx="4003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8" name="Text 17"/>
          <p:cNvSpPr/>
          <p:nvPr/>
        </p:nvSpPr>
        <p:spPr>
          <a:xfrm>
            <a:off x="1536120" y="2514600"/>
            <a:ext cx="945288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9" name="Text 18"/>
          <p:cNvSpPr/>
          <p:nvPr/>
        </p:nvSpPr>
        <p:spPr>
          <a:xfrm>
            <a:off x="1024200" y="2797920"/>
            <a:ext cx="4003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0" name="Text 19"/>
          <p:cNvSpPr/>
          <p:nvPr/>
        </p:nvSpPr>
        <p:spPr>
          <a:xfrm>
            <a:off x="1536120" y="2797920"/>
            <a:ext cx="945288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1" name="Text 20"/>
          <p:cNvSpPr/>
          <p:nvPr/>
        </p:nvSpPr>
        <p:spPr>
          <a:xfrm>
            <a:off x="1024200" y="3081600"/>
            <a:ext cx="4003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2" name="Text 21"/>
          <p:cNvSpPr/>
          <p:nvPr/>
        </p:nvSpPr>
        <p:spPr>
          <a:xfrm>
            <a:off x="1536120" y="3081600"/>
            <a:ext cx="945288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3" name="Text 22"/>
          <p:cNvSpPr/>
          <p:nvPr/>
        </p:nvSpPr>
        <p:spPr>
          <a:xfrm>
            <a:off x="1024200" y="3364920"/>
            <a:ext cx="4003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4" name="Text 23"/>
          <p:cNvSpPr/>
          <p:nvPr/>
        </p:nvSpPr>
        <p:spPr>
          <a:xfrm>
            <a:off x="1536120" y="3364920"/>
            <a:ext cx="945288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5" name="Text 24"/>
          <p:cNvSpPr/>
          <p:nvPr/>
        </p:nvSpPr>
        <p:spPr>
          <a:xfrm>
            <a:off x="1024200" y="3648600"/>
            <a:ext cx="4003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6" name="Text 25"/>
          <p:cNvSpPr/>
          <p:nvPr/>
        </p:nvSpPr>
        <p:spPr>
          <a:xfrm>
            <a:off x="1536120" y="3648600"/>
            <a:ext cx="945288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7" name="Text 26"/>
          <p:cNvSpPr/>
          <p:nvPr/>
        </p:nvSpPr>
        <p:spPr>
          <a:xfrm>
            <a:off x="1024200" y="3931920"/>
            <a:ext cx="4003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8" name="Text 27"/>
          <p:cNvSpPr/>
          <p:nvPr/>
        </p:nvSpPr>
        <p:spPr>
          <a:xfrm>
            <a:off x="1536120" y="3931920"/>
            <a:ext cx="945288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9" name="Text 28"/>
          <p:cNvSpPr/>
          <p:nvPr/>
        </p:nvSpPr>
        <p:spPr>
          <a:xfrm>
            <a:off x="1024200" y="4215240"/>
            <a:ext cx="4003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40" name="Text 30"/>
          <p:cNvSpPr/>
          <p:nvPr/>
        </p:nvSpPr>
        <p:spPr>
          <a:xfrm>
            <a:off x="1024200" y="4498920"/>
            <a:ext cx="4003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41" name="Text 31"/>
          <p:cNvSpPr/>
          <p:nvPr/>
        </p:nvSpPr>
        <p:spPr>
          <a:xfrm>
            <a:off x="1536120" y="4498920"/>
            <a:ext cx="945288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42" name="Text 32"/>
          <p:cNvSpPr/>
          <p:nvPr/>
        </p:nvSpPr>
        <p:spPr>
          <a:xfrm>
            <a:off x="1024200" y="4782240"/>
            <a:ext cx="4003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43" name="Text 33"/>
          <p:cNvSpPr/>
          <p:nvPr/>
        </p:nvSpPr>
        <p:spPr>
          <a:xfrm>
            <a:off x="1536120" y="4782240"/>
            <a:ext cx="945288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44" name="Text 34"/>
          <p:cNvSpPr/>
          <p:nvPr/>
        </p:nvSpPr>
        <p:spPr>
          <a:xfrm>
            <a:off x="1024200" y="5065920"/>
            <a:ext cx="4003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45" name="Text 35"/>
          <p:cNvSpPr/>
          <p:nvPr/>
        </p:nvSpPr>
        <p:spPr>
          <a:xfrm>
            <a:off x="1536120" y="5065920"/>
            <a:ext cx="945288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546" name="Picture 546" descr="s16_main.png"/>
          <p:cNvPicPr/>
          <p:nvPr/>
        </p:nvPicPr>
        <p:blipFill>
          <a:blip r:embed="rId1"/>
          <a:stretch/>
        </p:blipFill>
        <p:spPr>
          <a:xfrm>
            <a:off x="914400" y="1800000"/>
            <a:ext cx="10239120" cy="3599280"/>
          </a:xfrm>
          <a:prstGeom prst="rect">
            <a:avLst/>
          </a:prstGeom>
          <a:ln w="0">
            <a:noFill/>
          </a:ln>
        </p:spPr>
      </p:pic>
      <p:sp>
        <p:nvSpPr>
          <p:cNvPr id="547" name="Text 36"/>
          <p:cNvSpPr/>
          <p:nvPr/>
        </p:nvSpPr>
        <p:spPr>
          <a:xfrm>
            <a:off x="914400" y="5943600"/>
            <a:ext cx="1918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ffffff"/>
                </a:solidFill>
                <a:latin typeface="Aptos"/>
                <a:ea typeface="DejaVu Sans"/>
              </a:rPr>
              <a:t>Summary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37"/>
          <p:cNvSpPr/>
          <p:nvPr/>
        </p:nvSpPr>
        <p:spPr>
          <a:xfrm>
            <a:off x="960120" y="6172200"/>
            <a:ext cx="493560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" rIns="360" tIns="360" bIns="360" anchor="t">
            <a:no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ffffff"/>
                </a:solidFill>
                <a:latin typeface="Aptos"/>
                <a:ea typeface="DejaVu Sans"/>
              </a:rPr>
              <a:t>• </a:t>
            </a:r>
            <a:r>
              <a:rPr b="0" lang="pt-BR" sz="1400" spc="-1" strike="noStrike">
                <a:solidFill>
                  <a:srgbClr val="ffffff"/>
                </a:solidFill>
                <a:latin typeface="Aptos"/>
                <a:ea typeface="DejaVu Sans"/>
              </a:rPr>
              <a:t>The redraw prints the frame.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ffffff"/>
                </a:solidFill>
                <a:latin typeface="Aptos"/>
                <a:ea typeface="DejaVu Sans"/>
              </a:rPr>
              <a:t>• </a:t>
            </a:r>
            <a:r>
              <a:rPr b="0" lang="pt-BR" sz="1400" spc="-1" strike="noStrike">
                <a:solidFill>
                  <a:srgbClr val="ffffff"/>
                </a:solidFill>
                <a:latin typeface="Aptos"/>
                <a:ea typeface="DejaVu Sans"/>
              </a:rPr>
              <a:t>Lines 273–274 advance the global angles.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ffffff"/>
                </a:solidFill>
                <a:latin typeface="Aptos"/>
                <a:ea typeface="DejaVu Sans"/>
              </a:rPr>
              <a:t>• </a:t>
            </a:r>
            <a:r>
              <a:rPr b="0" lang="pt-BR" sz="1400" spc="-1" strike="noStrike">
                <a:solidFill>
                  <a:srgbClr val="ffffff"/>
                </a:solidFill>
                <a:latin typeface="Aptos"/>
                <a:ea typeface="DejaVu Sans"/>
              </a:rPr>
              <a:t>That is what makes the torus spin.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38"/>
          <p:cNvSpPr/>
          <p:nvPr/>
        </p:nvSpPr>
        <p:spPr>
          <a:xfrm>
            <a:off x="11292840" y="6455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16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Rounded Rectangle 40">
            <a:hlinkClick r:id="rId2" action="ppaction://hlinksldjump"/>
          </p:cNvPr>
          <p:cNvSpPr/>
          <p:nvPr/>
        </p:nvSpPr>
        <p:spPr>
          <a:xfrm>
            <a:off x="9464040" y="311040"/>
            <a:ext cx="1780920" cy="3088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37d9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f2f7fa"/>
                </a:solidFill>
                <a:latin typeface="Aptos"/>
                <a:ea typeface="DejaVu Sans"/>
              </a:rPr>
              <a:t>← </a:t>
            </a:r>
            <a:r>
              <a:rPr b="0" lang="pt-BR" sz="1800" spc="-1" strike="noStrike">
                <a:solidFill>
                  <a:srgbClr val="f2f7fa"/>
                </a:solidFill>
                <a:latin typeface="Aptos"/>
                <a:ea typeface="DejaVu Sans"/>
              </a:rPr>
              <a:t>Back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Rounded Rectangle 44"/>
          <p:cNvSpPr/>
          <p:nvPr/>
        </p:nvSpPr>
        <p:spPr>
          <a:xfrm>
            <a:off x="1553400" y="4205520"/>
            <a:ext cx="5987160" cy="65628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20160">
            <a:solidFill>
              <a:srgbClr val="ffb22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52" name="TextBox 45"/>
          <p:cNvSpPr/>
          <p:nvPr/>
        </p:nvSpPr>
        <p:spPr>
          <a:xfrm>
            <a:off x="1536120" y="4215240"/>
            <a:ext cx="4211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553" name="Picture 547" descr="s16_hl.png"/>
          <p:cNvPicPr/>
          <p:nvPr/>
        </p:nvPicPr>
        <p:blipFill>
          <a:blip r:embed="rId3"/>
          <a:stretch/>
        </p:blipFill>
        <p:spPr>
          <a:xfrm>
            <a:off x="9464040" y="311040"/>
            <a:ext cx="1780920" cy="308880"/>
          </a:xfrm>
          <a:prstGeom prst="rect">
            <a:avLst/>
          </a:prstGeom>
          <a:ln w="0">
            <a:noFill/>
          </a:ln>
        </p:spPr>
      </p:pic>
      <p:sp>
        <p:nvSpPr>
          <p:cNvPr id="554" name="TextBox 46"/>
          <p:cNvSpPr/>
          <p:nvPr/>
        </p:nvSpPr>
        <p:spPr>
          <a:xfrm>
            <a:off x="1536120" y="4498920"/>
            <a:ext cx="51505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      </a:t>
            </a:r>
            <a:r>
              <a:rPr b="0" lang="pt-BR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b &lt;- b + h * ak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Rounded Rectangle 48"/>
          <p:cNvSpPr/>
          <p:nvPr/>
        </p:nvSpPr>
        <p:spPr>
          <a:xfrm>
            <a:off x="7876440" y="4095360"/>
            <a:ext cx="2997000" cy="83916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ffffff"/>
                </a:solidFill>
                <a:latin typeface="Aptos"/>
                <a:ea typeface="DejaVu Sans"/>
              </a:rPr>
              <a:t>These two lines advance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ffffff"/>
                </a:solidFill>
                <a:latin typeface="Aptos"/>
                <a:ea typeface="DejaVu Sans"/>
              </a:rPr>
              <a:t>the angles and create the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ffffff"/>
                </a:solidFill>
                <a:latin typeface="Aptos"/>
                <a:ea typeface="DejaVu Sans"/>
              </a:rPr>
              <a:t>frame-by-frame animation.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57" name="Shape 1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58" name="Text 2"/>
          <p:cNvSpPr/>
          <p:nvPr/>
        </p:nvSpPr>
        <p:spPr>
          <a:xfrm>
            <a:off x="502920" y="311040"/>
            <a:ext cx="10787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16. Variable map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4"/>
          <p:cNvSpPr/>
          <p:nvPr/>
        </p:nvSpPr>
        <p:spPr>
          <a:xfrm>
            <a:off x="777240" y="1207080"/>
            <a:ext cx="21924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a8b9c7"/>
                </a:solidFill>
                <a:latin typeface="Aptos"/>
                <a:ea typeface="DejaVu Sans"/>
              </a:rPr>
              <a:t>Obfuscated name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5"/>
          <p:cNvSpPr/>
          <p:nvPr/>
        </p:nvSpPr>
        <p:spPr>
          <a:xfrm>
            <a:off x="2743200" y="1207080"/>
            <a:ext cx="2741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a8b9c7"/>
                </a:solidFill>
                <a:latin typeface="Aptos"/>
                <a:ea typeface="DejaVu Sans"/>
              </a:rPr>
              <a:t>Readable name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6"/>
          <p:cNvSpPr/>
          <p:nvPr/>
        </p:nvSpPr>
        <p:spPr>
          <a:xfrm>
            <a:off x="5486400" y="1207080"/>
            <a:ext cx="54842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a8b9c7"/>
                </a:solidFill>
                <a:latin typeface="Aptos"/>
                <a:ea typeface="DejaVu Sans"/>
              </a:rPr>
              <a:t>Purpose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7"/>
          <p:cNvSpPr/>
          <p:nvPr/>
        </p:nvSpPr>
        <p:spPr>
          <a:xfrm>
            <a:off x="868680" y="1645920"/>
            <a:ext cx="15523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ffb22e"/>
                </a:solidFill>
                <a:latin typeface="Cascadia Mono"/>
                <a:ea typeface="DejaVu Sans"/>
              </a:rPr>
              <a:t>a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8"/>
          <p:cNvSpPr/>
          <p:nvPr/>
        </p:nvSpPr>
        <p:spPr>
          <a:xfrm>
            <a:off x="2788920" y="1645920"/>
            <a:ext cx="25124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78f5ff"/>
                </a:solidFill>
                <a:latin typeface="Cascadia Mono"/>
                <a:ea typeface="DejaVu Sans"/>
              </a:rPr>
              <a:t>angleAxial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Text 9"/>
          <p:cNvSpPr/>
          <p:nvPr/>
        </p:nvSpPr>
        <p:spPr>
          <a:xfrm>
            <a:off x="5504760" y="1645920"/>
            <a:ext cx="53470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f2f7fa"/>
                </a:solidFill>
                <a:latin typeface="Aptos"/>
                <a:ea typeface="DejaVu Sans"/>
              </a:rPr>
              <a:t>global axial angle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 10"/>
          <p:cNvSpPr/>
          <p:nvPr/>
        </p:nvSpPr>
        <p:spPr>
          <a:xfrm>
            <a:off x="868680" y="2075760"/>
            <a:ext cx="15523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ffb22e"/>
                </a:solidFill>
                <a:latin typeface="Cascadia Mono"/>
                <a:ea typeface="DejaVu Sans"/>
              </a:rPr>
              <a:t>b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11"/>
          <p:cNvSpPr/>
          <p:nvPr/>
        </p:nvSpPr>
        <p:spPr>
          <a:xfrm>
            <a:off x="2788920" y="2075760"/>
            <a:ext cx="25124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78f5ff"/>
                </a:solidFill>
                <a:latin typeface="Cascadia Mono"/>
                <a:ea typeface="DejaVu Sans"/>
              </a:rPr>
              <a:t>angleElevation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12"/>
          <p:cNvSpPr/>
          <p:nvPr/>
        </p:nvSpPr>
        <p:spPr>
          <a:xfrm>
            <a:off x="5504760" y="2075760"/>
            <a:ext cx="53470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f2f7fa"/>
                </a:solidFill>
                <a:latin typeface="Aptos"/>
                <a:ea typeface="DejaVu Sans"/>
              </a:rPr>
              <a:t>global elevation angle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 13"/>
          <p:cNvSpPr/>
          <p:nvPr/>
        </p:nvSpPr>
        <p:spPr>
          <a:xfrm>
            <a:off x="868680" y="2505600"/>
            <a:ext cx="15523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ffb22e"/>
                </a:solidFill>
                <a:latin typeface="Cascadia Mono"/>
                <a:ea typeface="DejaVu Sans"/>
              </a:rPr>
              <a:t>g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14"/>
          <p:cNvSpPr/>
          <p:nvPr/>
        </p:nvSpPr>
        <p:spPr>
          <a:xfrm>
            <a:off x="2788920" y="2505600"/>
            <a:ext cx="25124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78f5ff"/>
                </a:solidFill>
                <a:latin typeface="Cascadia Mono"/>
                <a:ea typeface="DejaVu Sans"/>
              </a:rPr>
              <a:t>axialStep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 15"/>
          <p:cNvSpPr/>
          <p:nvPr/>
        </p:nvSpPr>
        <p:spPr>
          <a:xfrm>
            <a:off x="5504760" y="2505600"/>
            <a:ext cx="53470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f2f7fa"/>
                </a:solidFill>
                <a:latin typeface="Aptos"/>
                <a:ea typeface="DejaVu Sans"/>
              </a:rPr>
              <a:t>axial-spin step per frame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 16"/>
          <p:cNvSpPr/>
          <p:nvPr/>
        </p:nvSpPr>
        <p:spPr>
          <a:xfrm>
            <a:off x="868680" y="2935080"/>
            <a:ext cx="15523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ffb22e"/>
                </a:solidFill>
                <a:latin typeface="Cascadia Mono"/>
                <a:ea typeface="DejaVu Sans"/>
              </a:rPr>
              <a:t>h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17"/>
          <p:cNvSpPr/>
          <p:nvPr/>
        </p:nvSpPr>
        <p:spPr>
          <a:xfrm>
            <a:off x="2788920" y="2935080"/>
            <a:ext cx="25124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78f5ff"/>
                </a:solidFill>
                <a:latin typeface="Cascadia Mono"/>
                <a:ea typeface="DejaVu Sans"/>
              </a:rPr>
              <a:t>elevationStep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 18"/>
          <p:cNvSpPr/>
          <p:nvPr/>
        </p:nvSpPr>
        <p:spPr>
          <a:xfrm>
            <a:off x="5504760" y="2935080"/>
            <a:ext cx="53470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f2f7fa"/>
                </a:solidFill>
                <a:latin typeface="Aptos"/>
                <a:ea typeface="DejaVu Sans"/>
              </a:rPr>
              <a:t>elevation step per frame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19"/>
          <p:cNvSpPr/>
          <p:nvPr/>
        </p:nvSpPr>
        <p:spPr>
          <a:xfrm>
            <a:off x="868680" y="3364920"/>
            <a:ext cx="15523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ffb22e"/>
                </a:solidFill>
                <a:latin typeface="Cascadia Mono"/>
                <a:ea typeface="DejaVu Sans"/>
              </a:rPr>
              <a:t>ak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 20"/>
          <p:cNvSpPr/>
          <p:nvPr/>
        </p:nvSpPr>
        <p:spPr>
          <a:xfrm>
            <a:off x="2788920" y="3364920"/>
            <a:ext cx="25124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78f5ff"/>
                </a:solidFill>
                <a:latin typeface="Cascadia Mono"/>
                <a:ea typeface="DejaVu Sans"/>
              </a:rPr>
              <a:t>speedMultiplier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21"/>
          <p:cNvSpPr/>
          <p:nvPr/>
        </p:nvSpPr>
        <p:spPr>
          <a:xfrm>
            <a:off x="5504760" y="3364920"/>
            <a:ext cx="53470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f2f7fa"/>
                </a:solidFill>
                <a:latin typeface="Aptos"/>
                <a:ea typeface="DejaVu Sans"/>
              </a:rPr>
              <a:t>animation speed multiplier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22"/>
          <p:cNvSpPr/>
          <p:nvPr/>
        </p:nvSpPr>
        <p:spPr>
          <a:xfrm>
            <a:off x="868680" y="3794760"/>
            <a:ext cx="15523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ffb22e"/>
                </a:solidFill>
                <a:latin typeface="Cascadia Mono"/>
                <a:ea typeface="DejaVu Sans"/>
              </a:rPr>
              <a:t>c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 23"/>
          <p:cNvSpPr/>
          <p:nvPr/>
        </p:nvSpPr>
        <p:spPr>
          <a:xfrm>
            <a:off x="2788920" y="3794760"/>
            <a:ext cx="25124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78f5ff"/>
                </a:solidFill>
                <a:latin typeface="Cascadia Mono"/>
                <a:ea typeface="DejaVu Sans"/>
              </a:rPr>
              <a:t>charBuffer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 24"/>
          <p:cNvSpPr/>
          <p:nvPr/>
        </p:nvSpPr>
        <p:spPr>
          <a:xfrm>
            <a:off x="5504760" y="3794760"/>
            <a:ext cx="53470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f2f7fa"/>
                </a:solidFill>
                <a:latin typeface="Aptos"/>
                <a:ea typeface="DejaVu Sans"/>
              </a:rPr>
              <a:t>character buffer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Text 25"/>
          <p:cNvSpPr/>
          <p:nvPr/>
        </p:nvSpPr>
        <p:spPr>
          <a:xfrm>
            <a:off x="868680" y="4224600"/>
            <a:ext cx="15523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ffb22e"/>
                </a:solidFill>
                <a:latin typeface="Cascadia Mono"/>
                <a:ea typeface="DejaVu Sans"/>
              </a:rPr>
              <a:t>d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26"/>
          <p:cNvSpPr/>
          <p:nvPr/>
        </p:nvSpPr>
        <p:spPr>
          <a:xfrm>
            <a:off x="2788920" y="4224600"/>
            <a:ext cx="25124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78f5ff"/>
                </a:solidFill>
                <a:latin typeface="Cascadia Mono"/>
                <a:ea typeface="DejaVu Sans"/>
              </a:rPr>
              <a:t>depthBuffer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 27"/>
          <p:cNvSpPr/>
          <p:nvPr/>
        </p:nvSpPr>
        <p:spPr>
          <a:xfrm>
            <a:off x="5504760" y="4224600"/>
            <a:ext cx="53470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f2f7fa"/>
                </a:solidFill>
                <a:latin typeface="Aptos"/>
                <a:ea typeface="DejaVu Sans"/>
              </a:rPr>
              <a:t>z-buffer / depth buffer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Text 28"/>
          <p:cNvSpPr/>
          <p:nvPr/>
        </p:nvSpPr>
        <p:spPr>
          <a:xfrm>
            <a:off x="868680" y="4654440"/>
            <a:ext cx="15523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ffb22e"/>
                </a:solidFill>
                <a:latin typeface="Cascadia Mono"/>
                <a:ea typeface="DejaVu Sans"/>
              </a:rPr>
              <a:t>w / x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 29"/>
          <p:cNvSpPr/>
          <p:nvPr/>
        </p:nvSpPr>
        <p:spPr>
          <a:xfrm>
            <a:off x="2788920" y="4654440"/>
            <a:ext cx="25124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78f5ff"/>
                </a:solidFill>
                <a:latin typeface="Cascadia Mono"/>
                <a:ea typeface="DejaVu Sans"/>
              </a:rPr>
              <a:t>screenCol / screenRow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30"/>
          <p:cNvSpPr/>
          <p:nvPr/>
        </p:nvSpPr>
        <p:spPr>
          <a:xfrm>
            <a:off x="5504760" y="4654440"/>
            <a:ext cx="53470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f2f7fa"/>
                </a:solidFill>
                <a:latin typeface="Aptos"/>
                <a:ea typeface="DejaVu Sans"/>
              </a:rPr>
              <a:t>projected screen position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31"/>
          <p:cNvSpPr/>
          <p:nvPr/>
        </p:nvSpPr>
        <p:spPr>
          <a:xfrm>
            <a:off x="868680" y="5083920"/>
            <a:ext cx="15523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ffb22e"/>
                </a:solidFill>
                <a:latin typeface="Cascadia Mono"/>
                <a:ea typeface="DejaVu Sans"/>
              </a:rPr>
              <a:t>y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32"/>
          <p:cNvSpPr/>
          <p:nvPr/>
        </p:nvSpPr>
        <p:spPr>
          <a:xfrm>
            <a:off x="2788920" y="5083920"/>
            <a:ext cx="25124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78f5ff"/>
                </a:solidFill>
                <a:latin typeface="Cascadia Mono"/>
                <a:ea typeface="DejaVu Sans"/>
              </a:rPr>
              <a:t>shadeIndex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33"/>
          <p:cNvSpPr/>
          <p:nvPr/>
        </p:nvSpPr>
        <p:spPr>
          <a:xfrm>
            <a:off x="5504760" y="5083920"/>
            <a:ext cx="53470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f2f7fa"/>
                </a:solidFill>
                <a:latin typeface="Aptos"/>
                <a:ea typeface="DejaVu Sans"/>
              </a:rPr>
              <a:t>index in the ASCII brightness ramp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34"/>
          <p:cNvSpPr/>
          <p:nvPr/>
        </p:nvSpPr>
        <p:spPr>
          <a:xfrm>
            <a:off x="868680" y="5513760"/>
            <a:ext cx="15523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ffb22e"/>
                </a:solidFill>
                <a:latin typeface="Cascadia Mono"/>
                <a:ea typeface="DejaVu Sans"/>
              </a:rPr>
              <a:t>z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 35"/>
          <p:cNvSpPr/>
          <p:nvPr/>
        </p:nvSpPr>
        <p:spPr>
          <a:xfrm>
            <a:off x="2788920" y="5513760"/>
            <a:ext cx="251244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78f5ff"/>
                </a:solidFill>
                <a:latin typeface="Cascadia Mono"/>
                <a:ea typeface="DejaVu Sans"/>
              </a:rPr>
              <a:t>shadeRamp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 36"/>
          <p:cNvSpPr/>
          <p:nvPr/>
        </p:nvSpPr>
        <p:spPr>
          <a:xfrm>
            <a:off x="5504760" y="5513760"/>
            <a:ext cx="53470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f2f7fa"/>
                </a:solidFill>
                <a:latin typeface="Aptos"/>
                <a:ea typeface="DejaVu Sans"/>
              </a:rPr>
              <a:t>ASCII ramp from shadow to highlight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37"/>
          <p:cNvSpPr/>
          <p:nvPr/>
        </p:nvSpPr>
        <p:spPr>
          <a:xfrm>
            <a:off x="11292840" y="6455520"/>
            <a:ext cx="473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17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Rectangle 1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594" name="Rectangle 2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595" name="TextBox 3"/>
          <p:cNvSpPr/>
          <p:nvPr/>
        </p:nvSpPr>
        <p:spPr>
          <a:xfrm>
            <a:off x="640080" y="311040"/>
            <a:ext cx="47026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600" spc="-1" strike="noStrike">
                <a:solidFill>
                  <a:srgbClr val="f2f7fa"/>
                </a:solidFill>
                <a:latin typeface="Aptos"/>
                <a:ea typeface="DejaVu Sans"/>
              </a:rPr>
              <a:t>Spin and lighting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Box 4"/>
          <p:cNvSpPr/>
          <p:nvPr/>
        </p:nvSpPr>
        <p:spPr>
          <a:xfrm>
            <a:off x="640080" y="822960"/>
            <a:ext cx="563580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50" spc="-1" strike="noStrike">
                <a:solidFill>
                  <a:srgbClr val="aabacd"/>
                </a:solidFill>
                <a:latin typeface="Aptos"/>
                <a:ea typeface="DejaVu Sans"/>
              </a:rPr>
              <a:t>Watch the spin and the shifting highlights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7" name="Picture 5" descr="image.gif"/>
          <p:cNvPicPr/>
          <p:nvPr/>
        </p:nvPicPr>
        <p:blipFill>
          <a:blip r:embed="rId1"/>
          <a:stretch/>
        </p:blipFill>
        <p:spPr>
          <a:xfrm>
            <a:off x="640080" y="1280160"/>
            <a:ext cx="6490080" cy="3975480"/>
          </a:xfrm>
          <a:prstGeom prst="rect">
            <a:avLst/>
          </a:prstGeom>
          <a:ln w="0">
            <a:noFill/>
          </a:ln>
        </p:spPr>
      </p:pic>
      <p:sp>
        <p:nvSpPr>
          <p:cNvPr id="598" name="TextBox 6"/>
          <p:cNvSpPr/>
          <p:nvPr/>
        </p:nvSpPr>
        <p:spPr>
          <a:xfrm>
            <a:off x="2877120" y="5402880"/>
            <a:ext cx="201564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Source: author with IA assistance (ChatGPT)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Box 7"/>
          <p:cNvSpPr/>
          <p:nvPr/>
        </p:nvSpPr>
        <p:spPr>
          <a:xfrm>
            <a:off x="7200000" y="1417320"/>
            <a:ext cx="485928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a8b9c7"/>
                </a:solidFill>
                <a:latin typeface="Arial"/>
                <a:ea typeface="DejaVu Sans"/>
              </a:rPr>
              <a:t>• </a:t>
            </a:r>
            <a:r>
              <a:rPr b="0" lang="pt-BR" sz="1300" spc="-1" strike="noStrike">
                <a:solidFill>
                  <a:srgbClr val="a8b9c7"/>
                </a:solidFill>
                <a:latin typeface="Arial"/>
                <a:ea typeface="DejaVu Sans"/>
              </a:rPr>
              <a:t>The torus spins because the global angles change every frame.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a8b9c7"/>
                </a:solidFill>
                <a:latin typeface="Arial"/>
                <a:ea typeface="DejaVu Sans"/>
              </a:rPr>
              <a:t>• </a:t>
            </a:r>
            <a:r>
              <a:rPr b="0" lang="pt-BR" sz="1300" spc="-1" strike="noStrike">
                <a:solidFill>
                  <a:srgbClr val="a8b9c7"/>
                </a:solidFill>
                <a:latin typeface="Arial"/>
                <a:ea typeface="DejaVu Sans"/>
              </a:rPr>
              <a:t>The ASCII ramp changes characters as the simulated lighting shifts.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Rounded Rectangle 8"/>
          <p:cNvSpPr/>
          <p:nvPr/>
        </p:nvSpPr>
        <p:spPr>
          <a:xfrm>
            <a:off x="7269480" y="3977640"/>
            <a:ext cx="4341240" cy="95796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angleAxial &lt;- angleAxial + axialStep * speedMultiplier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angleElevation &lt;- angleElevation + elevationStep * speedMultiplier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TextBox 9"/>
          <p:cNvSpPr/>
          <p:nvPr/>
        </p:nvSpPr>
        <p:spPr>
          <a:xfrm>
            <a:off x="11491560" y="6565320"/>
            <a:ext cx="295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18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Rectangle 1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7111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03" name="Rectangle 2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04" name="TextBox 3"/>
          <p:cNvSpPr/>
          <p:nvPr/>
        </p:nvSpPr>
        <p:spPr>
          <a:xfrm>
            <a:off x="594360" y="311040"/>
            <a:ext cx="64717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600" spc="-1" strike="noStrike">
                <a:solidFill>
                  <a:srgbClr val="f2f7fa"/>
                </a:solidFill>
                <a:latin typeface="Aptos"/>
                <a:ea typeface="DejaVu Sans"/>
              </a:rPr>
              <a:t>Global angles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TextBox 4"/>
          <p:cNvSpPr/>
          <p:nvPr/>
        </p:nvSpPr>
        <p:spPr>
          <a:xfrm>
            <a:off x="594360" y="822960"/>
            <a:ext cx="49849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50" spc="-1" strike="noStrike">
                <a:solidFill>
                  <a:srgbClr val="aabacd"/>
                </a:solidFill>
                <a:latin typeface="Aptos"/>
                <a:ea typeface="DejaVu Sans"/>
              </a:rPr>
              <a:t>Sine and cosine values used by the animation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Box 6"/>
          <p:cNvSpPr/>
          <p:nvPr/>
        </p:nvSpPr>
        <p:spPr>
          <a:xfrm>
            <a:off x="2397960" y="5422320"/>
            <a:ext cx="279108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Source: author with IA assistance (ChatGPT)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TextBox 7"/>
          <p:cNvSpPr/>
          <p:nvPr/>
        </p:nvSpPr>
        <p:spPr>
          <a:xfrm>
            <a:off x="7904880" y="1371600"/>
            <a:ext cx="4138560" cy="13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a8b9c7"/>
                </a:solidFill>
                <a:latin typeface="Arial"/>
                <a:ea typeface="DejaVu Sans"/>
              </a:rPr>
              <a:t>Each frame computes: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a8b9c7"/>
                </a:solidFill>
                <a:latin typeface="Arial"/>
                <a:ea typeface="DejaVu Sans"/>
              </a:rPr>
              <a:t>cos(angleAxial)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a8b9c7"/>
                </a:solidFill>
                <a:latin typeface="Arial"/>
                <a:ea typeface="DejaVu Sans"/>
              </a:rPr>
              <a:t>sin(angleAxial)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a8b9c7"/>
                </a:solidFill>
                <a:latin typeface="Arial"/>
                <a:ea typeface="DejaVu Sans"/>
              </a:rPr>
              <a:t>cos(angleElevation)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a8b9c7"/>
                </a:solidFill>
                <a:latin typeface="Arial"/>
                <a:ea typeface="DejaVu Sans"/>
              </a:rPr>
              <a:t>sin(angleElevation)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a8b9c7"/>
                </a:solidFill>
                <a:latin typeface="Arial"/>
                <a:ea typeface="DejaVu Sans"/>
              </a:rPr>
              <a:t>These values feed the 3D rotations.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Rounded Rectangle 8"/>
          <p:cNvSpPr/>
          <p:nvPr/>
        </p:nvSpPr>
        <p:spPr>
          <a:xfrm>
            <a:off x="7223760" y="4916520"/>
            <a:ext cx="4405320" cy="97632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f2f7fa"/>
                </a:solidFill>
                <a:latin typeface="Arial"/>
                <a:ea typeface="DejaVu Sans"/>
              </a:rPr>
              <a:t>cosAxial = cos(angleAxial)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f2f7fa"/>
                </a:solidFill>
                <a:latin typeface="Arial"/>
                <a:ea typeface="DejaVu Sans"/>
              </a:rPr>
              <a:t>sinAxial = sin(angleAxial)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f2f7fa"/>
                </a:solidFill>
                <a:latin typeface="Arial"/>
                <a:ea typeface="DejaVu Sans"/>
              </a:rPr>
              <a:t>cosElevation = cos(angleElevation)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50" spc="-1" strike="noStrike">
                <a:solidFill>
                  <a:srgbClr val="f2f7fa"/>
                </a:solidFill>
                <a:latin typeface="Arial"/>
                <a:ea typeface="DejaVu Sans"/>
              </a:rPr>
              <a:t>sinElevation = sin(angleElevation)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Box 11"/>
          <p:cNvSpPr/>
          <p:nvPr/>
        </p:nvSpPr>
        <p:spPr>
          <a:xfrm>
            <a:off x="11491560" y="6565320"/>
            <a:ext cx="295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19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0" name="Picture 4" descr="torus_movement_angles.gif"/>
          <p:cNvPicPr/>
          <p:nvPr/>
        </p:nvPicPr>
        <p:blipFill>
          <a:blip r:embed="rId1"/>
          <a:stretch/>
        </p:blipFill>
        <p:spPr>
          <a:xfrm>
            <a:off x="594720" y="1326240"/>
            <a:ext cx="6400440" cy="402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extBox 1"/>
          <p:cNvSpPr/>
          <p:nvPr/>
        </p:nvSpPr>
        <p:spPr>
          <a:xfrm>
            <a:off x="843480" y="164520"/>
            <a:ext cx="57175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ASCII Torus in VisuAlg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Box 2"/>
          <p:cNvSpPr/>
          <p:nvPr/>
        </p:nvSpPr>
        <p:spPr>
          <a:xfrm>
            <a:off x="843480" y="475560"/>
            <a:ext cx="182376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Excerpt 1/4 — lines 1–22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Rounded Rectangle 4">
            <a:hlinkClick r:id="rId1" action="ppaction://hlinksldjump"/>
          </p:cNvPr>
          <p:cNvSpPr/>
          <p:nvPr/>
        </p:nvSpPr>
        <p:spPr>
          <a:xfrm>
            <a:off x="10332720" y="164520"/>
            <a:ext cx="957960" cy="3088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Lines 1–22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Rectangle 5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15" name="TextBox 6"/>
          <p:cNvSpPr/>
          <p:nvPr/>
        </p:nvSpPr>
        <p:spPr>
          <a:xfrm>
            <a:off x="11544480" y="6565320"/>
            <a:ext cx="295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20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6" name="Picture 609" descr="obf_20.png"/>
          <p:cNvPicPr/>
          <p:nvPr/>
        </p:nvPicPr>
        <p:blipFill>
          <a:blip r:embed="rId2"/>
          <a:srcRect l="0" t="0" r="33818" b="0"/>
          <a:stretch/>
        </p:blipFill>
        <p:spPr>
          <a:xfrm>
            <a:off x="228600" y="777240"/>
            <a:ext cx="11880000" cy="54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TextBox 1"/>
          <p:cNvSpPr/>
          <p:nvPr/>
        </p:nvSpPr>
        <p:spPr>
          <a:xfrm>
            <a:off x="843480" y="164520"/>
            <a:ext cx="57175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ASCII Torus in VisuAlg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Box 2"/>
          <p:cNvSpPr/>
          <p:nvPr/>
        </p:nvSpPr>
        <p:spPr>
          <a:xfrm>
            <a:off x="843480" y="475560"/>
            <a:ext cx="190296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Excerpt 2/4 — lines 23–44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Rounded Rectangle 4">
            <a:hlinkClick r:id="rId1" action="ppaction://hlinksldjump"/>
          </p:cNvPr>
          <p:cNvSpPr/>
          <p:nvPr/>
        </p:nvSpPr>
        <p:spPr>
          <a:xfrm>
            <a:off x="9281160" y="164520"/>
            <a:ext cx="957960" cy="3088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Lines 23–44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Rounded Rectangle 5">
            <a:hlinkClick r:id="rId2" action="ppaction://hlinksldjump"/>
          </p:cNvPr>
          <p:cNvSpPr/>
          <p:nvPr/>
        </p:nvSpPr>
        <p:spPr>
          <a:xfrm>
            <a:off x="10332720" y="164520"/>
            <a:ext cx="957960" cy="3088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t-BR" sz="950" spc="-1" strike="noStrike">
                <a:solidFill>
                  <a:srgbClr val="f0f6fa"/>
                </a:solidFill>
                <a:latin typeface="Aptos"/>
                <a:ea typeface="DejaVu Sans"/>
              </a:rPr>
              <a:t>Next</a:t>
            </a:r>
            <a:endParaRPr b="0" lang="pt-B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Rectangle 6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22" name="TextBox 7"/>
          <p:cNvSpPr/>
          <p:nvPr/>
        </p:nvSpPr>
        <p:spPr>
          <a:xfrm>
            <a:off x="11544480" y="6565320"/>
            <a:ext cx="295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21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3" name="Picture 616" descr="obf_21.png"/>
          <p:cNvPicPr/>
          <p:nvPr/>
        </p:nvPicPr>
        <p:blipFill>
          <a:blip r:embed="rId3"/>
          <a:srcRect l="0" t="0" r="26967" b="0"/>
          <a:stretch/>
        </p:blipFill>
        <p:spPr>
          <a:xfrm>
            <a:off x="228600" y="720000"/>
            <a:ext cx="11880000" cy="54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TextBox 1"/>
          <p:cNvSpPr/>
          <p:nvPr/>
        </p:nvSpPr>
        <p:spPr>
          <a:xfrm>
            <a:off x="843480" y="164520"/>
            <a:ext cx="57175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ASCII Torus in VisuAlg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Box 2"/>
          <p:cNvSpPr/>
          <p:nvPr/>
        </p:nvSpPr>
        <p:spPr>
          <a:xfrm>
            <a:off x="843480" y="475560"/>
            <a:ext cx="190296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Excerpt 3/4 — lines 45–66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Rounded Rectangle 4">
            <a:hlinkClick r:id="rId1" action="ppaction://hlinksldjump"/>
          </p:cNvPr>
          <p:cNvSpPr/>
          <p:nvPr/>
        </p:nvSpPr>
        <p:spPr>
          <a:xfrm>
            <a:off x="9281160" y="164520"/>
            <a:ext cx="957960" cy="3088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Lines 45–66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Rounded Rectangle 5">
            <a:hlinkClick r:id="rId2" action="ppaction://hlinksldjump"/>
          </p:cNvPr>
          <p:cNvSpPr/>
          <p:nvPr/>
        </p:nvSpPr>
        <p:spPr>
          <a:xfrm>
            <a:off x="10332720" y="164520"/>
            <a:ext cx="957960" cy="3088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t-BR" sz="950" spc="-1" strike="noStrike">
                <a:solidFill>
                  <a:srgbClr val="f0f6fa"/>
                </a:solidFill>
                <a:latin typeface="Aptos"/>
                <a:ea typeface="DejaVu Sans"/>
              </a:rPr>
              <a:t>Next</a:t>
            </a:r>
            <a:endParaRPr b="0" lang="pt-B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Rectangle 6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29" name="TextBox 7"/>
          <p:cNvSpPr/>
          <p:nvPr/>
        </p:nvSpPr>
        <p:spPr>
          <a:xfrm>
            <a:off x="11544480" y="6565320"/>
            <a:ext cx="295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22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0" name="Picture 623" descr="obf_22.png"/>
          <p:cNvPicPr/>
          <p:nvPr/>
        </p:nvPicPr>
        <p:blipFill>
          <a:blip r:embed="rId3"/>
          <a:srcRect l="0" t="0" r="26967" b="0"/>
          <a:stretch/>
        </p:blipFill>
        <p:spPr>
          <a:xfrm>
            <a:off x="228600" y="777240"/>
            <a:ext cx="11880000" cy="54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TextBox 1"/>
          <p:cNvSpPr/>
          <p:nvPr/>
        </p:nvSpPr>
        <p:spPr>
          <a:xfrm>
            <a:off x="843480" y="164520"/>
            <a:ext cx="57175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ASCII Torus in VisuAlg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TextBox 2"/>
          <p:cNvSpPr/>
          <p:nvPr/>
        </p:nvSpPr>
        <p:spPr>
          <a:xfrm>
            <a:off x="843480" y="475560"/>
            <a:ext cx="19836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Excerpt 4/4 — lines 67–86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Rounded Rectangle 4">
            <a:hlinkClick r:id="rId1" action="ppaction://hlinksldjump"/>
          </p:cNvPr>
          <p:cNvSpPr/>
          <p:nvPr/>
        </p:nvSpPr>
        <p:spPr>
          <a:xfrm>
            <a:off x="9281160" y="164520"/>
            <a:ext cx="957960" cy="3088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Lines 67–86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Rounded Rectangle 5">
            <a:hlinkClick r:id="rId2" action="ppaction://hlinksldjump"/>
          </p:cNvPr>
          <p:cNvSpPr/>
          <p:nvPr/>
        </p:nvSpPr>
        <p:spPr>
          <a:xfrm>
            <a:off x="10332720" y="164520"/>
            <a:ext cx="957960" cy="3088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t-BR" sz="950" spc="-1" strike="noStrike">
                <a:solidFill>
                  <a:srgbClr val="f0f6fa"/>
                </a:solidFill>
                <a:latin typeface="Aptos"/>
                <a:ea typeface="DejaVu Sans"/>
              </a:rPr>
              <a:t>Back</a:t>
            </a:r>
            <a:endParaRPr b="0" lang="pt-B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Rectangle 6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36" name="TextBox 7"/>
          <p:cNvSpPr/>
          <p:nvPr/>
        </p:nvSpPr>
        <p:spPr>
          <a:xfrm>
            <a:off x="11544480" y="6565320"/>
            <a:ext cx="295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23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7" name="Picture 630" descr="obf_23.png"/>
          <p:cNvPicPr/>
          <p:nvPr/>
        </p:nvPicPr>
        <p:blipFill>
          <a:blip r:embed="rId3"/>
          <a:srcRect l="0" t="0" r="26967" b="0"/>
          <a:stretch/>
        </p:blipFill>
        <p:spPr>
          <a:xfrm>
            <a:off x="228600" y="777240"/>
            <a:ext cx="11880000" cy="54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Rectangle 2"/>
          <p:cNvSpPr/>
          <p:nvPr/>
        </p:nvSpPr>
        <p:spPr>
          <a:xfrm>
            <a:off x="640080" y="1600200"/>
            <a:ext cx="6032880" cy="43560"/>
          </a:xfrm>
          <a:prstGeom prst="rect">
            <a:avLst/>
          </a:prstGeom>
          <a:solidFill>
            <a:srgbClr val="ffb22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39" name="TextBox 3"/>
          <p:cNvSpPr/>
          <p:nvPr/>
        </p:nvSpPr>
        <p:spPr>
          <a:xfrm>
            <a:off x="640080" y="1051560"/>
            <a:ext cx="410652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f0f6fa"/>
                </a:solidFill>
                <a:latin typeface="Aptos"/>
                <a:ea typeface="DejaVu Sans"/>
              </a:rPr>
              <a:t>Q&amp;A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Box 4"/>
          <p:cNvSpPr/>
          <p:nvPr/>
        </p:nvSpPr>
        <p:spPr>
          <a:xfrm>
            <a:off x="640080" y="1965960"/>
            <a:ext cx="621576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600" spc="-1" strike="noStrike">
                <a:solidFill>
                  <a:srgbClr val="aabacd"/>
                </a:solidFill>
                <a:latin typeface="Aptos"/>
                <a:ea typeface="DejaVu Sans"/>
              </a:rPr>
              <a:t>Questions, comments, and discussion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Rectangle 5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42" name="TextBox 6"/>
          <p:cNvSpPr/>
          <p:nvPr/>
        </p:nvSpPr>
        <p:spPr>
          <a:xfrm>
            <a:off x="11544480" y="6565320"/>
            <a:ext cx="295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20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Rectangle 2"/>
          <p:cNvSpPr/>
          <p:nvPr/>
        </p:nvSpPr>
        <p:spPr>
          <a:xfrm>
            <a:off x="640080" y="1600200"/>
            <a:ext cx="6032880" cy="43560"/>
          </a:xfrm>
          <a:prstGeom prst="rect">
            <a:avLst/>
          </a:prstGeom>
          <a:solidFill>
            <a:srgbClr val="ffb22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44" name="TextBox 3"/>
          <p:cNvSpPr/>
          <p:nvPr/>
        </p:nvSpPr>
        <p:spPr>
          <a:xfrm>
            <a:off x="640080" y="1051560"/>
            <a:ext cx="302004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f0f6fa"/>
                </a:solidFill>
                <a:latin typeface="Aptos"/>
                <a:ea typeface="DejaVu Sans"/>
              </a:rPr>
              <a:t>Thank you!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Rectangle 5"/>
          <p:cNvSpPr/>
          <p:nvPr/>
        </p:nvSpPr>
        <p:spPr>
          <a:xfrm>
            <a:off x="0" y="6748200"/>
            <a:ext cx="12189600" cy="10764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46" name="TextBox 6"/>
          <p:cNvSpPr/>
          <p:nvPr/>
        </p:nvSpPr>
        <p:spPr>
          <a:xfrm>
            <a:off x="11544480" y="6565320"/>
            <a:ext cx="295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21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640080" y="1980000"/>
            <a:ext cx="5119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abacd"/>
                </a:solidFill>
                <a:latin typeface="Aptos"/>
                <a:ea typeface="DejaVu Sans"/>
              </a:rPr>
              <a:t>Many thanks for your attention and participation!!!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Rectangle 1"/>
          <p:cNvSpPr/>
          <p:nvPr/>
        </p:nvSpPr>
        <p:spPr>
          <a:xfrm>
            <a:off x="0" y="-36000"/>
            <a:ext cx="12190320" cy="685620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49" name="TextBox 2"/>
          <p:cNvSpPr/>
          <p:nvPr/>
        </p:nvSpPr>
        <p:spPr>
          <a:xfrm>
            <a:off x="2921040" y="365760"/>
            <a:ext cx="516132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2800" spc="-1" strike="noStrike">
                <a:solidFill>
                  <a:srgbClr val="f5f5f5"/>
                </a:solidFill>
                <a:latin typeface="Aptos Display"/>
                <a:ea typeface="DejaVu Sans"/>
              </a:rPr>
              <a:t>Torus source code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Box 4"/>
          <p:cNvSpPr/>
          <p:nvPr/>
        </p:nvSpPr>
        <p:spPr>
          <a:xfrm>
            <a:off x="2363400" y="1615680"/>
            <a:ext cx="6996600" cy="10483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  <a:ea typeface="DejaVu Sans"/>
              </a:rPr>
              <a:t>The next slides show the Torus for Windows source code (</a:t>
            </a:r>
            <a:r>
              <a:rPr b="0" lang="pt-BR" sz="2000" spc="-1" strike="noStrike">
                <a:solidFill>
                  <a:srgbClr val="ffffff"/>
                </a:solidFill>
                <a:latin typeface="Arial"/>
                <a:ea typeface="DejaVu Sans"/>
              </a:rPr>
              <a:t>readable version)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Rectangle 1"/>
          <p:cNvSpPr/>
          <p:nvPr/>
        </p:nvSpPr>
        <p:spPr>
          <a:xfrm>
            <a:off x="594360" y="1051560"/>
            <a:ext cx="10971360" cy="4799160"/>
          </a:xfrm>
          <a:prstGeom prst="rect">
            <a:avLst/>
          </a:prstGeom>
          <a:solidFill>
            <a:srgbClr val="07121f"/>
          </a:solidFill>
          <a:ln w="6480">
            <a:solidFill>
              <a:srgbClr val="1c314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52" name="TextBox 2"/>
          <p:cNvSpPr/>
          <p:nvPr/>
        </p:nvSpPr>
        <p:spPr>
          <a:xfrm>
            <a:off x="685800" y="320040"/>
            <a:ext cx="6582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200" spc="-1" strike="noStrike">
                <a:solidFill>
                  <a:srgbClr val="f5f8fc"/>
                </a:solidFill>
                <a:latin typeface="Aptos"/>
                <a:ea typeface="DejaVu Sans"/>
              </a:rPr>
              <a:t>Torus for Windows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Box 3"/>
          <p:cNvSpPr/>
          <p:nvPr/>
        </p:nvSpPr>
        <p:spPr>
          <a:xfrm>
            <a:off x="685800" y="713160"/>
            <a:ext cx="1827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0b4cd"/>
                </a:solidFill>
                <a:latin typeface="Aptos"/>
                <a:ea typeface="DejaVu Sans"/>
              </a:rPr>
              <a:t>Lines 1–40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Box 5"/>
          <p:cNvSpPr/>
          <p:nvPr/>
        </p:nvSpPr>
        <p:spPr>
          <a:xfrm>
            <a:off x="11064240" y="6492240"/>
            <a:ext cx="318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a0b4cd"/>
                </a:solidFill>
                <a:latin typeface="Aptos"/>
                <a:ea typeface="DejaVu Sans"/>
              </a:rPr>
              <a:t>27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Rounded Rectangle 651">
            <a:hlinkClick r:id="rId1" action="ppaction://hlinksldjump"/>
          </p:cNvPr>
          <p:cNvSpPr/>
          <p:nvPr/>
        </p:nvSpPr>
        <p:spPr>
          <a:xfrm>
            <a:off x="921708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Next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Rounded Rectangle 652">
            <a:hlinkClick r:id="rId2" action="ppaction://hlinksldjump"/>
          </p:cNvPr>
          <p:cNvSpPr/>
          <p:nvPr/>
        </p:nvSpPr>
        <p:spPr>
          <a:xfrm>
            <a:off x="1028700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Back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7" name="Picture 650" descr="read_hidden_27.png"/>
          <p:cNvPicPr/>
          <p:nvPr/>
        </p:nvPicPr>
        <p:blipFill>
          <a:blip r:embed="rId3"/>
          <a:stretch/>
        </p:blipFill>
        <p:spPr>
          <a:xfrm>
            <a:off x="594360" y="1627560"/>
            <a:ext cx="10971360" cy="479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 1"/>
          <p:cNvSpPr/>
          <p:nvPr/>
        </p:nvSpPr>
        <p:spPr>
          <a:xfrm>
            <a:off x="594360" y="1051560"/>
            <a:ext cx="10971360" cy="4799160"/>
          </a:xfrm>
          <a:prstGeom prst="rect">
            <a:avLst/>
          </a:prstGeom>
          <a:solidFill>
            <a:srgbClr val="07121f"/>
          </a:solidFill>
          <a:ln w="6480">
            <a:solidFill>
              <a:srgbClr val="1c314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59" name="TextBox 2"/>
          <p:cNvSpPr/>
          <p:nvPr/>
        </p:nvSpPr>
        <p:spPr>
          <a:xfrm>
            <a:off x="685800" y="320040"/>
            <a:ext cx="6582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200" spc="-1" strike="noStrike">
                <a:solidFill>
                  <a:srgbClr val="f5f8fc"/>
                </a:solidFill>
                <a:latin typeface="Aptos"/>
                <a:ea typeface="DejaVu Sans"/>
              </a:rPr>
              <a:t>Torus for Windows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Box 3"/>
          <p:cNvSpPr/>
          <p:nvPr/>
        </p:nvSpPr>
        <p:spPr>
          <a:xfrm>
            <a:off x="685800" y="713160"/>
            <a:ext cx="1827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0b4cd"/>
                </a:solidFill>
                <a:latin typeface="Aptos"/>
                <a:ea typeface="DejaVu Sans"/>
              </a:rPr>
              <a:t>Lines 41–80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TextBox 5"/>
          <p:cNvSpPr/>
          <p:nvPr/>
        </p:nvSpPr>
        <p:spPr>
          <a:xfrm>
            <a:off x="11064240" y="6492240"/>
            <a:ext cx="318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a0b4cd"/>
                </a:solidFill>
                <a:latin typeface="Aptos"/>
                <a:ea typeface="DejaVu Sans"/>
              </a:rPr>
              <a:t>28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Rounded Rectangle 656">
            <a:hlinkClick r:id="rId1" action="ppaction://hlinksldjump"/>
          </p:cNvPr>
          <p:cNvSpPr/>
          <p:nvPr/>
        </p:nvSpPr>
        <p:spPr>
          <a:xfrm>
            <a:off x="814716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Previous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Rounded Rectangle 657">
            <a:hlinkClick r:id="rId2" action="ppaction://hlinksldjump"/>
          </p:cNvPr>
          <p:cNvSpPr/>
          <p:nvPr/>
        </p:nvSpPr>
        <p:spPr>
          <a:xfrm>
            <a:off x="921708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Next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Rounded Rectangle 658">
            <a:hlinkClick r:id="rId3" action="ppaction://hlinksldjump"/>
          </p:cNvPr>
          <p:cNvSpPr/>
          <p:nvPr/>
        </p:nvSpPr>
        <p:spPr>
          <a:xfrm>
            <a:off x="1028700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Back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5" name="Picture 658" descr="read_hidden_28.png"/>
          <p:cNvPicPr/>
          <p:nvPr/>
        </p:nvPicPr>
        <p:blipFill>
          <a:blip r:embed="rId4"/>
          <a:stretch/>
        </p:blipFill>
        <p:spPr>
          <a:xfrm>
            <a:off x="594360" y="1699560"/>
            <a:ext cx="10971360" cy="479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Rectangle 1"/>
          <p:cNvSpPr/>
          <p:nvPr/>
        </p:nvSpPr>
        <p:spPr>
          <a:xfrm>
            <a:off x="594360" y="1051560"/>
            <a:ext cx="10971360" cy="4799160"/>
          </a:xfrm>
          <a:prstGeom prst="rect">
            <a:avLst/>
          </a:prstGeom>
          <a:solidFill>
            <a:srgbClr val="07121f"/>
          </a:solidFill>
          <a:ln w="6480">
            <a:solidFill>
              <a:srgbClr val="1c314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67" name="TextBox 2"/>
          <p:cNvSpPr/>
          <p:nvPr/>
        </p:nvSpPr>
        <p:spPr>
          <a:xfrm>
            <a:off x="685800" y="320040"/>
            <a:ext cx="6582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200" spc="-1" strike="noStrike">
                <a:solidFill>
                  <a:srgbClr val="f5f8fc"/>
                </a:solidFill>
                <a:latin typeface="Aptos"/>
                <a:ea typeface="DejaVu Sans"/>
              </a:rPr>
              <a:t>Torus for Windows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TextBox 3"/>
          <p:cNvSpPr/>
          <p:nvPr/>
        </p:nvSpPr>
        <p:spPr>
          <a:xfrm>
            <a:off x="685800" y="713160"/>
            <a:ext cx="1827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0b4cd"/>
                </a:solidFill>
                <a:latin typeface="Aptos"/>
                <a:ea typeface="DejaVu Sans"/>
              </a:rPr>
              <a:t>Lines 81–120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Box 5"/>
          <p:cNvSpPr/>
          <p:nvPr/>
        </p:nvSpPr>
        <p:spPr>
          <a:xfrm>
            <a:off x="11064240" y="6492240"/>
            <a:ext cx="318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a0b4cd"/>
                </a:solidFill>
                <a:latin typeface="Aptos"/>
                <a:ea typeface="DejaVu Sans"/>
              </a:rPr>
              <a:t>29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Rounded Rectangle 661">
            <a:hlinkClick r:id="rId1" action="ppaction://hlinksldjump"/>
          </p:cNvPr>
          <p:cNvSpPr/>
          <p:nvPr/>
        </p:nvSpPr>
        <p:spPr>
          <a:xfrm>
            <a:off x="814716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Previous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Rounded Rectangle 662">
            <a:hlinkClick r:id="rId2" action="ppaction://hlinksldjump"/>
          </p:cNvPr>
          <p:cNvSpPr/>
          <p:nvPr/>
        </p:nvSpPr>
        <p:spPr>
          <a:xfrm>
            <a:off x="921708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Next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Rounded Rectangle 663">
            <a:hlinkClick r:id="rId3" action="ppaction://hlinksldjump"/>
          </p:cNvPr>
          <p:cNvSpPr/>
          <p:nvPr/>
        </p:nvSpPr>
        <p:spPr>
          <a:xfrm>
            <a:off x="1028700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Back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3" name="Picture 666" descr="read_hidden_29.png"/>
          <p:cNvPicPr/>
          <p:nvPr/>
        </p:nvPicPr>
        <p:blipFill>
          <a:blip r:embed="rId4"/>
          <a:stretch/>
        </p:blipFill>
        <p:spPr>
          <a:xfrm>
            <a:off x="594360" y="1699560"/>
            <a:ext cx="10971360" cy="479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Rectangle 1"/>
          <p:cNvSpPr/>
          <p:nvPr/>
        </p:nvSpPr>
        <p:spPr>
          <a:xfrm>
            <a:off x="594360" y="1051560"/>
            <a:ext cx="10971360" cy="4799160"/>
          </a:xfrm>
          <a:prstGeom prst="rect">
            <a:avLst/>
          </a:prstGeom>
          <a:solidFill>
            <a:srgbClr val="07121f"/>
          </a:solidFill>
          <a:ln w="6480">
            <a:solidFill>
              <a:srgbClr val="1c314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75" name="TextBox 2"/>
          <p:cNvSpPr/>
          <p:nvPr/>
        </p:nvSpPr>
        <p:spPr>
          <a:xfrm>
            <a:off x="685800" y="320040"/>
            <a:ext cx="6582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200" spc="-1" strike="noStrike">
                <a:solidFill>
                  <a:srgbClr val="f5f8fc"/>
                </a:solidFill>
                <a:latin typeface="Aptos"/>
                <a:ea typeface="DejaVu Sans"/>
              </a:rPr>
              <a:t>Torus for Windows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TextBox 3"/>
          <p:cNvSpPr/>
          <p:nvPr/>
        </p:nvSpPr>
        <p:spPr>
          <a:xfrm>
            <a:off x="685800" y="713160"/>
            <a:ext cx="1827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0b4cd"/>
                </a:solidFill>
                <a:latin typeface="Aptos"/>
                <a:ea typeface="DejaVu Sans"/>
              </a:rPr>
              <a:t>Lines 121–160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TextBox 5"/>
          <p:cNvSpPr/>
          <p:nvPr/>
        </p:nvSpPr>
        <p:spPr>
          <a:xfrm>
            <a:off x="11064240" y="6492240"/>
            <a:ext cx="318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a0b4cd"/>
                </a:solidFill>
                <a:latin typeface="Aptos"/>
                <a:ea typeface="DejaVu Sans"/>
              </a:rPr>
              <a:t>30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Rounded Rectangle 666">
            <a:hlinkClick r:id="rId1" action="ppaction://hlinksldjump"/>
          </p:cNvPr>
          <p:cNvSpPr/>
          <p:nvPr/>
        </p:nvSpPr>
        <p:spPr>
          <a:xfrm>
            <a:off x="814716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Previous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Rounded Rectangle 667">
            <a:hlinkClick r:id="rId2" action="ppaction://hlinksldjump"/>
          </p:cNvPr>
          <p:cNvSpPr/>
          <p:nvPr/>
        </p:nvSpPr>
        <p:spPr>
          <a:xfrm>
            <a:off x="921708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Next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Rounded Rectangle 668">
            <a:hlinkClick r:id="rId3" action="ppaction://hlinksldjump"/>
          </p:cNvPr>
          <p:cNvSpPr/>
          <p:nvPr/>
        </p:nvSpPr>
        <p:spPr>
          <a:xfrm>
            <a:off x="1028700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Back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1" name="Picture 674" descr="read_hidden_30.png"/>
          <p:cNvPicPr/>
          <p:nvPr/>
        </p:nvPicPr>
        <p:blipFill>
          <a:blip r:embed="rId4"/>
          <a:stretch/>
        </p:blipFill>
        <p:spPr>
          <a:xfrm>
            <a:off x="594360" y="1735560"/>
            <a:ext cx="10971360" cy="479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Rectangle 1"/>
          <p:cNvSpPr/>
          <p:nvPr/>
        </p:nvSpPr>
        <p:spPr>
          <a:xfrm>
            <a:off x="594360" y="1051560"/>
            <a:ext cx="10971360" cy="4799160"/>
          </a:xfrm>
          <a:prstGeom prst="rect">
            <a:avLst/>
          </a:prstGeom>
          <a:solidFill>
            <a:srgbClr val="07121f"/>
          </a:solidFill>
          <a:ln w="6480">
            <a:solidFill>
              <a:srgbClr val="1c314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83" name="TextBox 2"/>
          <p:cNvSpPr/>
          <p:nvPr/>
        </p:nvSpPr>
        <p:spPr>
          <a:xfrm>
            <a:off x="685800" y="320040"/>
            <a:ext cx="6582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200" spc="-1" strike="noStrike">
                <a:solidFill>
                  <a:srgbClr val="f5f8fc"/>
                </a:solidFill>
                <a:latin typeface="Aptos"/>
                <a:ea typeface="DejaVu Sans"/>
              </a:rPr>
              <a:t>Torus for Windows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TextBox 3"/>
          <p:cNvSpPr/>
          <p:nvPr/>
        </p:nvSpPr>
        <p:spPr>
          <a:xfrm>
            <a:off x="685800" y="713160"/>
            <a:ext cx="1827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0b4cd"/>
                </a:solidFill>
                <a:latin typeface="Aptos"/>
                <a:ea typeface="DejaVu Sans"/>
              </a:rPr>
              <a:t>Lines 161–200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TextBox 5"/>
          <p:cNvSpPr/>
          <p:nvPr/>
        </p:nvSpPr>
        <p:spPr>
          <a:xfrm>
            <a:off x="11064240" y="6492240"/>
            <a:ext cx="318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a0b4cd"/>
                </a:solidFill>
                <a:latin typeface="Aptos"/>
                <a:ea typeface="DejaVu Sans"/>
              </a:rPr>
              <a:t>31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Rounded Rectangle 671">
            <a:hlinkClick r:id="rId1" action="ppaction://hlinksldjump"/>
          </p:cNvPr>
          <p:cNvSpPr/>
          <p:nvPr/>
        </p:nvSpPr>
        <p:spPr>
          <a:xfrm>
            <a:off x="814716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Previous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Rounded Rectangle 672">
            <a:hlinkClick r:id="rId2" action="ppaction://hlinksldjump"/>
          </p:cNvPr>
          <p:cNvSpPr/>
          <p:nvPr/>
        </p:nvSpPr>
        <p:spPr>
          <a:xfrm>
            <a:off x="921708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Next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Rounded Rectangle 673">
            <a:hlinkClick r:id="rId3" action="ppaction://hlinksldjump"/>
          </p:cNvPr>
          <p:cNvSpPr/>
          <p:nvPr/>
        </p:nvSpPr>
        <p:spPr>
          <a:xfrm>
            <a:off x="1028700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Back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9" name="Picture 682" descr="read_hidden_31.png"/>
          <p:cNvPicPr/>
          <p:nvPr/>
        </p:nvPicPr>
        <p:blipFill>
          <a:blip r:embed="rId4"/>
          <a:stretch/>
        </p:blipFill>
        <p:spPr>
          <a:xfrm>
            <a:off x="180000" y="1735560"/>
            <a:ext cx="12011040" cy="479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Rectangle 1"/>
          <p:cNvSpPr/>
          <p:nvPr/>
        </p:nvSpPr>
        <p:spPr>
          <a:xfrm>
            <a:off x="594360" y="1051560"/>
            <a:ext cx="10971360" cy="4799160"/>
          </a:xfrm>
          <a:prstGeom prst="rect">
            <a:avLst/>
          </a:prstGeom>
          <a:solidFill>
            <a:srgbClr val="07121f"/>
          </a:solidFill>
          <a:ln w="6480">
            <a:solidFill>
              <a:srgbClr val="1c314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91" name="TextBox 2"/>
          <p:cNvSpPr/>
          <p:nvPr/>
        </p:nvSpPr>
        <p:spPr>
          <a:xfrm>
            <a:off x="685800" y="320040"/>
            <a:ext cx="6582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200" spc="-1" strike="noStrike">
                <a:solidFill>
                  <a:srgbClr val="f5f8fc"/>
                </a:solidFill>
                <a:latin typeface="Aptos"/>
                <a:ea typeface="DejaVu Sans"/>
              </a:rPr>
              <a:t>Torus for Windows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TextBox 3"/>
          <p:cNvSpPr/>
          <p:nvPr/>
        </p:nvSpPr>
        <p:spPr>
          <a:xfrm>
            <a:off x="685800" y="713160"/>
            <a:ext cx="1827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0b4cd"/>
                </a:solidFill>
                <a:latin typeface="Aptos"/>
                <a:ea typeface="DejaVu Sans"/>
              </a:rPr>
              <a:t>Lines 201–240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Box 5"/>
          <p:cNvSpPr/>
          <p:nvPr/>
        </p:nvSpPr>
        <p:spPr>
          <a:xfrm>
            <a:off x="11064240" y="6492240"/>
            <a:ext cx="318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a0b4cd"/>
                </a:solidFill>
                <a:latin typeface="Aptos"/>
                <a:ea typeface="DejaVu Sans"/>
              </a:rPr>
              <a:t>32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Rounded Rectangle 676">
            <a:hlinkClick r:id="rId1" action="ppaction://hlinksldjump"/>
          </p:cNvPr>
          <p:cNvSpPr/>
          <p:nvPr/>
        </p:nvSpPr>
        <p:spPr>
          <a:xfrm>
            <a:off x="814716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Previous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Rounded Rectangle 677">
            <a:hlinkClick r:id="rId2" action="ppaction://hlinksldjump"/>
          </p:cNvPr>
          <p:cNvSpPr/>
          <p:nvPr/>
        </p:nvSpPr>
        <p:spPr>
          <a:xfrm>
            <a:off x="921708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Next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Rounded Rectangle 678">
            <a:hlinkClick r:id="rId3" action="ppaction://hlinksldjump"/>
          </p:cNvPr>
          <p:cNvSpPr/>
          <p:nvPr/>
        </p:nvSpPr>
        <p:spPr>
          <a:xfrm>
            <a:off x="1028700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Back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7" name="Picture 690" descr="read_hidden_32.png"/>
          <p:cNvPicPr/>
          <p:nvPr/>
        </p:nvPicPr>
        <p:blipFill>
          <a:blip r:embed="rId4"/>
          <a:stretch/>
        </p:blipFill>
        <p:spPr>
          <a:xfrm>
            <a:off x="594360" y="1663560"/>
            <a:ext cx="10971360" cy="479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Rectangle 1"/>
          <p:cNvSpPr/>
          <p:nvPr/>
        </p:nvSpPr>
        <p:spPr>
          <a:xfrm>
            <a:off x="594360" y="1051560"/>
            <a:ext cx="10971360" cy="4799160"/>
          </a:xfrm>
          <a:prstGeom prst="rect">
            <a:avLst/>
          </a:prstGeom>
          <a:solidFill>
            <a:srgbClr val="07121f"/>
          </a:solidFill>
          <a:ln w="6480">
            <a:solidFill>
              <a:srgbClr val="1c314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99" name="TextBox 2"/>
          <p:cNvSpPr/>
          <p:nvPr/>
        </p:nvSpPr>
        <p:spPr>
          <a:xfrm>
            <a:off x="685800" y="320040"/>
            <a:ext cx="6582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200" spc="-1" strike="noStrike">
                <a:solidFill>
                  <a:srgbClr val="f5f8fc"/>
                </a:solidFill>
                <a:latin typeface="Aptos"/>
                <a:ea typeface="DejaVu Sans"/>
              </a:rPr>
              <a:t>Torus for Windows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TextBox 3"/>
          <p:cNvSpPr/>
          <p:nvPr/>
        </p:nvSpPr>
        <p:spPr>
          <a:xfrm>
            <a:off x="685800" y="713160"/>
            <a:ext cx="1827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0b4cd"/>
                </a:solidFill>
                <a:latin typeface="Aptos"/>
                <a:ea typeface="DejaVu Sans"/>
              </a:rPr>
              <a:t>Lines 241–278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TextBox 5"/>
          <p:cNvSpPr/>
          <p:nvPr/>
        </p:nvSpPr>
        <p:spPr>
          <a:xfrm>
            <a:off x="11064240" y="6492240"/>
            <a:ext cx="318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a0b4cd"/>
                </a:solidFill>
                <a:latin typeface="Aptos"/>
                <a:ea typeface="DejaVu Sans"/>
              </a:rPr>
              <a:t>33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Rounded Rectangle 681">
            <a:hlinkClick r:id="rId1" action="ppaction://hlinksldjump"/>
          </p:cNvPr>
          <p:cNvSpPr/>
          <p:nvPr/>
        </p:nvSpPr>
        <p:spPr>
          <a:xfrm>
            <a:off x="921708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Previous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Rounded Rectangle 682">
            <a:hlinkClick r:id="rId2" action="ppaction://hlinksldjump"/>
          </p:cNvPr>
          <p:cNvSpPr/>
          <p:nvPr/>
        </p:nvSpPr>
        <p:spPr>
          <a:xfrm>
            <a:off x="1028700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600">
            <a:solidFill>
              <a:srgbClr val="64d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5f8fc"/>
                </a:solidFill>
                <a:latin typeface="Aptos"/>
                <a:ea typeface="DejaVu Sans"/>
              </a:rPr>
              <a:t>Back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4" name="Picture 697" descr="read_hidden_33.png"/>
          <p:cNvPicPr/>
          <p:nvPr/>
        </p:nvPicPr>
        <p:blipFill>
          <a:blip r:embed="rId3"/>
          <a:stretch/>
        </p:blipFill>
        <p:spPr>
          <a:xfrm>
            <a:off x="594360" y="1663560"/>
            <a:ext cx="10971360" cy="479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Application>LibreOffice/24.2.7.2$Linux_X86_64 LibreOffice_project/420$Build-2</Application>
  <AppVersion>15.0000</AppVersion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2026-09-26T17:52:44Z</dcterms:created>
  <dc:creator>OpenAI</dc:creator>
  <dc:description/>
  <dc:language>pt-BR</dc:language>
  <cp:lastModifiedBy/>
  <dcterms:modified xsi:type="dcterms:W3CDTF">2026-09-27T11:47:48Z</dcterms:modified>
  <cp:revision>35</cp:revision>
  <dc:subject>Como o toro ASCII funciona em VisuAlg</dc:subject>
  <dc:title>Como o toro funciona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